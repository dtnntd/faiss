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7"/>
  </p:notesMasterIdLst>
  <p:sldIdLst>
    <p:sldId id="256" r:id="rId2"/>
    <p:sldId id="257" r:id="rId3"/>
    <p:sldId id="258" r:id="rId4"/>
    <p:sldId id="259" r:id="rId5"/>
    <p:sldId id="260" r:id="rId6"/>
    <p:sldId id="261" r:id="rId7"/>
    <p:sldId id="262" r:id="rId8"/>
    <p:sldId id="263" r:id="rId9"/>
    <p:sldId id="264" r:id="rId10"/>
    <p:sldId id="265" r:id="rId11"/>
    <p:sldId id="266" r:id="rId12"/>
    <p:sldId id="297" r:id="rId13"/>
    <p:sldId id="284" r:id="rId14"/>
    <p:sldId id="299" r:id="rId15"/>
    <p:sldId id="300" r:id="rId16"/>
    <p:sldId id="303" r:id="rId17"/>
    <p:sldId id="298" r:id="rId18"/>
    <p:sldId id="305" r:id="rId19"/>
    <p:sldId id="306" r:id="rId20"/>
    <p:sldId id="307" r:id="rId21"/>
    <p:sldId id="308" r:id="rId22"/>
    <p:sldId id="304" r:id="rId23"/>
    <p:sldId id="309" r:id="rId24"/>
    <p:sldId id="311" r:id="rId25"/>
    <p:sldId id="310" r:id="rId26"/>
    <p:sldId id="301" r:id="rId27"/>
    <p:sldId id="302" r:id="rId28"/>
    <p:sldId id="267" r:id="rId29"/>
    <p:sldId id="268" r:id="rId30"/>
    <p:sldId id="269" r:id="rId31"/>
    <p:sldId id="270" r:id="rId32"/>
    <p:sldId id="271" r:id="rId33"/>
    <p:sldId id="272" r:id="rId34"/>
    <p:sldId id="283" r:id="rId35"/>
    <p:sldId id="296" r:id="rId3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10"/>
  </p:normalViewPr>
  <p:slideViewPr>
    <p:cSldViewPr snapToGrid="0" snapToObjects="1">
      <p:cViewPr varScale="1">
        <p:scale>
          <a:sx n="84" d="100"/>
          <a:sy n="84" d="100"/>
        </p:scale>
        <p:origin x="804"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68040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Hôm nay tôi muốn giới thiệu với các bạn về thư viện Faiss - một công cụ mã nguồn mở cực kỳ hiệu quả trong việc tìm kiếm vector tương đồng. [pause] Điều làm Faiss nổi bật chính là khả năng tìm kiếm không vét cạn, tạo sự cân bằng hoàn hảo giữa tốc độ, bộ nhớ và độ chính xác. Các bạn có thể tưởng tượng việc tìm kiếm hàng triệu vector trong chớp mắt không? [pause] Faiss hỗ trợ nhiều phương pháp nén tiên tiến như PQ, RQ, LSQ giúp giảm đáng kể dung lượng lưu trữ. Khi làm việc với dữ liệu lớn, khả năng thực hiện các thao tác cơ sở dữ liệu và hiệu năng tìm kiếm vector của Faiss thực sự vượt trội so với các giải pháp thông thường. [pause] Từ ứng dụng thực tế đến các mức độ nén linh hoạt, Faiss đang trở thành công cụ không thể thiếu cho các dự án AI hiện đại.</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E078D8-6858-61DC-C0E8-80DE027393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8450FF-DC5C-1054-E90B-F6F23E37E1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8D9D63-0DD6-6561-AFED-92C514ACB4F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241FFE4-5522-4EDF-4A48-E126D084E9B2}"/>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2314769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5AF6A4-36FA-B073-3C0C-26C1F7AB01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5C1796-B55A-026F-4768-853A05A79D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DDF536-B887-2F53-8EAF-AD106BD554F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3FC6EFE-3092-3B5C-3AD9-16617E34F318}"/>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261240448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038906-B63B-6DE4-0E81-6B0B5A045E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7D983B-05C6-6FE4-2B98-1732A36F56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8369EC-6752-53B3-9794-8BBB9B5D885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80E26F9-CB27-D7F0-0A85-22EBAEB43881}"/>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295832576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709E47-0E8A-1EA0-9B19-C8601F54AA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4A37C0-3EB9-0417-F9F6-BEDA9973C0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B71CD2-21AE-47C5-A72E-377DDA584BF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7754A59-6D16-8F14-8168-478C45386BE2}"/>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285136232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E89234-3138-FE5A-5699-606DD310F6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4E0BB3-684A-64F5-46B8-82E92E4B84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A5A4A3-8A83-6979-B892-41B8E42B3B5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79EB04F-2780-6EE0-D4BA-84397EF5C2DF}"/>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422289507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55C4B6-BBC6-0C04-0F03-6BF864E0FF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9C31B0-D4C4-7477-1733-3C1F698E44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EAC060-42E4-2208-E53D-BED1A1F8414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E79AEA0-A716-84F4-505D-244AD0623FDD}"/>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37037532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AF3B04-69FA-F2DB-7167-487EE6CB51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C0D224-8D3C-1503-708C-495911766D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B955D7-1CCF-DF5B-0444-83A741BDAE2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FEC2DBE-8573-62F6-F5AA-2BB6FB29A2B3}"/>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278517937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AA5CD6-EBCC-6680-133F-E62495F7EB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3FA6BC-890C-105E-189E-5FB0927D7D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B8FE79-6F98-C5EC-8C48-8DC8A6019D7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011580C-C2B2-A676-DB98-6A646718BDE9}"/>
              </a:ext>
            </a:extLst>
          </p:cNvPr>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58040998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BA665B-CABD-7B9C-6858-58FB5B2EB9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B0A5CB-5B0E-E02A-DC74-D7B820A346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22B7BA-F68E-7CD8-F0ED-496D7EC58E5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DAB6420-E029-B9E5-D5FC-C94A4A125810}"/>
              </a:ext>
            </a:extLst>
          </p:cNvPr>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402834022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F11052-BB67-ADCD-45BD-4B006AA753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47A4D3-60C6-4720-3988-EAA396C73B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765361-88FB-065A-E3EC-A26AAD685CF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FD7F13E-C684-C74F-4EFE-4B90FDC8B55A}"/>
              </a:ext>
            </a:extLst>
          </p:cNvPr>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84577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F9C5E2-B7B1-AA61-785A-80BE0C7AF2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9938CC-C827-93C8-C042-FB7EBA9058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9DDE9A-501E-7EB5-89D2-638AB8B079D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CBD1D72-8642-B027-4D72-AA428876406A}"/>
              </a:ext>
            </a:extLst>
          </p:cNvPr>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269401260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3B671A-F0DA-C3BB-C777-94332157D8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698203-13E5-B035-0ABB-DFA4A0563F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96DD8B-FB1B-2F21-029E-605E8D83363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2F5C4B9-3042-F8E2-13A1-B7CC85032712}"/>
              </a:ext>
            </a:extLst>
          </p:cNvPr>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284893024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BCDB97-F1CD-9FA5-3734-A0C743397D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FFB35B-6AC3-CC20-2816-E98160FE97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4659C4-FB49-54E1-178F-F1658C0A45D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7CE95A9-7BD9-0EBA-1487-B50779CB30B4}"/>
              </a:ext>
            </a:extLst>
          </p:cNvPr>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27534068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5FC20B-25F1-07BF-9223-D9ED18B0C6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5A7DEB-F09A-7882-21D1-6C80957D28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6F8C2C-AC8F-D750-D735-6FA57A2B52E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12D411C-116C-BD94-3555-C6CD07743CD6}"/>
              </a:ext>
            </a:extLst>
          </p:cNvPr>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69179462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0425AE-36E4-A7CB-AD65-C442CDF5C5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EDED66-67D0-F532-6D07-20DFE1D4B0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3A7DEE-87C1-917B-2832-44403EF3D69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0421AD3-AA2F-2F8E-56C3-2D2AEBC78CAB}"/>
              </a:ext>
            </a:extLst>
          </p:cNvPr>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368668342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8.png"/><Relationship Id="rId5" Type="http://schemas.microsoft.com/office/2007/relationships/hdphoto" Target="../media/hdphoto1.wdp"/><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3.png"/><Relationship Id="rId7"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 Id="rId9"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3.png"/><Relationship Id="rId7"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 Id="rId9" Type="http://schemas.openxmlformats.org/officeDocument/2006/relationships/image" Target="../media/image23.png"/></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3.png"/><Relationship Id="rId7" Type="http://schemas.openxmlformats.org/officeDocument/2006/relationships/image" Target="../media/image21.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 Id="rId9" Type="http://schemas.openxmlformats.org/officeDocument/2006/relationships/image" Target="../media/image23.png"/></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7.xml"/><Relationship Id="rId1" Type="http://schemas.openxmlformats.org/officeDocument/2006/relationships/slideLayout" Target="../slideLayouts/slideLayout1.xml"/><Relationship Id="rId5" Type="http://schemas.openxmlformats.org/officeDocument/2006/relationships/image" Target="../media/image25.png"/><Relationship Id="rId4" Type="http://schemas.openxmlformats.org/officeDocument/2006/relationships/image" Target="../media/image24.png"/></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1.xml"/><Relationship Id="rId1" Type="http://schemas.openxmlformats.org/officeDocument/2006/relationships/slideLayout" Target="../slideLayouts/slideLayout1.xml"/><Relationship Id="rId5" Type="http://schemas.openxmlformats.org/officeDocument/2006/relationships/image" Target="../media/image30.png"/><Relationship Id="rId4" Type="http://schemas.openxmlformats.org/officeDocument/2006/relationships/image" Target="../media/image29.png"/></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2.xml"/><Relationship Id="rId1" Type="http://schemas.openxmlformats.org/officeDocument/2006/relationships/slideLayout" Target="../slideLayouts/slideLayout1.xml"/><Relationship Id="rId5" Type="http://schemas.openxmlformats.org/officeDocument/2006/relationships/image" Target="../media/image32.png"/><Relationship Id="rId4" Type="http://schemas.openxmlformats.org/officeDocument/2006/relationships/image" Target="../media/image31.png"/></Relationships>
</file>

<file path=ppt/slides/_rels/slide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4.xml"/><Relationship Id="rId1" Type="http://schemas.openxmlformats.org/officeDocument/2006/relationships/slideLayout" Target="../slideLayouts/slideLayout1.xml"/><Relationship Id="rId5" Type="http://schemas.openxmlformats.org/officeDocument/2006/relationships/image" Target="../media/image34.png"/><Relationship Id="rId4" Type="http://schemas.openxmlformats.org/officeDocument/2006/relationships/image" Target="../media/image33.png"/></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83728" y="959290"/>
            <a:ext cx="4916732" cy="1280160"/>
          </a:xfrm>
          <a:prstGeom prst="rect">
            <a:avLst/>
          </a:prstGeom>
          <a:noFill/>
          <a:ln/>
        </p:spPr>
        <p:txBody>
          <a:bodyPr wrap="square" lIns="95250" tIns="95250" rIns="95250" bIns="95250" rtlCol="0" anchor="b"/>
          <a:lstStyle/>
          <a:p>
            <a:pPr marL="0" indent="0">
              <a:lnSpc>
                <a:spcPct val="100000"/>
              </a:lnSpc>
              <a:spcBef>
                <a:spcPts val="375"/>
              </a:spcBef>
              <a:buNone/>
            </a:pPr>
            <a:r>
              <a:rPr lang="en-US" sz="3888" b="1" kern="0" spc="144" dirty="0">
                <a:solidFill>
                  <a:srgbClr val="193AB9"/>
                </a:solidFill>
                <a:latin typeface="Noto Sans" pitchFamily="34" charset="0"/>
                <a:ea typeface="Noto Sans" pitchFamily="34" charset="-122"/>
                <a:cs typeface="Noto Sans" pitchFamily="34" charset="-120"/>
              </a:rPr>
              <a:t>THƯ VIỆN FAISS</a:t>
            </a:r>
            <a:endParaRPr lang="en-US" sz="1440" dirty="0"/>
          </a:p>
        </p:txBody>
      </p:sp>
      <p:sp>
        <p:nvSpPr>
          <p:cNvPr id="3" name="Shape 1"/>
          <p:cNvSpPr/>
          <p:nvPr/>
        </p:nvSpPr>
        <p:spPr>
          <a:xfrm>
            <a:off x="546444" y="2395271"/>
            <a:ext cx="1645920" cy="352958"/>
          </a:xfrm>
          <a:custGeom>
            <a:avLst/>
            <a:gdLst/>
            <a:ahLst/>
            <a:cxnLst/>
            <a:rect l="l" t="t" r="r" b="b"/>
            <a:pathLst>
              <a:path w="1645920" h="352958">
                <a:moveTo>
                  <a:pt x="176479" y="0"/>
                </a:moveTo>
                <a:moveTo>
                  <a:pt x="176479" y="0"/>
                </a:moveTo>
                <a:lnTo>
                  <a:pt x="1469441" y="0"/>
                </a:lnTo>
                <a:quadBezTo>
                  <a:pt x="1645920" y="0"/>
                  <a:pt x="1645920" y="176479"/>
                </a:quadBezTo>
                <a:lnTo>
                  <a:pt x="1645920" y="176479"/>
                </a:lnTo>
                <a:quadBezTo>
                  <a:pt x="1645920" y="352958"/>
                  <a:pt x="1469441" y="352958"/>
                </a:quadBezTo>
                <a:lnTo>
                  <a:pt x="176479" y="352958"/>
                </a:lnTo>
                <a:quadBezTo>
                  <a:pt x="0" y="352958"/>
                  <a:pt x="0" y="176479"/>
                </a:quadBezTo>
                <a:lnTo>
                  <a:pt x="0" y="176479"/>
                </a:lnTo>
                <a:quadBezTo>
                  <a:pt x="0" y="0"/>
                  <a:pt x="176479" y="0"/>
                </a:quadBezTo>
                <a:close/>
              </a:path>
            </a:pathLst>
          </a:custGeom>
          <a:solidFill>
            <a:srgbClr val="379EFC"/>
          </a:solidFill>
          <a:ln/>
        </p:spPr>
        <p:txBody>
          <a:bodyPr/>
          <a:lstStyle/>
          <a:p>
            <a:endParaRPr lang="en-US"/>
          </a:p>
        </p:txBody>
      </p:sp>
      <p:sp>
        <p:nvSpPr>
          <p:cNvPr id="4" name="Text 2"/>
          <p:cNvSpPr/>
          <p:nvPr/>
        </p:nvSpPr>
        <p:spPr>
          <a:xfrm>
            <a:off x="670347" y="2343150"/>
            <a:ext cx="1398115" cy="457200"/>
          </a:xfrm>
          <a:prstGeom prst="rect">
            <a:avLst/>
          </a:prstGeom>
          <a:noFill/>
          <a:ln/>
        </p:spPr>
        <p:txBody>
          <a:bodyPr wrap="square" lIns="95250" tIns="95250" rIns="95250" bIns="95250" rtlCol="0" anchor="t">
            <a:spAutoFit/>
          </a:bodyPr>
          <a:lstStyle/>
          <a:p>
            <a:pPr marL="0" indent="0" algn="ctr">
              <a:lnSpc>
                <a:spcPct val="112500"/>
              </a:lnSpc>
              <a:spcBef>
                <a:spcPts val="375"/>
              </a:spcBef>
              <a:buNone/>
            </a:pPr>
            <a:r>
              <a:rPr lang="en-US" sz="1440" b="1" dirty="0">
                <a:solidFill>
                  <a:srgbClr val="FFFFFF"/>
                </a:solidFill>
                <a:latin typeface="Noto Sans" pitchFamily="34" charset="0"/>
                <a:ea typeface="Noto Sans" pitchFamily="34" charset="-122"/>
                <a:cs typeface="Noto Sans" pitchFamily="34" charset="-120"/>
              </a:rPr>
              <a:t>NHÓM 1</a:t>
            </a:r>
            <a:endParaRPr lang="en-US" sz="1440" dirty="0"/>
          </a:p>
        </p:txBody>
      </p:sp>
      <p:sp>
        <p:nvSpPr>
          <p:cNvPr id="5" name="Shape 3"/>
          <p:cNvSpPr/>
          <p:nvPr/>
        </p:nvSpPr>
        <p:spPr>
          <a:xfrm>
            <a:off x="483728" y="2287743"/>
            <a:ext cx="3962238" cy="0"/>
          </a:xfrm>
          <a:custGeom>
            <a:avLst/>
            <a:gdLst/>
            <a:ahLst/>
            <a:cxnLst/>
            <a:rect l="l" t="t" r="r" b="b"/>
            <a:pathLst>
              <a:path w="3962238">
                <a:moveTo>
                  <a:pt x="0" y="0"/>
                </a:moveTo>
                <a:moveTo>
                  <a:pt x="0" y="0"/>
                </a:moveTo>
                <a:lnTo>
                  <a:pt x="3962238" y="0"/>
                </a:lnTo>
              </a:path>
            </a:pathLst>
          </a:custGeom>
          <a:noFill/>
          <a:ln w="9525">
            <a:solidFill>
              <a:srgbClr val="CCCCCC"/>
            </a:solidFill>
            <a:prstDash val="solid"/>
            <a:headEnd type="none"/>
            <a:tailEnd type="none"/>
          </a:ln>
        </p:spPr>
        <p:txBody>
          <a:bodyPr/>
          <a:lstStyle/>
          <a:p>
            <a:endParaRPr lang="en-US"/>
          </a:p>
        </p:txBody>
      </p:sp>
      <p:sp>
        <p:nvSpPr>
          <p:cNvPr id="6" name="Text 4"/>
          <p:cNvSpPr/>
          <p:nvPr/>
        </p:nvSpPr>
        <p:spPr>
          <a:xfrm>
            <a:off x="483728" y="2748229"/>
            <a:ext cx="4181070" cy="1097280"/>
          </a:xfrm>
          <a:prstGeom prst="rect">
            <a:avLst/>
          </a:prstGeom>
          <a:noFill/>
          <a:ln/>
        </p:spPr>
        <p:txBody>
          <a:bodyPr wrap="square" lIns="95250" tIns="95250" rIns="95250" bIns="95250" rtlCol="0" anchor="t">
            <a:spAutoFit/>
          </a:bodyPr>
          <a:lstStyle/>
          <a:p>
            <a:pPr marL="0" indent="0">
              <a:lnSpc>
                <a:spcPct val="112500"/>
              </a:lnSpc>
              <a:spcBef>
                <a:spcPts val="375"/>
              </a:spcBef>
              <a:buNone/>
            </a:pPr>
            <a:r>
              <a:rPr lang="en-US" sz="1440" dirty="0">
                <a:solidFill>
                  <a:srgbClr val="00070F"/>
                </a:solidFill>
                <a:latin typeface="Noto Sans" pitchFamily="34" charset="0"/>
                <a:ea typeface="Noto Sans" pitchFamily="34" charset="-122"/>
                <a:cs typeface="Noto Sans" pitchFamily="34" charset="-120"/>
              </a:rPr>
              <a:t>Đặng Trung Kiên - 835150537</a:t>
            </a:r>
            <a:endParaRPr lang="en-US" sz="1440" dirty="0"/>
          </a:p>
          <a:p>
            <a:pPr marL="0" indent="0">
              <a:lnSpc>
                <a:spcPct val="112500"/>
              </a:lnSpc>
              <a:spcBef>
                <a:spcPts val="375"/>
              </a:spcBef>
              <a:buNone/>
            </a:pPr>
            <a:r>
              <a:rPr lang="en-US" sz="1440" dirty="0">
                <a:solidFill>
                  <a:srgbClr val="00070F"/>
                </a:solidFill>
                <a:latin typeface="Noto Sans" pitchFamily="34" charset="0"/>
                <a:ea typeface="Noto Sans" pitchFamily="34" charset="-122"/>
                <a:cs typeface="Noto Sans" pitchFamily="34" charset="-120"/>
              </a:rPr>
              <a:t>Nguyễn Tiến Đạt - 835151465</a:t>
            </a:r>
            <a:endParaRPr lang="en-US" sz="1440" dirty="0"/>
          </a:p>
          <a:p>
            <a:pPr marL="0" indent="0">
              <a:lnSpc>
                <a:spcPct val="112500"/>
              </a:lnSpc>
              <a:spcBef>
                <a:spcPts val="375"/>
              </a:spcBef>
              <a:buNone/>
            </a:pPr>
            <a:r>
              <a:rPr lang="en-US" sz="1440" dirty="0">
                <a:solidFill>
                  <a:srgbClr val="00070F"/>
                </a:solidFill>
                <a:latin typeface="Noto Sans" pitchFamily="34" charset="0"/>
                <a:ea typeface="Noto Sans" pitchFamily="34" charset="-122"/>
                <a:cs typeface="Noto Sans" pitchFamily="34" charset="-120"/>
              </a:rPr>
              <a:t>Nguyễn Diệp Linh - 835151467</a:t>
            </a:r>
            <a:endParaRPr lang="en-US" sz="1440" dirty="0"/>
          </a:p>
        </p:txBody>
      </p:sp>
      <p:pic>
        <p:nvPicPr>
          <p:cNvPr id="8" name="Picture 7" descr="A qr code with dots&#10;&#10;AI-generated content may be incorrect.">
            <a:extLst>
              <a:ext uri="{FF2B5EF4-FFF2-40B4-BE49-F238E27FC236}">
                <a16:creationId xmlns:a16="http://schemas.microsoft.com/office/drawing/2014/main" id="{AC99BE9A-07CE-15F1-E12D-DF857DC0938F}"/>
              </a:ext>
            </a:extLst>
          </p:cNvPr>
          <p:cNvPicPr>
            <a:picLocks noChangeAspect="1"/>
          </p:cNvPicPr>
          <p:nvPr/>
        </p:nvPicPr>
        <p:blipFill>
          <a:blip r:embed="rId4"/>
          <a:stretch>
            <a:fillRect/>
          </a:stretch>
        </p:blipFill>
        <p:spPr>
          <a:xfrm>
            <a:off x="5136978" y="818736"/>
            <a:ext cx="3629316" cy="362931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Text 0"/>
          <p:cNvSpPr/>
          <p:nvPr/>
        </p:nvSpPr>
        <p:spPr>
          <a:xfrm>
            <a:off x="5892802" y="317930"/>
            <a:ext cx="2148119" cy="731520"/>
          </a:xfrm>
          <a:prstGeom prst="rect">
            <a:avLst/>
          </a:prstGeom>
          <a:noFill/>
          <a:ln/>
        </p:spPr>
        <p:txBody>
          <a:bodyPr wrap="square" lIns="95250" tIns="95250" rIns="95250" bIns="95250" rtlCol="0" anchor="t">
            <a:spAutoFit/>
          </a:bodyPr>
          <a:lstStyle/>
          <a:p>
            <a:pPr marL="0" indent="0">
              <a:lnSpc>
                <a:spcPct val="112500"/>
              </a:lnSpc>
              <a:spcBef>
                <a:spcPts val="375"/>
              </a:spcBef>
              <a:buNone/>
            </a:pPr>
            <a:r>
              <a:rPr lang="en-US" sz="2880" b="1" dirty="0">
                <a:solidFill>
                  <a:srgbClr val="193AB9"/>
                </a:solidFill>
                <a:latin typeface="Noto Sans" pitchFamily="34" charset="0"/>
                <a:ea typeface="Noto Sans" pitchFamily="34" charset="-122"/>
                <a:cs typeface="Noto Sans" pitchFamily="34" charset="-120"/>
              </a:rPr>
              <a:t>NỘI DUNG</a:t>
            </a:r>
            <a:endParaRPr lang="en-US" sz="1440" dirty="0"/>
          </a:p>
        </p:txBody>
      </p:sp>
      <p:sp>
        <p:nvSpPr>
          <p:cNvPr id="4" name="Shape 1"/>
          <p:cNvSpPr/>
          <p:nvPr/>
        </p:nvSpPr>
        <p:spPr>
          <a:xfrm>
            <a:off x="438266" y="1157135"/>
            <a:ext cx="4050162" cy="611140"/>
          </a:xfrm>
          <a:custGeom>
            <a:avLst/>
            <a:gdLst/>
            <a:ahLst/>
            <a:cxnLst/>
            <a:rect l="l" t="t" r="r" b="b"/>
            <a:pathLst>
              <a:path w="4050162" h="611140">
                <a:moveTo>
                  <a:pt x="305570" y="0"/>
                </a:moveTo>
                <a:moveTo>
                  <a:pt x="305570" y="0"/>
                </a:moveTo>
                <a:lnTo>
                  <a:pt x="3744592" y="0"/>
                </a:lnTo>
                <a:quadBezTo>
                  <a:pt x="4050162" y="0"/>
                  <a:pt x="4050162" y="305570"/>
                </a:quadBezTo>
                <a:lnTo>
                  <a:pt x="4050162" y="305570"/>
                </a:lnTo>
                <a:quadBezTo>
                  <a:pt x="4050162" y="611140"/>
                  <a:pt x="3744592" y="611140"/>
                </a:quadBezTo>
                <a:lnTo>
                  <a:pt x="305570" y="611140"/>
                </a:lnTo>
                <a:quadBezTo>
                  <a:pt x="0" y="611140"/>
                  <a:pt x="0" y="305570"/>
                </a:quadBezTo>
                <a:lnTo>
                  <a:pt x="0" y="305570"/>
                </a:lnTo>
                <a:quadBezTo>
                  <a:pt x="0" y="0"/>
                  <a:pt x="305570" y="0"/>
                </a:quadBezTo>
                <a:close/>
              </a:path>
            </a:pathLst>
          </a:custGeom>
          <a:solidFill>
            <a:srgbClr val="2B76FD">
              <a:alpha val="20000"/>
            </a:srgbClr>
          </a:solidFill>
          <a:ln/>
        </p:spPr>
        <p:txBody>
          <a:bodyPr/>
          <a:lstStyle/>
          <a:p>
            <a:endParaRPr lang="en-US"/>
          </a:p>
        </p:txBody>
      </p:sp>
      <p:sp>
        <p:nvSpPr>
          <p:cNvPr id="5" name="Shape 2"/>
          <p:cNvSpPr/>
          <p:nvPr/>
        </p:nvSpPr>
        <p:spPr>
          <a:xfrm>
            <a:off x="253400" y="1086867"/>
            <a:ext cx="751678" cy="751678"/>
          </a:xfrm>
          <a:custGeom>
            <a:avLst/>
            <a:gdLst/>
            <a:ahLst/>
            <a:cxnLst/>
            <a:rect l="l" t="t" r="r" b="b"/>
            <a:pathLst>
              <a:path w="751678" h="751678">
                <a:moveTo>
                  <a:pt x="375839" y="0"/>
                </a:moveTo>
                <a:moveTo>
                  <a:pt x="375839" y="0"/>
                </a:moveTo>
                <a:cubicBezTo>
                  <a:pt x="583270" y="0"/>
                  <a:pt x="751678" y="168408"/>
                  <a:pt x="751678" y="375839"/>
                </a:cubicBezTo>
                <a:cubicBezTo>
                  <a:pt x="751678" y="583270"/>
                  <a:pt x="583270" y="751678"/>
                  <a:pt x="375839" y="751678"/>
                </a:cubicBezTo>
                <a:cubicBezTo>
                  <a:pt x="168408" y="751678"/>
                  <a:pt x="0" y="583270"/>
                  <a:pt x="0" y="375839"/>
                </a:cubicBezTo>
                <a:cubicBezTo>
                  <a:pt x="0" y="168408"/>
                  <a:pt x="168408" y="0"/>
                  <a:pt x="375839" y="0"/>
                </a:cubicBezTo>
                <a:close/>
              </a:path>
            </a:pathLst>
          </a:custGeom>
          <a:solidFill>
            <a:srgbClr val="2B76FD"/>
          </a:solidFill>
          <a:ln/>
        </p:spPr>
        <p:txBody>
          <a:bodyPr/>
          <a:lstStyle/>
          <a:p>
            <a:endParaRPr lang="en-US"/>
          </a:p>
        </p:txBody>
      </p:sp>
      <p:sp>
        <p:nvSpPr>
          <p:cNvPr id="6" name="Shape 3"/>
          <p:cNvSpPr/>
          <p:nvPr/>
        </p:nvSpPr>
        <p:spPr>
          <a:xfrm>
            <a:off x="4840438" y="1157135"/>
            <a:ext cx="4050162" cy="611140"/>
          </a:xfrm>
          <a:custGeom>
            <a:avLst/>
            <a:gdLst/>
            <a:ahLst/>
            <a:cxnLst/>
            <a:rect l="l" t="t" r="r" b="b"/>
            <a:pathLst>
              <a:path w="4050162" h="611140">
                <a:moveTo>
                  <a:pt x="305570" y="0"/>
                </a:moveTo>
                <a:moveTo>
                  <a:pt x="305570" y="0"/>
                </a:moveTo>
                <a:lnTo>
                  <a:pt x="3744592" y="0"/>
                </a:lnTo>
                <a:quadBezTo>
                  <a:pt x="4050162" y="0"/>
                  <a:pt x="4050162" y="305570"/>
                </a:quadBezTo>
                <a:lnTo>
                  <a:pt x="4050162" y="305570"/>
                </a:lnTo>
                <a:quadBezTo>
                  <a:pt x="4050162" y="611140"/>
                  <a:pt x="3744592" y="611140"/>
                </a:quadBezTo>
                <a:lnTo>
                  <a:pt x="305570" y="611140"/>
                </a:lnTo>
                <a:quadBezTo>
                  <a:pt x="0" y="611140"/>
                  <a:pt x="0" y="305570"/>
                </a:quadBezTo>
                <a:lnTo>
                  <a:pt x="0" y="305570"/>
                </a:lnTo>
                <a:quadBezTo>
                  <a:pt x="0" y="0"/>
                  <a:pt x="305570" y="0"/>
                </a:quadBezTo>
                <a:close/>
              </a:path>
            </a:pathLst>
          </a:custGeom>
          <a:solidFill>
            <a:srgbClr val="379EFC">
              <a:alpha val="20000"/>
            </a:srgbClr>
          </a:solidFill>
          <a:ln/>
        </p:spPr>
        <p:txBody>
          <a:bodyPr/>
          <a:lstStyle/>
          <a:p>
            <a:endParaRPr lang="en-US"/>
          </a:p>
        </p:txBody>
      </p:sp>
      <p:sp>
        <p:nvSpPr>
          <p:cNvPr id="7" name="Shape 4"/>
          <p:cNvSpPr/>
          <p:nvPr/>
        </p:nvSpPr>
        <p:spPr>
          <a:xfrm>
            <a:off x="4637841" y="1086867"/>
            <a:ext cx="751678" cy="751678"/>
          </a:xfrm>
          <a:custGeom>
            <a:avLst/>
            <a:gdLst/>
            <a:ahLst/>
            <a:cxnLst/>
            <a:rect l="l" t="t" r="r" b="b"/>
            <a:pathLst>
              <a:path w="751678" h="751678">
                <a:moveTo>
                  <a:pt x="375839" y="0"/>
                </a:moveTo>
                <a:moveTo>
                  <a:pt x="375839" y="0"/>
                </a:moveTo>
                <a:cubicBezTo>
                  <a:pt x="583270" y="0"/>
                  <a:pt x="751678" y="168408"/>
                  <a:pt x="751678" y="375839"/>
                </a:cubicBezTo>
                <a:cubicBezTo>
                  <a:pt x="751678" y="583270"/>
                  <a:pt x="583270" y="751678"/>
                  <a:pt x="375839" y="751678"/>
                </a:cubicBezTo>
                <a:cubicBezTo>
                  <a:pt x="168408" y="751678"/>
                  <a:pt x="0" y="583270"/>
                  <a:pt x="0" y="375839"/>
                </a:cubicBezTo>
                <a:cubicBezTo>
                  <a:pt x="0" y="168408"/>
                  <a:pt x="168408" y="0"/>
                  <a:pt x="375839" y="0"/>
                </a:cubicBezTo>
                <a:close/>
              </a:path>
            </a:pathLst>
          </a:custGeom>
          <a:solidFill>
            <a:srgbClr val="379EFC"/>
          </a:solidFill>
          <a:ln/>
        </p:spPr>
        <p:txBody>
          <a:bodyPr/>
          <a:lstStyle/>
          <a:p>
            <a:endParaRPr lang="en-US"/>
          </a:p>
        </p:txBody>
      </p:sp>
      <p:sp>
        <p:nvSpPr>
          <p:cNvPr id="8" name="Text 5"/>
          <p:cNvSpPr/>
          <p:nvPr/>
        </p:nvSpPr>
        <p:spPr>
          <a:xfrm>
            <a:off x="263919" y="1155327"/>
            <a:ext cx="730640" cy="621792"/>
          </a:xfrm>
          <a:prstGeom prst="rect">
            <a:avLst/>
          </a:prstGeom>
          <a:noFill/>
          <a:ln/>
        </p:spPr>
        <p:txBody>
          <a:bodyPr wrap="square" lIns="95250" tIns="95250" rIns="95250" bIns="95250" rtlCol="0" anchor="t">
            <a:spAutoFit/>
          </a:bodyPr>
          <a:lstStyle/>
          <a:p>
            <a:pPr marL="0" indent="0" algn="ctr">
              <a:lnSpc>
                <a:spcPct val="112500"/>
              </a:lnSpc>
              <a:spcBef>
                <a:spcPts val="375"/>
              </a:spcBef>
              <a:buNone/>
            </a:pPr>
            <a:r>
              <a:rPr lang="en-US" sz="2304" b="1" dirty="0">
                <a:solidFill>
                  <a:srgbClr val="FFFFFF"/>
                </a:solidFill>
                <a:latin typeface="Noto Sans" pitchFamily="34" charset="0"/>
                <a:ea typeface="Noto Sans" pitchFamily="34" charset="-122"/>
                <a:cs typeface="Noto Sans" pitchFamily="34" charset="-120"/>
              </a:rPr>
              <a:t>01</a:t>
            </a:r>
            <a:endParaRPr lang="en-US" sz="1440" dirty="0"/>
          </a:p>
        </p:txBody>
      </p:sp>
      <p:sp>
        <p:nvSpPr>
          <p:cNvPr id="9" name="Text 6"/>
          <p:cNvSpPr/>
          <p:nvPr/>
        </p:nvSpPr>
        <p:spPr>
          <a:xfrm>
            <a:off x="4648360" y="1155327"/>
            <a:ext cx="730640" cy="621792"/>
          </a:xfrm>
          <a:prstGeom prst="rect">
            <a:avLst/>
          </a:prstGeom>
          <a:noFill/>
          <a:ln/>
        </p:spPr>
        <p:txBody>
          <a:bodyPr wrap="square" lIns="95250" tIns="95250" rIns="95250" bIns="95250" rtlCol="0" anchor="t">
            <a:spAutoFit/>
          </a:bodyPr>
          <a:lstStyle/>
          <a:p>
            <a:pPr marL="0" indent="0" algn="ctr">
              <a:lnSpc>
                <a:spcPct val="112500"/>
              </a:lnSpc>
              <a:spcBef>
                <a:spcPts val="375"/>
              </a:spcBef>
              <a:buNone/>
            </a:pPr>
            <a:r>
              <a:rPr lang="en-US" sz="2304" b="1" dirty="0">
                <a:solidFill>
                  <a:srgbClr val="FFFFFF"/>
                </a:solidFill>
                <a:latin typeface="Noto Sans" pitchFamily="34" charset="0"/>
                <a:ea typeface="Noto Sans" pitchFamily="34" charset="-122"/>
                <a:cs typeface="Noto Sans" pitchFamily="34" charset="-120"/>
              </a:rPr>
              <a:t>05</a:t>
            </a:r>
            <a:endParaRPr lang="en-US" sz="1440" dirty="0"/>
          </a:p>
        </p:txBody>
      </p:sp>
      <p:sp>
        <p:nvSpPr>
          <p:cNvPr id="10" name="Shape 7"/>
          <p:cNvSpPr/>
          <p:nvPr/>
        </p:nvSpPr>
        <p:spPr>
          <a:xfrm>
            <a:off x="438266" y="2052605"/>
            <a:ext cx="4050162" cy="611140"/>
          </a:xfrm>
          <a:custGeom>
            <a:avLst/>
            <a:gdLst/>
            <a:ahLst/>
            <a:cxnLst/>
            <a:rect l="l" t="t" r="r" b="b"/>
            <a:pathLst>
              <a:path w="4050162" h="611140">
                <a:moveTo>
                  <a:pt x="305570" y="0"/>
                </a:moveTo>
                <a:moveTo>
                  <a:pt x="305570" y="0"/>
                </a:moveTo>
                <a:lnTo>
                  <a:pt x="3744592" y="0"/>
                </a:lnTo>
                <a:quadBezTo>
                  <a:pt x="4050162" y="0"/>
                  <a:pt x="4050162" y="305570"/>
                </a:quadBezTo>
                <a:lnTo>
                  <a:pt x="4050162" y="305570"/>
                </a:lnTo>
                <a:quadBezTo>
                  <a:pt x="4050162" y="611140"/>
                  <a:pt x="3744592" y="611140"/>
                </a:quadBezTo>
                <a:lnTo>
                  <a:pt x="305570" y="611140"/>
                </a:lnTo>
                <a:quadBezTo>
                  <a:pt x="0" y="611140"/>
                  <a:pt x="0" y="305570"/>
                </a:quadBezTo>
                <a:lnTo>
                  <a:pt x="0" y="305570"/>
                </a:lnTo>
                <a:quadBezTo>
                  <a:pt x="0" y="0"/>
                  <a:pt x="305570" y="0"/>
                </a:quadBezTo>
                <a:close/>
              </a:path>
            </a:pathLst>
          </a:custGeom>
          <a:solidFill>
            <a:srgbClr val="2B76FD">
              <a:alpha val="20000"/>
            </a:srgbClr>
          </a:solidFill>
          <a:ln/>
        </p:spPr>
        <p:txBody>
          <a:bodyPr/>
          <a:lstStyle/>
          <a:p>
            <a:endParaRPr lang="en-US"/>
          </a:p>
        </p:txBody>
      </p:sp>
      <p:sp>
        <p:nvSpPr>
          <p:cNvPr id="11" name="Shape 8"/>
          <p:cNvSpPr/>
          <p:nvPr/>
        </p:nvSpPr>
        <p:spPr>
          <a:xfrm>
            <a:off x="253400" y="1982336"/>
            <a:ext cx="751678" cy="751678"/>
          </a:xfrm>
          <a:custGeom>
            <a:avLst/>
            <a:gdLst/>
            <a:ahLst/>
            <a:cxnLst/>
            <a:rect l="l" t="t" r="r" b="b"/>
            <a:pathLst>
              <a:path w="751678" h="751678">
                <a:moveTo>
                  <a:pt x="375839" y="0"/>
                </a:moveTo>
                <a:moveTo>
                  <a:pt x="375839" y="0"/>
                </a:moveTo>
                <a:cubicBezTo>
                  <a:pt x="583270" y="0"/>
                  <a:pt x="751678" y="168408"/>
                  <a:pt x="751678" y="375839"/>
                </a:cubicBezTo>
                <a:cubicBezTo>
                  <a:pt x="751678" y="583270"/>
                  <a:pt x="583270" y="751678"/>
                  <a:pt x="375839" y="751678"/>
                </a:cubicBezTo>
                <a:cubicBezTo>
                  <a:pt x="168408" y="751678"/>
                  <a:pt x="0" y="583270"/>
                  <a:pt x="0" y="375839"/>
                </a:cubicBezTo>
                <a:cubicBezTo>
                  <a:pt x="0" y="168408"/>
                  <a:pt x="168408" y="0"/>
                  <a:pt x="375839" y="0"/>
                </a:cubicBezTo>
                <a:close/>
              </a:path>
            </a:pathLst>
          </a:custGeom>
          <a:solidFill>
            <a:srgbClr val="2B76FD"/>
          </a:solidFill>
          <a:ln/>
        </p:spPr>
        <p:txBody>
          <a:bodyPr/>
          <a:lstStyle/>
          <a:p>
            <a:endParaRPr lang="en-US"/>
          </a:p>
        </p:txBody>
      </p:sp>
      <p:sp>
        <p:nvSpPr>
          <p:cNvPr id="12" name="Shape 9"/>
          <p:cNvSpPr/>
          <p:nvPr/>
        </p:nvSpPr>
        <p:spPr>
          <a:xfrm>
            <a:off x="4840438" y="2052605"/>
            <a:ext cx="4050162" cy="611140"/>
          </a:xfrm>
          <a:custGeom>
            <a:avLst/>
            <a:gdLst/>
            <a:ahLst/>
            <a:cxnLst/>
            <a:rect l="l" t="t" r="r" b="b"/>
            <a:pathLst>
              <a:path w="4050162" h="611140">
                <a:moveTo>
                  <a:pt x="305570" y="0"/>
                </a:moveTo>
                <a:moveTo>
                  <a:pt x="305570" y="0"/>
                </a:moveTo>
                <a:lnTo>
                  <a:pt x="3744592" y="0"/>
                </a:lnTo>
                <a:quadBezTo>
                  <a:pt x="4050162" y="0"/>
                  <a:pt x="4050162" y="305570"/>
                </a:quadBezTo>
                <a:lnTo>
                  <a:pt x="4050162" y="305570"/>
                </a:lnTo>
                <a:quadBezTo>
                  <a:pt x="4050162" y="611140"/>
                  <a:pt x="3744592" y="611140"/>
                </a:quadBezTo>
                <a:lnTo>
                  <a:pt x="305570" y="611140"/>
                </a:lnTo>
                <a:quadBezTo>
                  <a:pt x="0" y="611140"/>
                  <a:pt x="0" y="305570"/>
                </a:quadBezTo>
                <a:lnTo>
                  <a:pt x="0" y="305570"/>
                </a:lnTo>
                <a:quadBezTo>
                  <a:pt x="0" y="0"/>
                  <a:pt x="305570" y="0"/>
                </a:quadBezTo>
                <a:close/>
              </a:path>
            </a:pathLst>
          </a:custGeom>
          <a:solidFill>
            <a:srgbClr val="379EFC">
              <a:alpha val="20000"/>
            </a:srgbClr>
          </a:solidFill>
          <a:ln/>
        </p:spPr>
        <p:txBody>
          <a:bodyPr/>
          <a:lstStyle/>
          <a:p>
            <a:endParaRPr lang="en-US"/>
          </a:p>
        </p:txBody>
      </p:sp>
      <p:sp>
        <p:nvSpPr>
          <p:cNvPr id="13" name="Shape 10"/>
          <p:cNvSpPr/>
          <p:nvPr/>
        </p:nvSpPr>
        <p:spPr>
          <a:xfrm>
            <a:off x="4637841" y="1982336"/>
            <a:ext cx="751678" cy="751678"/>
          </a:xfrm>
          <a:custGeom>
            <a:avLst/>
            <a:gdLst/>
            <a:ahLst/>
            <a:cxnLst/>
            <a:rect l="l" t="t" r="r" b="b"/>
            <a:pathLst>
              <a:path w="751678" h="751678">
                <a:moveTo>
                  <a:pt x="375839" y="0"/>
                </a:moveTo>
                <a:moveTo>
                  <a:pt x="375839" y="0"/>
                </a:moveTo>
                <a:cubicBezTo>
                  <a:pt x="583270" y="0"/>
                  <a:pt x="751678" y="168408"/>
                  <a:pt x="751678" y="375839"/>
                </a:cubicBezTo>
                <a:cubicBezTo>
                  <a:pt x="751678" y="583270"/>
                  <a:pt x="583270" y="751678"/>
                  <a:pt x="375839" y="751678"/>
                </a:cubicBezTo>
                <a:cubicBezTo>
                  <a:pt x="168408" y="751678"/>
                  <a:pt x="0" y="583270"/>
                  <a:pt x="0" y="375839"/>
                </a:cubicBezTo>
                <a:cubicBezTo>
                  <a:pt x="0" y="168408"/>
                  <a:pt x="168408" y="0"/>
                  <a:pt x="375839" y="0"/>
                </a:cubicBezTo>
                <a:close/>
              </a:path>
            </a:pathLst>
          </a:custGeom>
          <a:solidFill>
            <a:srgbClr val="379EFC"/>
          </a:solidFill>
          <a:ln/>
        </p:spPr>
        <p:txBody>
          <a:bodyPr/>
          <a:lstStyle/>
          <a:p>
            <a:endParaRPr lang="en-US"/>
          </a:p>
        </p:txBody>
      </p:sp>
      <p:sp>
        <p:nvSpPr>
          <p:cNvPr id="14" name="Text 11"/>
          <p:cNvSpPr/>
          <p:nvPr/>
        </p:nvSpPr>
        <p:spPr>
          <a:xfrm>
            <a:off x="263919" y="2050797"/>
            <a:ext cx="730640" cy="621792"/>
          </a:xfrm>
          <a:prstGeom prst="rect">
            <a:avLst/>
          </a:prstGeom>
          <a:noFill/>
          <a:ln/>
        </p:spPr>
        <p:txBody>
          <a:bodyPr wrap="square" lIns="95250" tIns="95250" rIns="95250" bIns="95250" rtlCol="0" anchor="t">
            <a:spAutoFit/>
          </a:bodyPr>
          <a:lstStyle/>
          <a:p>
            <a:pPr marL="0" indent="0" algn="ctr">
              <a:lnSpc>
                <a:spcPct val="112500"/>
              </a:lnSpc>
              <a:spcBef>
                <a:spcPts val="375"/>
              </a:spcBef>
              <a:buNone/>
            </a:pPr>
            <a:r>
              <a:rPr lang="en-US" sz="2304" b="1" dirty="0">
                <a:solidFill>
                  <a:srgbClr val="FFFFFF"/>
                </a:solidFill>
                <a:latin typeface="Noto Sans" pitchFamily="34" charset="0"/>
                <a:ea typeface="Noto Sans" pitchFamily="34" charset="-122"/>
                <a:cs typeface="Noto Sans" pitchFamily="34" charset="-120"/>
              </a:rPr>
              <a:t>02</a:t>
            </a:r>
            <a:endParaRPr lang="en-US" sz="1440" dirty="0"/>
          </a:p>
        </p:txBody>
      </p:sp>
      <p:sp>
        <p:nvSpPr>
          <p:cNvPr id="15" name="Text 12"/>
          <p:cNvSpPr/>
          <p:nvPr/>
        </p:nvSpPr>
        <p:spPr>
          <a:xfrm>
            <a:off x="4648360" y="2050797"/>
            <a:ext cx="730640" cy="621792"/>
          </a:xfrm>
          <a:prstGeom prst="rect">
            <a:avLst/>
          </a:prstGeom>
          <a:noFill/>
          <a:ln/>
        </p:spPr>
        <p:txBody>
          <a:bodyPr wrap="square" lIns="95250" tIns="95250" rIns="95250" bIns="95250" rtlCol="0" anchor="t">
            <a:spAutoFit/>
          </a:bodyPr>
          <a:lstStyle/>
          <a:p>
            <a:pPr marL="0" indent="0" algn="ctr">
              <a:lnSpc>
                <a:spcPct val="112500"/>
              </a:lnSpc>
              <a:spcBef>
                <a:spcPts val="375"/>
              </a:spcBef>
              <a:buNone/>
            </a:pPr>
            <a:r>
              <a:rPr lang="en-US" sz="2304" b="1" dirty="0">
                <a:solidFill>
                  <a:srgbClr val="FFFFFF"/>
                </a:solidFill>
                <a:latin typeface="Noto Sans" pitchFamily="34" charset="0"/>
                <a:ea typeface="Noto Sans" pitchFamily="34" charset="-122"/>
                <a:cs typeface="Noto Sans" pitchFamily="34" charset="-120"/>
              </a:rPr>
              <a:t>06</a:t>
            </a:r>
            <a:endParaRPr lang="en-US" sz="1440" dirty="0"/>
          </a:p>
        </p:txBody>
      </p:sp>
      <p:sp>
        <p:nvSpPr>
          <p:cNvPr id="16" name="Shape 13"/>
          <p:cNvSpPr/>
          <p:nvPr/>
        </p:nvSpPr>
        <p:spPr>
          <a:xfrm>
            <a:off x="438266" y="2948074"/>
            <a:ext cx="4050162" cy="611140"/>
          </a:xfrm>
          <a:custGeom>
            <a:avLst/>
            <a:gdLst/>
            <a:ahLst/>
            <a:cxnLst/>
            <a:rect l="l" t="t" r="r" b="b"/>
            <a:pathLst>
              <a:path w="4050162" h="611140">
                <a:moveTo>
                  <a:pt x="305570" y="0"/>
                </a:moveTo>
                <a:moveTo>
                  <a:pt x="305570" y="0"/>
                </a:moveTo>
                <a:lnTo>
                  <a:pt x="3744592" y="0"/>
                </a:lnTo>
                <a:quadBezTo>
                  <a:pt x="4050162" y="0"/>
                  <a:pt x="4050162" y="305570"/>
                </a:quadBezTo>
                <a:lnTo>
                  <a:pt x="4050162" y="305570"/>
                </a:lnTo>
                <a:quadBezTo>
                  <a:pt x="4050162" y="611140"/>
                  <a:pt x="3744592" y="611140"/>
                </a:quadBezTo>
                <a:lnTo>
                  <a:pt x="305570" y="611140"/>
                </a:lnTo>
                <a:quadBezTo>
                  <a:pt x="0" y="611140"/>
                  <a:pt x="0" y="305570"/>
                </a:quadBezTo>
                <a:lnTo>
                  <a:pt x="0" y="305570"/>
                </a:lnTo>
                <a:quadBezTo>
                  <a:pt x="0" y="0"/>
                  <a:pt x="305570" y="0"/>
                </a:quadBezTo>
                <a:close/>
              </a:path>
            </a:pathLst>
          </a:custGeom>
          <a:solidFill>
            <a:srgbClr val="2B76FD">
              <a:alpha val="20000"/>
            </a:srgbClr>
          </a:solidFill>
          <a:ln/>
        </p:spPr>
        <p:txBody>
          <a:bodyPr/>
          <a:lstStyle/>
          <a:p>
            <a:endParaRPr lang="en-US"/>
          </a:p>
        </p:txBody>
      </p:sp>
      <p:sp>
        <p:nvSpPr>
          <p:cNvPr id="17" name="Shape 14"/>
          <p:cNvSpPr/>
          <p:nvPr/>
        </p:nvSpPr>
        <p:spPr>
          <a:xfrm>
            <a:off x="253400" y="2877805"/>
            <a:ext cx="751678" cy="751678"/>
          </a:xfrm>
          <a:custGeom>
            <a:avLst/>
            <a:gdLst/>
            <a:ahLst/>
            <a:cxnLst/>
            <a:rect l="l" t="t" r="r" b="b"/>
            <a:pathLst>
              <a:path w="751678" h="751678">
                <a:moveTo>
                  <a:pt x="375839" y="0"/>
                </a:moveTo>
                <a:moveTo>
                  <a:pt x="375839" y="0"/>
                </a:moveTo>
                <a:cubicBezTo>
                  <a:pt x="583270" y="0"/>
                  <a:pt x="751678" y="168408"/>
                  <a:pt x="751678" y="375839"/>
                </a:cubicBezTo>
                <a:cubicBezTo>
                  <a:pt x="751678" y="583270"/>
                  <a:pt x="583270" y="751678"/>
                  <a:pt x="375839" y="751678"/>
                </a:cubicBezTo>
                <a:cubicBezTo>
                  <a:pt x="168408" y="751678"/>
                  <a:pt x="0" y="583270"/>
                  <a:pt x="0" y="375839"/>
                </a:cubicBezTo>
                <a:cubicBezTo>
                  <a:pt x="0" y="168408"/>
                  <a:pt x="168408" y="0"/>
                  <a:pt x="375839" y="0"/>
                </a:cubicBezTo>
                <a:close/>
              </a:path>
            </a:pathLst>
          </a:custGeom>
          <a:solidFill>
            <a:srgbClr val="2B76FD"/>
          </a:solidFill>
          <a:ln/>
        </p:spPr>
        <p:txBody>
          <a:bodyPr/>
          <a:lstStyle/>
          <a:p>
            <a:endParaRPr lang="en-US"/>
          </a:p>
        </p:txBody>
      </p:sp>
      <p:sp>
        <p:nvSpPr>
          <p:cNvPr id="18" name="Shape 15"/>
          <p:cNvSpPr/>
          <p:nvPr/>
        </p:nvSpPr>
        <p:spPr>
          <a:xfrm>
            <a:off x="4840438" y="2948074"/>
            <a:ext cx="4050162" cy="611140"/>
          </a:xfrm>
          <a:custGeom>
            <a:avLst/>
            <a:gdLst/>
            <a:ahLst/>
            <a:cxnLst/>
            <a:rect l="l" t="t" r="r" b="b"/>
            <a:pathLst>
              <a:path w="4050162" h="611140">
                <a:moveTo>
                  <a:pt x="305570" y="0"/>
                </a:moveTo>
                <a:moveTo>
                  <a:pt x="305570" y="0"/>
                </a:moveTo>
                <a:lnTo>
                  <a:pt x="3744592" y="0"/>
                </a:lnTo>
                <a:quadBezTo>
                  <a:pt x="4050162" y="0"/>
                  <a:pt x="4050162" y="305570"/>
                </a:quadBezTo>
                <a:lnTo>
                  <a:pt x="4050162" y="305570"/>
                </a:lnTo>
                <a:quadBezTo>
                  <a:pt x="4050162" y="611140"/>
                  <a:pt x="3744592" y="611140"/>
                </a:quadBezTo>
                <a:lnTo>
                  <a:pt x="305570" y="611140"/>
                </a:lnTo>
                <a:quadBezTo>
                  <a:pt x="0" y="611140"/>
                  <a:pt x="0" y="305570"/>
                </a:quadBezTo>
                <a:lnTo>
                  <a:pt x="0" y="305570"/>
                </a:lnTo>
                <a:quadBezTo>
                  <a:pt x="0" y="0"/>
                  <a:pt x="305570" y="0"/>
                </a:quadBezTo>
                <a:close/>
              </a:path>
            </a:pathLst>
          </a:custGeom>
          <a:solidFill>
            <a:srgbClr val="379EFC">
              <a:alpha val="20000"/>
            </a:srgbClr>
          </a:solidFill>
          <a:ln/>
        </p:spPr>
        <p:txBody>
          <a:bodyPr/>
          <a:lstStyle/>
          <a:p>
            <a:endParaRPr lang="en-US"/>
          </a:p>
        </p:txBody>
      </p:sp>
      <p:sp>
        <p:nvSpPr>
          <p:cNvPr id="19" name="Shape 16"/>
          <p:cNvSpPr/>
          <p:nvPr/>
        </p:nvSpPr>
        <p:spPr>
          <a:xfrm>
            <a:off x="4637841" y="2877805"/>
            <a:ext cx="751678" cy="751678"/>
          </a:xfrm>
          <a:custGeom>
            <a:avLst/>
            <a:gdLst/>
            <a:ahLst/>
            <a:cxnLst/>
            <a:rect l="l" t="t" r="r" b="b"/>
            <a:pathLst>
              <a:path w="751678" h="751678">
                <a:moveTo>
                  <a:pt x="375839" y="0"/>
                </a:moveTo>
                <a:moveTo>
                  <a:pt x="375839" y="0"/>
                </a:moveTo>
                <a:cubicBezTo>
                  <a:pt x="583270" y="0"/>
                  <a:pt x="751678" y="168408"/>
                  <a:pt x="751678" y="375839"/>
                </a:cubicBezTo>
                <a:cubicBezTo>
                  <a:pt x="751678" y="583270"/>
                  <a:pt x="583270" y="751678"/>
                  <a:pt x="375839" y="751678"/>
                </a:cubicBezTo>
                <a:cubicBezTo>
                  <a:pt x="168408" y="751678"/>
                  <a:pt x="0" y="583270"/>
                  <a:pt x="0" y="375839"/>
                </a:cubicBezTo>
                <a:cubicBezTo>
                  <a:pt x="0" y="168408"/>
                  <a:pt x="168408" y="0"/>
                  <a:pt x="375839" y="0"/>
                </a:cubicBezTo>
                <a:close/>
              </a:path>
            </a:pathLst>
          </a:custGeom>
          <a:solidFill>
            <a:srgbClr val="379EFC"/>
          </a:solidFill>
          <a:ln/>
        </p:spPr>
        <p:txBody>
          <a:bodyPr/>
          <a:lstStyle/>
          <a:p>
            <a:endParaRPr lang="en-US"/>
          </a:p>
        </p:txBody>
      </p:sp>
      <p:sp>
        <p:nvSpPr>
          <p:cNvPr id="20" name="Text 17"/>
          <p:cNvSpPr/>
          <p:nvPr/>
        </p:nvSpPr>
        <p:spPr>
          <a:xfrm>
            <a:off x="263919" y="2946266"/>
            <a:ext cx="730640" cy="621792"/>
          </a:xfrm>
          <a:prstGeom prst="rect">
            <a:avLst/>
          </a:prstGeom>
          <a:noFill/>
          <a:ln/>
        </p:spPr>
        <p:txBody>
          <a:bodyPr wrap="square" lIns="95250" tIns="95250" rIns="95250" bIns="95250" rtlCol="0" anchor="t">
            <a:spAutoFit/>
          </a:bodyPr>
          <a:lstStyle/>
          <a:p>
            <a:pPr marL="0" indent="0" algn="ctr">
              <a:lnSpc>
                <a:spcPct val="112500"/>
              </a:lnSpc>
              <a:spcBef>
                <a:spcPts val="375"/>
              </a:spcBef>
              <a:buNone/>
            </a:pPr>
            <a:r>
              <a:rPr lang="en-US" sz="2304" b="1" dirty="0">
                <a:solidFill>
                  <a:srgbClr val="FFFFFF"/>
                </a:solidFill>
                <a:latin typeface="Noto Sans" pitchFamily="34" charset="0"/>
                <a:ea typeface="Noto Sans" pitchFamily="34" charset="-122"/>
                <a:cs typeface="Noto Sans" pitchFamily="34" charset="-120"/>
              </a:rPr>
              <a:t>03</a:t>
            </a:r>
            <a:endParaRPr lang="en-US" sz="1440" dirty="0"/>
          </a:p>
        </p:txBody>
      </p:sp>
      <p:sp>
        <p:nvSpPr>
          <p:cNvPr id="21" name="Text 18"/>
          <p:cNvSpPr/>
          <p:nvPr/>
        </p:nvSpPr>
        <p:spPr>
          <a:xfrm>
            <a:off x="4648360" y="2946266"/>
            <a:ext cx="730640" cy="621792"/>
          </a:xfrm>
          <a:prstGeom prst="rect">
            <a:avLst/>
          </a:prstGeom>
          <a:noFill/>
          <a:ln/>
        </p:spPr>
        <p:txBody>
          <a:bodyPr wrap="square" lIns="95250" tIns="95250" rIns="95250" bIns="95250" rtlCol="0" anchor="t">
            <a:spAutoFit/>
          </a:bodyPr>
          <a:lstStyle/>
          <a:p>
            <a:pPr marL="0" indent="0" algn="ctr">
              <a:lnSpc>
                <a:spcPct val="112500"/>
              </a:lnSpc>
              <a:spcBef>
                <a:spcPts val="375"/>
              </a:spcBef>
              <a:buNone/>
            </a:pPr>
            <a:r>
              <a:rPr lang="en-US" sz="2304" b="1" dirty="0">
                <a:solidFill>
                  <a:srgbClr val="FFFFFF"/>
                </a:solidFill>
                <a:latin typeface="Noto Sans" pitchFamily="34" charset="0"/>
                <a:ea typeface="Noto Sans" pitchFamily="34" charset="-122"/>
                <a:cs typeface="Noto Sans" pitchFamily="34" charset="-120"/>
              </a:rPr>
              <a:t>07</a:t>
            </a:r>
            <a:endParaRPr lang="en-US" sz="1440" dirty="0"/>
          </a:p>
        </p:txBody>
      </p:sp>
      <p:sp>
        <p:nvSpPr>
          <p:cNvPr id="22" name="Shape 19"/>
          <p:cNvSpPr/>
          <p:nvPr/>
        </p:nvSpPr>
        <p:spPr>
          <a:xfrm>
            <a:off x="438266" y="3843543"/>
            <a:ext cx="4050162" cy="611140"/>
          </a:xfrm>
          <a:custGeom>
            <a:avLst/>
            <a:gdLst/>
            <a:ahLst/>
            <a:cxnLst/>
            <a:rect l="l" t="t" r="r" b="b"/>
            <a:pathLst>
              <a:path w="4050162" h="611140">
                <a:moveTo>
                  <a:pt x="305570" y="0"/>
                </a:moveTo>
                <a:moveTo>
                  <a:pt x="305570" y="0"/>
                </a:moveTo>
                <a:lnTo>
                  <a:pt x="3744592" y="0"/>
                </a:lnTo>
                <a:quadBezTo>
                  <a:pt x="4050162" y="0"/>
                  <a:pt x="4050162" y="305570"/>
                </a:quadBezTo>
                <a:lnTo>
                  <a:pt x="4050162" y="305570"/>
                </a:lnTo>
                <a:quadBezTo>
                  <a:pt x="4050162" y="611140"/>
                  <a:pt x="3744592" y="611140"/>
                </a:quadBezTo>
                <a:lnTo>
                  <a:pt x="305570" y="611140"/>
                </a:lnTo>
                <a:quadBezTo>
                  <a:pt x="0" y="611140"/>
                  <a:pt x="0" y="305570"/>
                </a:quadBezTo>
                <a:lnTo>
                  <a:pt x="0" y="305570"/>
                </a:lnTo>
                <a:quadBezTo>
                  <a:pt x="0" y="0"/>
                  <a:pt x="305570" y="0"/>
                </a:quadBezTo>
                <a:close/>
              </a:path>
            </a:pathLst>
          </a:custGeom>
          <a:solidFill>
            <a:srgbClr val="2B76FD">
              <a:alpha val="20000"/>
            </a:srgbClr>
          </a:solidFill>
          <a:ln/>
        </p:spPr>
        <p:txBody>
          <a:bodyPr/>
          <a:lstStyle/>
          <a:p>
            <a:endParaRPr lang="en-US"/>
          </a:p>
        </p:txBody>
      </p:sp>
      <p:sp>
        <p:nvSpPr>
          <p:cNvPr id="23" name="Shape 20"/>
          <p:cNvSpPr/>
          <p:nvPr/>
        </p:nvSpPr>
        <p:spPr>
          <a:xfrm>
            <a:off x="253400" y="3773275"/>
            <a:ext cx="751678" cy="751678"/>
          </a:xfrm>
          <a:custGeom>
            <a:avLst/>
            <a:gdLst/>
            <a:ahLst/>
            <a:cxnLst/>
            <a:rect l="l" t="t" r="r" b="b"/>
            <a:pathLst>
              <a:path w="751678" h="751678">
                <a:moveTo>
                  <a:pt x="375839" y="0"/>
                </a:moveTo>
                <a:moveTo>
                  <a:pt x="375839" y="0"/>
                </a:moveTo>
                <a:cubicBezTo>
                  <a:pt x="583270" y="0"/>
                  <a:pt x="751678" y="168408"/>
                  <a:pt x="751678" y="375839"/>
                </a:cubicBezTo>
                <a:cubicBezTo>
                  <a:pt x="751678" y="583270"/>
                  <a:pt x="583270" y="751678"/>
                  <a:pt x="375839" y="751678"/>
                </a:cubicBezTo>
                <a:cubicBezTo>
                  <a:pt x="168408" y="751678"/>
                  <a:pt x="0" y="583270"/>
                  <a:pt x="0" y="375839"/>
                </a:cubicBezTo>
                <a:cubicBezTo>
                  <a:pt x="0" y="168408"/>
                  <a:pt x="168408" y="0"/>
                  <a:pt x="375839" y="0"/>
                </a:cubicBezTo>
                <a:close/>
              </a:path>
            </a:pathLst>
          </a:custGeom>
          <a:solidFill>
            <a:srgbClr val="2B76FD"/>
          </a:solidFill>
          <a:ln/>
        </p:spPr>
        <p:txBody>
          <a:bodyPr/>
          <a:lstStyle/>
          <a:p>
            <a:endParaRPr lang="en-US"/>
          </a:p>
        </p:txBody>
      </p:sp>
      <p:sp>
        <p:nvSpPr>
          <p:cNvPr id="24" name="Shape 21"/>
          <p:cNvSpPr/>
          <p:nvPr/>
        </p:nvSpPr>
        <p:spPr>
          <a:xfrm>
            <a:off x="4840438" y="3843543"/>
            <a:ext cx="4050162" cy="611140"/>
          </a:xfrm>
          <a:custGeom>
            <a:avLst/>
            <a:gdLst/>
            <a:ahLst/>
            <a:cxnLst/>
            <a:rect l="l" t="t" r="r" b="b"/>
            <a:pathLst>
              <a:path w="4050162" h="611140">
                <a:moveTo>
                  <a:pt x="305570" y="0"/>
                </a:moveTo>
                <a:moveTo>
                  <a:pt x="305570" y="0"/>
                </a:moveTo>
                <a:lnTo>
                  <a:pt x="3744592" y="0"/>
                </a:lnTo>
                <a:quadBezTo>
                  <a:pt x="4050162" y="0"/>
                  <a:pt x="4050162" y="305570"/>
                </a:quadBezTo>
                <a:lnTo>
                  <a:pt x="4050162" y="305570"/>
                </a:lnTo>
                <a:quadBezTo>
                  <a:pt x="4050162" y="611140"/>
                  <a:pt x="3744592" y="611140"/>
                </a:quadBezTo>
                <a:lnTo>
                  <a:pt x="305570" y="611140"/>
                </a:lnTo>
                <a:quadBezTo>
                  <a:pt x="0" y="611140"/>
                  <a:pt x="0" y="305570"/>
                </a:quadBezTo>
                <a:lnTo>
                  <a:pt x="0" y="305570"/>
                </a:lnTo>
                <a:quadBezTo>
                  <a:pt x="0" y="0"/>
                  <a:pt x="305570" y="0"/>
                </a:quadBezTo>
                <a:close/>
              </a:path>
            </a:pathLst>
          </a:custGeom>
          <a:solidFill>
            <a:srgbClr val="379EFC">
              <a:alpha val="20000"/>
            </a:srgbClr>
          </a:solidFill>
          <a:ln/>
        </p:spPr>
        <p:txBody>
          <a:bodyPr/>
          <a:lstStyle/>
          <a:p>
            <a:endParaRPr lang="en-US"/>
          </a:p>
        </p:txBody>
      </p:sp>
      <p:sp>
        <p:nvSpPr>
          <p:cNvPr id="25" name="Shape 22"/>
          <p:cNvSpPr/>
          <p:nvPr/>
        </p:nvSpPr>
        <p:spPr>
          <a:xfrm>
            <a:off x="4637841" y="3773275"/>
            <a:ext cx="751678" cy="751678"/>
          </a:xfrm>
          <a:custGeom>
            <a:avLst/>
            <a:gdLst/>
            <a:ahLst/>
            <a:cxnLst/>
            <a:rect l="l" t="t" r="r" b="b"/>
            <a:pathLst>
              <a:path w="751678" h="751678">
                <a:moveTo>
                  <a:pt x="375839" y="0"/>
                </a:moveTo>
                <a:moveTo>
                  <a:pt x="375839" y="0"/>
                </a:moveTo>
                <a:cubicBezTo>
                  <a:pt x="583270" y="0"/>
                  <a:pt x="751678" y="168408"/>
                  <a:pt x="751678" y="375839"/>
                </a:cubicBezTo>
                <a:cubicBezTo>
                  <a:pt x="751678" y="583270"/>
                  <a:pt x="583270" y="751678"/>
                  <a:pt x="375839" y="751678"/>
                </a:cubicBezTo>
                <a:cubicBezTo>
                  <a:pt x="168408" y="751678"/>
                  <a:pt x="0" y="583270"/>
                  <a:pt x="0" y="375839"/>
                </a:cubicBezTo>
                <a:cubicBezTo>
                  <a:pt x="0" y="168408"/>
                  <a:pt x="168408" y="0"/>
                  <a:pt x="375839" y="0"/>
                </a:cubicBezTo>
                <a:close/>
              </a:path>
            </a:pathLst>
          </a:custGeom>
          <a:solidFill>
            <a:srgbClr val="379EFC"/>
          </a:solidFill>
          <a:ln/>
        </p:spPr>
        <p:txBody>
          <a:bodyPr/>
          <a:lstStyle/>
          <a:p>
            <a:endParaRPr lang="en-US"/>
          </a:p>
        </p:txBody>
      </p:sp>
      <p:sp>
        <p:nvSpPr>
          <p:cNvPr id="26" name="Text 23"/>
          <p:cNvSpPr/>
          <p:nvPr/>
        </p:nvSpPr>
        <p:spPr>
          <a:xfrm>
            <a:off x="263919" y="3841735"/>
            <a:ext cx="730640" cy="621792"/>
          </a:xfrm>
          <a:prstGeom prst="rect">
            <a:avLst/>
          </a:prstGeom>
          <a:noFill/>
          <a:ln/>
        </p:spPr>
        <p:txBody>
          <a:bodyPr wrap="square" lIns="95250" tIns="95250" rIns="95250" bIns="95250" rtlCol="0" anchor="t">
            <a:spAutoFit/>
          </a:bodyPr>
          <a:lstStyle/>
          <a:p>
            <a:pPr marL="0" indent="0" algn="ctr">
              <a:lnSpc>
                <a:spcPct val="112500"/>
              </a:lnSpc>
              <a:spcBef>
                <a:spcPts val="375"/>
              </a:spcBef>
              <a:buNone/>
            </a:pPr>
            <a:r>
              <a:rPr lang="en-US" sz="2304" b="1" dirty="0">
                <a:solidFill>
                  <a:srgbClr val="FFFFFF"/>
                </a:solidFill>
                <a:latin typeface="Noto Sans" pitchFamily="34" charset="0"/>
                <a:ea typeface="Noto Sans" pitchFamily="34" charset="-122"/>
                <a:cs typeface="Noto Sans" pitchFamily="34" charset="-120"/>
              </a:rPr>
              <a:t>04</a:t>
            </a:r>
            <a:endParaRPr lang="en-US" sz="1440" dirty="0"/>
          </a:p>
        </p:txBody>
      </p:sp>
      <p:sp>
        <p:nvSpPr>
          <p:cNvPr id="27" name="Text 24"/>
          <p:cNvSpPr/>
          <p:nvPr/>
        </p:nvSpPr>
        <p:spPr>
          <a:xfrm>
            <a:off x="4648360" y="3841735"/>
            <a:ext cx="730640" cy="621792"/>
          </a:xfrm>
          <a:prstGeom prst="rect">
            <a:avLst/>
          </a:prstGeom>
          <a:noFill/>
          <a:ln/>
        </p:spPr>
        <p:txBody>
          <a:bodyPr wrap="square" lIns="95250" tIns="95250" rIns="95250" bIns="95250" rtlCol="0" anchor="t">
            <a:spAutoFit/>
          </a:bodyPr>
          <a:lstStyle/>
          <a:p>
            <a:pPr marL="0" indent="0" algn="ctr">
              <a:lnSpc>
                <a:spcPct val="112500"/>
              </a:lnSpc>
              <a:spcBef>
                <a:spcPts val="375"/>
              </a:spcBef>
              <a:buNone/>
            </a:pPr>
            <a:r>
              <a:rPr lang="en-US" sz="2304" b="1" dirty="0">
                <a:solidFill>
                  <a:srgbClr val="FFFFFF"/>
                </a:solidFill>
                <a:latin typeface="Noto Sans" pitchFamily="34" charset="0"/>
                <a:ea typeface="Noto Sans" pitchFamily="34" charset="-122"/>
                <a:cs typeface="Noto Sans" pitchFamily="34" charset="-120"/>
              </a:rPr>
              <a:t>08</a:t>
            </a:r>
            <a:endParaRPr lang="en-US" sz="1440" dirty="0"/>
          </a:p>
        </p:txBody>
      </p:sp>
      <p:sp>
        <p:nvSpPr>
          <p:cNvPr id="28" name="Text 25"/>
          <p:cNvSpPr/>
          <p:nvPr/>
        </p:nvSpPr>
        <p:spPr>
          <a:xfrm>
            <a:off x="1005079" y="1241213"/>
            <a:ext cx="3371456" cy="442986"/>
          </a:xfrm>
          <a:prstGeom prst="rect">
            <a:avLst/>
          </a:prstGeom>
          <a:noFill/>
          <a:ln/>
        </p:spPr>
        <p:txBody>
          <a:bodyPr wrap="square" lIns="95250" tIns="95250" rIns="95250" bIns="95250" rtlCol="0" anchor="ctr"/>
          <a:lstStyle/>
          <a:p>
            <a:pPr marL="0" indent="0" algn="ctr">
              <a:lnSpc>
                <a:spcPct val="100000"/>
              </a:lnSpc>
              <a:spcBef>
                <a:spcPts val="375"/>
              </a:spcBef>
              <a:buNone/>
            </a:pPr>
            <a:r>
              <a:rPr lang="en-US" sz="1584" b="1" dirty="0">
                <a:solidFill>
                  <a:srgbClr val="2B76FD"/>
                </a:solidFill>
                <a:latin typeface="Noto Sans" pitchFamily="34" charset="0"/>
                <a:ea typeface="Noto Sans" pitchFamily="34" charset="-122"/>
                <a:cs typeface="Noto Sans" pitchFamily="34" charset="-120"/>
              </a:rPr>
              <a:t>Giới thiệu thư viện FAISS</a:t>
            </a:r>
            <a:endParaRPr lang="en-US" sz="1440" dirty="0"/>
          </a:p>
        </p:txBody>
      </p:sp>
      <p:sp>
        <p:nvSpPr>
          <p:cNvPr id="29" name="Text 26"/>
          <p:cNvSpPr/>
          <p:nvPr/>
        </p:nvSpPr>
        <p:spPr>
          <a:xfrm>
            <a:off x="931264" y="2126299"/>
            <a:ext cx="3389227" cy="442986"/>
          </a:xfrm>
          <a:prstGeom prst="rect">
            <a:avLst/>
          </a:prstGeom>
          <a:noFill/>
          <a:ln/>
        </p:spPr>
        <p:txBody>
          <a:bodyPr wrap="square" lIns="95250" tIns="95250" rIns="95250" bIns="95250" rtlCol="0" anchor="ctr"/>
          <a:lstStyle/>
          <a:p>
            <a:pPr marL="0" indent="0" algn="ctr">
              <a:lnSpc>
                <a:spcPct val="100000"/>
              </a:lnSpc>
              <a:spcBef>
                <a:spcPts val="375"/>
              </a:spcBef>
              <a:buNone/>
            </a:pPr>
            <a:r>
              <a:rPr lang="en-US" sz="1584" b="1" dirty="0">
                <a:solidFill>
                  <a:srgbClr val="379EFC"/>
                </a:solidFill>
                <a:latin typeface="Noto Sans" pitchFamily="34" charset="0"/>
                <a:ea typeface="Noto Sans" pitchFamily="34" charset="-122"/>
                <a:cs typeface="Noto Sans" pitchFamily="34" charset="-120"/>
              </a:rPr>
              <a:t>Các công trình liên quan</a:t>
            </a:r>
            <a:endParaRPr lang="en-US" sz="1440" dirty="0"/>
          </a:p>
        </p:txBody>
      </p:sp>
      <p:sp>
        <p:nvSpPr>
          <p:cNvPr id="30" name="Text 27"/>
          <p:cNvSpPr/>
          <p:nvPr/>
        </p:nvSpPr>
        <p:spPr>
          <a:xfrm>
            <a:off x="1017303" y="3013901"/>
            <a:ext cx="3371456" cy="442986"/>
          </a:xfrm>
          <a:prstGeom prst="rect">
            <a:avLst/>
          </a:prstGeom>
          <a:noFill/>
          <a:ln/>
        </p:spPr>
        <p:txBody>
          <a:bodyPr wrap="square" lIns="95250" tIns="95250" rIns="95250" bIns="95250" rtlCol="0" anchor="ctr"/>
          <a:lstStyle/>
          <a:p>
            <a:pPr marL="0" indent="0" algn="ctr">
              <a:lnSpc>
                <a:spcPct val="100000"/>
              </a:lnSpc>
              <a:spcBef>
                <a:spcPts val="375"/>
              </a:spcBef>
              <a:buNone/>
            </a:pPr>
            <a:r>
              <a:rPr lang="en-US" sz="1584" b="1" dirty="0">
                <a:solidFill>
                  <a:srgbClr val="2B76FD"/>
                </a:solidFill>
                <a:latin typeface="Noto Sans" pitchFamily="34" charset="0"/>
                <a:ea typeface="Noto Sans" pitchFamily="34" charset="-122"/>
                <a:cs typeface="Noto Sans" pitchFamily="34" charset="-120"/>
              </a:rPr>
              <a:t>Hiệu năng của một thư viện tìm kiếm vector</a:t>
            </a:r>
            <a:endParaRPr lang="en-US" sz="1440" dirty="0"/>
          </a:p>
        </p:txBody>
      </p:sp>
      <p:sp>
        <p:nvSpPr>
          <p:cNvPr id="31" name="Text 28"/>
          <p:cNvSpPr/>
          <p:nvPr/>
        </p:nvSpPr>
        <p:spPr>
          <a:xfrm>
            <a:off x="849231" y="3941452"/>
            <a:ext cx="3389227" cy="442986"/>
          </a:xfrm>
          <a:prstGeom prst="rect">
            <a:avLst/>
          </a:prstGeom>
          <a:noFill/>
          <a:ln/>
        </p:spPr>
        <p:txBody>
          <a:bodyPr wrap="square" lIns="95250" tIns="95250" rIns="95250" bIns="95250" rtlCol="0" anchor="ctr"/>
          <a:lstStyle/>
          <a:p>
            <a:pPr marL="0" indent="0" algn="ctr">
              <a:lnSpc>
                <a:spcPct val="100000"/>
              </a:lnSpc>
              <a:spcBef>
                <a:spcPts val="375"/>
              </a:spcBef>
              <a:buNone/>
            </a:pPr>
            <a:r>
              <a:rPr lang="en-US" sz="1584" b="1" dirty="0">
                <a:solidFill>
                  <a:srgbClr val="379EFC"/>
                </a:solidFill>
                <a:latin typeface="Noto Sans" pitchFamily="34" charset="0"/>
                <a:ea typeface="Noto Sans" pitchFamily="34" charset="-122"/>
                <a:cs typeface="Noto Sans" pitchFamily="34" charset="-120"/>
              </a:rPr>
              <a:t>Các mức độ nén</a:t>
            </a:r>
            <a:endParaRPr lang="en-US" sz="1440" dirty="0"/>
          </a:p>
        </p:txBody>
      </p:sp>
      <p:sp>
        <p:nvSpPr>
          <p:cNvPr id="32" name="Text 29"/>
          <p:cNvSpPr/>
          <p:nvPr/>
        </p:nvSpPr>
        <p:spPr>
          <a:xfrm>
            <a:off x="5389519" y="1241213"/>
            <a:ext cx="3371299" cy="442986"/>
          </a:xfrm>
          <a:prstGeom prst="rect">
            <a:avLst/>
          </a:prstGeom>
          <a:noFill/>
          <a:ln/>
        </p:spPr>
        <p:txBody>
          <a:bodyPr wrap="square" lIns="95250" tIns="95250" rIns="95250" bIns="95250" rtlCol="0" anchor="ctr"/>
          <a:lstStyle/>
          <a:p>
            <a:pPr marL="0" indent="0" algn="ctr">
              <a:lnSpc>
                <a:spcPct val="100000"/>
              </a:lnSpc>
              <a:spcBef>
                <a:spcPts val="375"/>
              </a:spcBef>
              <a:buNone/>
            </a:pPr>
            <a:r>
              <a:rPr lang="en-US" sz="1584" b="1" dirty="0">
                <a:solidFill>
                  <a:srgbClr val="2B76FD"/>
                </a:solidFill>
                <a:latin typeface="Noto Sans" pitchFamily="34" charset="0"/>
                <a:ea typeface="Noto Sans" pitchFamily="34" charset="-122"/>
                <a:cs typeface="Noto Sans" pitchFamily="34" charset="-120"/>
              </a:rPr>
              <a:t>Tìm kiếm không vét cạn</a:t>
            </a:r>
            <a:endParaRPr lang="en-US" sz="1440" dirty="0"/>
          </a:p>
        </p:txBody>
      </p:sp>
      <p:sp>
        <p:nvSpPr>
          <p:cNvPr id="33" name="Text 30"/>
          <p:cNvSpPr/>
          <p:nvPr/>
        </p:nvSpPr>
        <p:spPr>
          <a:xfrm>
            <a:off x="5389519" y="2126299"/>
            <a:ext cx="3389227" cy="442986"/>
          </a:xfrm>
          <a:prstGeom prst="rect">
            <a:avLst/>
          </a:prstGeom>
          <a:noFill/>
          <a:ln/>
        </p:spPr>
        <p:txBody>
          <a:bodyPr wrap="square" lIns="95250" tIns="95250" rIns="95250" bIns="95250" rtlCol="0" anchor="ctr"/>
          <a:lstStyle/>
          <a:p>
            <a:pPr marL="0" indent="0" algn="ctr">
              <a:lnSpc>
                <a:spcPct val="100000"/>
              </a:lnSpc>
              <a:spcBef>
                <a:spcPts val="375"/>
              </a:spcBef>
              <a:buNone/>
            </a:pPr>
            <a:r>
              <a:rPr lang="en-US" sz="1584" b="1" dirty="0">
                <a:solidFill>
                  <a:srgbClr val="379EFC"/>
                </a:solidFill>
                <a:latin typeface="Noto Sans" pitchFamily="34" charset="0"/>
                <a:ea typeface="Noto Sans" pitchFamily="34" charset="-122"/>
                <a:cs typeface="Noto Sans" pitchFamily="34" charset="-120"/>
              </a:rPr>
              <a:t>Các thao tác cơ sở dữ liệu</a:t>
            </a:r>
            <a:endParaRPr lang="en-US" sz="1440" dirty="0"/>
          </a:p>
        </p:txBody>
      </p:sp>
      <p:sp>
        <p:nvSpPr>
          <p:cNvPr id="34" name="Text 31"/>
          <p:cNvSpPr/>
          <p:nvPr/>
        </p:nvSpPr>
        <p:spPr>
          <a:xfrm>
            <a:off x="5389519" y="3013901"/>
            <a:ext cx="3371456" cy="442986"/>
          </a:xfrm>
          <a:prstGeom prst="rect">
            <a:avLst/>
          </a:prstGeom>
          <a:noFill/>
          <a:ln/>
        </p:spPr>
        <p:txBody>
          <a:bodyPr wrap="square" lIns="95250" tIns="95250" rIns="95250" bIns="95250" rtlCol="0" anchor="ctr"/>
          <a:lstStyle/>
          <a:p>
            <a:pPr marL="0" indent="0" algn="ctr">
              <a:lnSpc>
                <a:spcPct val="100000"/>
              </a:lnSpc>
              <a:spcBef>
                <a:spcPts val="375"/>
              </a:spcBef>
              <a:buNone/>
            </a:pPr>
            <a:r>
              <a:rPr lang="en-US" sz="1584" b="1" dirty="0">
                <a:solidFill>
                  <a:srgbClr val="2B76FD"/>
                </a:solidFill>
                <a:latin typeface="Noto Sans" pitchFamily="34" charset="0"/>
                <a:ea typeface="Noto Sans" pitchFamily="34" charset="-122"/>
                <a:cs typeface="Noto Sans" pitchFamily="34" charset="-120"/>
              </a:rPr>
              <a:t>Ứng dụng của FAISS</a:t>
            </a:r>
            <a:endParaRPr lang="en-US" sz="1440" dirty="0"/>
          </a:p>
        </p:txBody>
      </p:sp>
      <p:sp>
        <p:nvSpPr>
          <p:cNvPr id="35" name="Text 32"/>
          <p:cNvSpPr/>
          <p:nvPr/>
        </p:nvSpPr>
        <p:spPr>
          <a:xfrm>
            <a:off x="5389519" y="3927620"/>
            <a:ext cx="3389227" cy="442986"/>
          </a:xfrm>
          <a:prstGeom prst="rect">
            <a:avLst/>
          </a:prstGeom>
          <a:noFill/>
          <a:ln/>
        </p:spPr>
        <p:txBody>
          <a:bodyPr wrap="square" lIns="95250" tIns="95250" rIns="95250" bIns="95250" rtlCol="0" anchor="ctr"/>
          <a:lstStyle/>
          <a:p>
            <a:pPr marL="0" indent="0" algn="ctr">
              <a:lnSpc>
                <a:spcPct val="100000"/>
              </a:lnSpc>
              <a:spcBef>
                <a:spcPts val="375"/>
              </a:spcBef>
              <a:buNone/>
            </a:pPr>
            <a:r>
              <a:rPr lang="en-US" sz="1584" b="1" dirty="0">
                <a:solidFill>
                  <a:srgbClr val="379EFC"/>
                </a:solidFill>
                <a:latin typeface="Noto Sans" pitchFamily="34" charset="0"/>
                <a:ea typeface="Noto Sans" pitchFamily="34" charset="-122"/>
                <a:cs typeface="Noto Sans" pitchFamily="34" charset="-120"/>
              </a:rPr>
              <a:t>Kết luận</a:t>
            </a:r>
            <a:endParaRPr lang="en-US" sz="1440" dirty="0"/>
          </a:p>
        </p:txBody>
      </p:sp>
      <p:sp>
        <p:nvSpPr>
          <p:cNvPr id="36" name="Shape 33"/>
          <p:cNvSpPr/>
          <p:nvPr/>
        </p:nvSpPr>
        <p:spPr>
          <a:xfrm>
            <a:off x="931264" y="505799"/>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2B76FD"/>
          </a:solidFill>
          <a:ln/>
        </p:spPr>
        <p:txBody>
          <a:bodyPr/>
          <a:lstStyle/>
          <a:p>
            <a:endParaRPr lang="en-US"/>
          </a:p>
        </p:txBody>
      </p:sp>
      <p:sp>
        <p:nvSpPr>
          <p:cNvPr id="37" name="Shape 34"/>
          <p:cNvSpPr/>
          <p:nvPr/>
        </p:nvSpPr>
        <p:spPr>
          <a:xfrm>
            <a:off x="1196440" y="505799"/>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90CF5B"/>
          </a:solidFill>
          <a:ln/>
        </p:spPr>
        <p:txBody>
          <a:bodyPr/>
          <a:lstStyle/>
          <a:p>
            <a:endParaRPr lang="en-US"/>
          </a:p>
        </p:txBody>
      </p:sp>
      <p:sp>
        <p:nvSpPr>
          <p:cNvPr id="38" name="Shape 35"/>
          <p:cNvSpPr/>
          <p:nvPr/>
        </p:nvSpPr>
        <p:spPr>
          <a:xfrm>
            <a:off x="1461616" y="505799"/>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C12A"/>
          </a:solidFill>
          <a:ln/>
        </p:spPr>
        <p:txBody>
          <a:bodyPr/>
          <a:lstStyle/>
          <a:p>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627121" y="1078313"/>
            <a:ext cx="2140946" cy="1719072"/>
          </a:xfrm>
          <a:prstGeom prst="rect">
            <a:avLst/>
          </a:prstGeom>
          <a:noFill/>
          <a:ln/>
        </p:spPr>
        <p:txBody>
          <a:bodyPr wrap="square" lIns="95250" tIns="95250" rIns="95250" bIns="95250" rtlCol="0" anchor="t">
            <a:spAutoFit/>
          </a:bodyPr>
          <a:lstStyle/>
          <a:p>
            <a:pPr marL="0" indent="0" algn="ctr">
              <a:lnSpc>
                <a:spcPct val="112500"/>
              </a:lnSpc>
              <a:spcBef>
                <a:spcPts val="375"/>
              </a:spcBef>
              <a:buNone/>
            </a:pPr>
            <a:r>
              <a:rPr lang="en-US" sz="8064" b="1" dirty="0">
                <a:solidFill>
                  <a:srgbClr val="193AB9">
                    <a:alpha val="60000"/>
                  </a:srgbClr>
                </a:solidFill>
                <a:latin typeface="Noto Sans" pitchFamily="34" charset="0"/>
                <a:ea typeface="Noto Sans" pitchFamily="34" charset="-122"/>
                <a:cs typeface="Noto Sans" pitchFamily="34" charset="-120"/>
              </a:rPr>
              <a:t>01</a:t>
            </a:r>
            <a:endParaRPr lang="en-US" sz="1440" dirty="0"/>
          </a:p>
        </p:txBody>
      </p:sp>
      <p:sp>
        <p:nvSpPr>
          <p:cNvPr id="3" name="Text 1"/>
          <p:cNvSpPr/>
          <p:nvPr/>
        </p:nvSpPr>
        <p:spPr>
          <a:xfrm>
            <a:off x="3979644" y="2499639"/>
            <a:ext cx="4294798" cy="1453896"/>
          </a:xfrm>
          <a:prstGeom prst="rect">
            <a:avLst/>
          </a:prstGeom>
          <a:noFill/>
          <a:ln/>
        </p:spPr>
        <p:txBody>
          <a:bodyPr wrap="square" lIns="95250" tIns="95250" rIns="95250" bIns="95250" rtlCol="0" anchor="t">
            <a:spAutoFit/>
          </a:bodyPr>
          <a:lstStyle/>
          <a:p>
            <a:pPr marL="0" indent="0" algn="r">
              <a:lnSpc>
                <a:spcPct val="100800"/>
              </a:lnSpc>
              <a:spcBef>
                <a:spcPts val="375"/>
              </a:spcBef>
              <a:buNone/>
            </a:pPr>
            <a:r>
              <a:rPr lang="en-US" sz="3456" b="1" dirty="0">
                <a:solidFill>
                  <a:srgbClr val="2B76FD"/>
                </a:solidFill>
                <a:latin typeface="Noto Sans" pitchFamily="34" charset="0"/>
                <a:ea typeface="Noto Sans" pitchFamily="34" charset="-122"/>
                <a:cs typeface="Noto Sans" pitchFamily="34" charset="-120"/>
              </a:rPr>
              <a:t>GIỚI THIỆU</a:t>
            </a:r>
            <a:endParaRPr lang="en-US" sz="1440" dirty="0"/>
          </a:p>
          <a:p>
            <a:pPr marL="0" indent="0" algn="r">
              <a:lnSpc>
                <a:spcPct val="100800"/>
              </a:lnSpc>
              <a:spcBef>
                <a:spcPts val="375"/>
              </a:spcBef>
              <a:buNone/>
            </a:pPr>
            <a:r>
              <a:rPr lang="en-US" sz="3456" b="1" dirty="0">
                <a:solidFill>
                  <a:srgbClr val="2B76FD"/>
                </a:solidFill>
                <a:latin typeface="Noto Sans" pitchFamily="34" charset="0"/>
                <a:ea typeface="Noto Sans" pitchFamily="34" charset="-122"/>
                <a:cs typeface="Noto Sans" pitchFamily="34" charset="-120"/>
              </a:rPr>
              <a:t>THƯ VIỆN FAISS</a:t>
            </a:r>
            <a:endParaRPr lang="en-US" sz="144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C6936C0-C047-498F-8B9C-267D6BB797EB}"/>
              </a:ext>
            </a:extLst>
          </p:cNvPr>
          <p:cNvPicPr>
            <a:picLocks noChangeAspect="1"/>
          </p:cNvPicPr>
          <p:nvPr/>
        </p:nvPicPr>
        <p:blipFill rotWithShape="1">
          <a:blip r:embed="rId4"/>
          <a:srcRect l="47868"/>
          <a:stretch/>
        </p:blipFill>
        <p:spPr>
          <a:xfrm>
            <a:off x="6227237" y="1301737"/>
            <a:ext cx="2514427" cy="3038038"/>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Text 0"/>
          <p:cNvSpPr/>
          <p:nvPr/>
        </p:nvSpPr>
        <p:spPr>
          <a:xfrm>
            <a:off x="714744" y="1014487"/>
            <a:ext cx="4404040" cy="731520"/>
          </a:xfrm>
          <a:prstGeom prst="rect">
            <a:avLst/>
          </a:prstGeom>
          <a:noFill/>
          <a:ln/>
        </p:spPr>
        <p:txBody>
          <a:bodyPr wrap="square" lIns="95250" tIns="95250" rIns="95250" bIns="95250" rtlCol="0" anchor="t">
            <a:spAutoFit/>
          </a:bodyPr>
          <a:lstStyle/>
          <a:p>
            <a:pPr marL="0" indent="0">
              <a:lnSpc>
                <a:spcPct val="112500"/>
              </a:lnSpc>
              <a:spcBef>
                <a:spcPts val="375"/>
              </a:spcBef>
              <a:buNone/>
            </a:pPr>
            <a:r>
              <a:rPr lang="en-US" sz="2880" b="1" dirty="0">
                <a:solidFill>
                  <a:srgbClr val="193AB9"/>
                </a:solidFill>
                <a:latin typeface="Noto Sans" pitchFamily="34" charset="0"/>
                <a:ea typeface="Noto Sans" pitchFamily="34" charset="-122"/>
                <a:cs typeface="Noto Sans" pitchFamily="34" charset="-120"/>
              </a:rPr>
              <a:t>Tổng quan về FAISS</a:t>
            </a:r>
            <a:endParaRPr lang="en-US" sz="1440" dirty="0"/>
          </a:p>
        </p:txBody>
      </p:sp>
      <p:sp>
        <p:nvSpPr>
          <p:cNvPr id="4" name="Shape 1"/>
          <p:cNvSpPr/>
          <p:nvPr/>
        </p:nvSpPr>
        <p:spPr>
          <a:xfrm>
            <a:off x="759641" y="1837709"/>
            <a:ext cx="5304660" cy="2406177"/>
          </a:xfrm>
          <a:custGeom>
            <a:avLst/>
            <a:gdLst/>
            <a:ahLst/>
            <a:cxnLst/>
            <a:rect l="l" t="t" r="r" b="b"/>
            <a:pathLst>
              <a:path w="5299034" h="2406177">
                <a:moveTo>
                  <a:pt x="300772" y="0"/>
                </a:moveTo>
                <a:moveTo>
                  <a:pt x="300772" y="0"/>
                </a:moveTo>
                <a:lnTo>
                  <a:pt x="4998262" y="0"/>
                </a:lnTo>
                <a:quadBezTo>
                  <a:pt x="5299034" y="0"/>
                  <a:pt x="5299034" y="300772"/>
                </a:quadBezTo>
                <a:lnTo>
                  <a:pt x="5299034" y="2105405"/>
                </a:lnTo>
                <a:quadBezTo>
                  <a:pt x="5299034" y="2406177"/>
                  <a:pt x="4998262" y="2406177"/>
                </a:quadBezTo>
                <a:lnTo>
                  <a:pt x="300772" y="2406177"/>
                </a:lnTo>
                <a:quadBezTo>
                  <a:pt x="0" y="2406177"/>
                  <a:pt x="0" y="2105405"/>
                </a:quadBezTo>
                <a:lnTo>
                  <a:pt x="0" y="300772"/>
                </a:lnTo>
                <a:quadBezTo>
                  <a:pt x="0" y="0"/>
                  <a:pt x="300772" y="0"/>
                </a:quadBezTo>
                <a:close/>
              </a:path>
            </a:pathLst>
          </a:custGeom>
          <a:solidFill>
            <a:srgbClr val="2B76FD"/>
          </a:solidFill>
          <a:ln w="19050">
            <a:solidFill>
              <a:srgbClr val="2B76FD"/>
            </a:solidFill>
            <a:prstDash val="solid"/>
          </a:ln>
        </p:spPr>
        <p:txBody>
          <a:bodyPr/>
          <a:lstStyle/>
          <a:p>
            <a:endParaRPr lang="en-US"/>
          </a:p>
        </p:txBody>
      </p:sp>
      <p:pic>
        <p:nvPicPr>
          <p:cNvPr id="5" name="Image 1" descr="preencoded.png"/>
          <p:cNvPicPr>
            <a:picLocks noChangeAspect="1"/>
          </p:cNvPicPr>
          <p:nvPr/>
        </p:nvPicPr>
        <p:blipFill>
          <a:blip r:embed="rId5"/>
          <a:stretch>
            <a:fillRect/>
          </a:stretch>
        </p:blipFill>
        <p:spPr>
          <a:xfrm>
            <a:off x="1277476" y="2218095"/>
            <a:ext cx="688497" cy="602661"/>
          </a:xfrm>
          <a:prstGeom prst="rect">
            <a:avLst/>
          </a:prstGeom>
        </p:spPr>
      </p:pic>
      <p:sp>
        <p:nvSpPr>
          <p:cNvPr id="6" name="Shape 2"/>
          <p:cNvSpPr/>
          <p:nvPr/>
        </p:nvSpPr>
        <p:spPr>
          <a:xfrm>
            <a:off x="319901" y="3806648"/>
            <a:ext cx="3464956" cy="267109"/>
          </a:xfrm>
          <a:custGeom>
            <a:avLst/>
            <a:gdLst/>
            <a:ahLst/>
            <a:cxnLst/>
            <a:rect l="l" t="t" r="r" b="b"/>
            <a:pathLst>
              <a:path w="3464956" h="267109">
                <a:moveTo>
                  <a:pt x="0" y="0"/>
                </a:moveTo>
                <a:moveTo>
                  <a:pt x="0" y="0"/>
                </a:moveTo>
                <a:lnTo>
                  <a:pt x="3464956" y="0"/>
                </a:lnTo>
                <a:lnTo>
                  <a:pt x="3464956" y="267109"/>
                </a:lnTo>
                <a:lnTo>
                  <a:pt x="0" y="267109"/>
                </a:lnTo>
                <a:close/>
              </a:path>
            </a:pathLst>
          </a:custGeom>
          <a:solidFill>
            <a:srgbClr val="379EFC"/>
          </a:solidFill>
          <a:ln/>
        </p:spPr>
        <p:txBody>
          <a:bodyPr/>
          <a:lstStyle/>
          <a:p>
            <a:endParaRPr lang="en-US"/>
          </a:p>
        </p:txBody>
      </p:sp>
      <p:sp>
        <p:nvSpPr>
          <p:cNvPr id="7" name="Text 3"/>
          <p:cNvSpPr/>
          <p:nvPr/>
        </p:nvSpPr>
        <p:spPr>
          <a:xfrm>
            <a:off x="826800" y="2021114"/>
            <a:ext cx="5051671" cy="932688"/>
          </a:xfrm>
          <a:prstGeom prst="rect">
            <a:avLst/>
          </a:prstGeom>
          <a:noFill/>
          <a:ln/>
        </p:spPr>
        <p:txBody>
          <a:bodyPr wrap="square" lIns="95250" tIns="95250" rIns="95250" bIns="95250" rtlCol="0" anchor="t">
            <a:spAutoFit/>
          </a:bodyPr>
          <a:lstStyle/>
          <a:p>
            <a:pPr marL="0" indent="0" algn="r">
              <a:lnSpc>
                <a:spcPct val="100000"/>
              </a:lnSpc>
              <a:spcBef>
                <a:spcPts val="375"/>
              </a:spcBef>
              <a:buNone/>
            </a:pPr>
            <a:r>
              <a:rPr lang="en-US" sz="1440" b="1" dirty="0">
                <a:solidFill>
                  <a:srgbClr val="FFFFFF"/>
                </a:solidFill>
                <a:latin typeface="Noto Sans" pitchFamily="34" charset="0"/>
                <a:ea typeface="Noto Sans" pitchFamily="34" charset="-122"/>
                <a:cs typeface="Noto Sans" pitchFamily="34" charset="-120"/>
              </a:rPr>
              <a:t>Faiss là thư viện chuyên dụng cho tìm kiếm độ </a:t>
            </a:r>
            <a:endParaRPr lang="en-US" sz="1440" dirty="0"/>
          </a:p>
          <a:p>
            <a:pPr marL="0" indent="0" algn="r">
              <a:lnSpc>
                <a:spcPct val="100000"/>
              </a:lnSpc>
              <a:spcBef>
                <a:spcPts val="375"/>
              </a:spcBef>
              <a:buNone/>
            </a:pPr>
            <a:r>
              <a:rPr lang="en-US" sz="1440" b="1" dirty="0">
                <a:solidFill>
                  <a:srgbClr val="FFFFFF"/>
                </a:solidFill>
                <a:latin typeface="Noto Sans" pitchFamily="34" charset="0"/>
                <a:ea typeface="Noto Sans" pitchFamily="34" charset="-122"/>
                <a:cs typeface="Noto Sans" pitchFamily="34" charset="-120"/>
              </a:rPr>
              <a:t>tương đồng vector (vector similarity search) - </a:t>
            </a:r>
            <a:endParaRPr lang="en-US" sz="1440" dirty="0"/>
          </a:p>
          <a:p>
            <a:pPr marL="0" indent="0" algn="r">
              <a:lnSpc>
                <a:spcPct val="100000"/>
              </a:lnSpc>
              <a:spcBef>
                <a:spcPts val="375"/>
              </a:spcBef>
              <a:buNone/>
            </a:pPr>
            <a:r>
              <a:rPr lang="en-US" sz="1440" b="1" dirty="0">
                <a:solidFill>
                  <a:srgbClr val="FFFFFF"/>
                </a:solidFill>
                <a:latin typeface="Noto Sans" pitchFamily="34" charset="0"/>
                <a:ea typeface="Noto Sans" pitchFamily="34" charset="-122"/>
                <a:cs typeface="Noto Sans" pitchFamily="34" charset="-120"/>
              </a:rPr>
              <a:t>chức năng cốt lõi của cơ sở dữ liệu vector.</a:t>
            </a:r>
            <a:endParaRPr lang="en-US" sz="1440" dirty="0"/>
          </a:p>
        </p:txBody>
      </p:sp>
      <p:sp>
        <p:nvSpPr>
          <p:cNvPr id="8" name="Text 4"/>
          <p:cNvSpPr/>
          <p:nvPr/>
        </p:nvSpPr>
        <p:spPr>
          <a:xfrm>
            <a:off x="928711" y="2888642"/>
            <a:ext cx="4847850" cy="841248"/>
          </a:xfrm>
          <a:prstGeom prst="rect">
            <a:avLst/>
          </a:prstGeom>
          <a:noFill/>
          <a:ln/>
        </p:spPr>
        <p:txBody>
          <a:bodyPr wrap="square" lIns="95250" tIns="95250" rIns="95250" bIns="95250" rtlCol="0" anchor="t">
            <a:spAutoFit/>
          </a:bodyPr>
          <a:lstStyle/>
          <a:p>
            <a:pPr marL="0" indent="0" algn="just">
              <a:lnSpc>
                <a:spcPct val="100000"/>
              </a:lnSpc>
              <a:spcBef>
                <a:spcPts val="375"/>
              </a:spcBef>
              <a:buNone/>
            </a:pPr>
            <a:r>
              <a:rPr lang="en-US" sz="1296" dirty="0">
                <a:solidFill>
                  <a:srgbClr val="FFFFFF"/>
                </a:solidFill>
                <a:latin typeface="Noto Sans" pitchFamily="34" charset="0"/>
                <a:ea typeface="Noto Sans" pitchFamily="34" charset="-122"/>
                <a:cs typeface="Noto Sans" pitchFamily="34" charset="-120"/>
              </a:rPr>
              <a:t>Các cơ sở dữ liệu vector quản lý các tập hợp lớn embedding vectors. Khi ứng dụng AI phát triển nhanh, số lượng embedding cần lưu trữ và đánh chỉ mục tăng cao.</a:t>
            </a:r>
            <a:endParaRPr lang="en-US" sz="144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390100" y="663766"/>
            <a:ext cx="9473" cy="4183979"/>
          </a:xfrm>
          <a:custGeom>
            <a:avLst/>
            <a:gdLst/>
            <a:ahLst/>
            <a:cxnLst/>
            <a:rect l="l" t="t" r="r" b="b"/>
            <a:pathLst>
              <a:path w="9473" h="4183979">
                <a:moveTo>
                  <a:pt x="9473" y="0"/>
                </a:moveTo>
                <a:moveTo>
                  <a:pt x="9473" y="0"/>
                </a:moveTo>
                <a:lnTo>
                  <a:pt x="0" y="4183979"/>
                </a:lnTo>
              </a:path>
            </a:pathLst>
          </a:custGeom>
          <a:noFill/>
          <a:ln w="19736">
            <a:solidFill>
              <a:srgbClr val="2B76FD"/>
            </a:solidFill>
            <a:prstDash val="solid"/>
            <a:headEnd type="none"/>
            <a:tailEnd type="none"/>
          </a:ln>
        </p:spPr>
        <p:txBody>
          <a:bodyPr/>
          <a:lstStyle/>
          <a:p>
            <a:endParaRPr lang="en-US"/>
          </a:p>
        </p:txBody>
      </p:sp>
      <p:sp>
        <p:nvSpPr>
          <p:cNvPr id="3" name="Shape 1"/>
          <p:cNvSpPr/>
          <p:nvPr/>
        </p:nvSpPr>
        <p:spPr>
          <a:xfrm>
            <a:off x="304842" y="474304"/>
            <a:ext cx="189462" cy="189462"/>
          </a:xfrm>
          <a:custGeom>
            <a:avLst/>
            <a:gdLst/>
            <a:ahLst/>
            <a:cxnLst/>
            <a:rect l="l" t="t" r="r" b="b"/>
            <a:pathLst>
              <a:path w="189462" h="189462">
                <a:moveTo>
                  <a:pt x="94731" y="0"/>
                </a:moveTo>
                <a:moveTo>
                  <a:pt x="94731" y="0"/>
                </a:moveTo>
                <a:cubicBezTo>
                  <a:pt x="147014" y="0"/>
                  <a:pt x="189462" y="42448"/>
                  <a:pt x="189462" y="94731"/>
                </a:cubicBezTo>
                <a:cubicBezTo>
                  <a:pt x="189462" y="147014"/>
                  <a:pt x="147014" y="189462"/>
                  <a:pt x="94731" y="189462"/>
                </a:cubicBezTo>
                <a:cubicBezTo>
                  <a:pt x="42448" y="189462"/>
                  <a:pt x="0" y="147014"/>
                  <a:pt x="0" y="94731"/>
                </a:cubicBezTo>
                <a:cubicBezTo>
                  <a:pt x="0" y="42448"/>
                  <a:pt x="42448" y="0"/>
                  <a:pt x="94731" y="0"/>
                </a:cubicBezTo>
                <a:close/>
              </a:path>
            </a:pathLst>
          </a:custGeom>
          <a:solidFill>
            <a:srgbClr val="2B76FD"/>
          </a:solidFill>
          <a:ln/>
        </p:spPr>
        <p:txBody>
          <a:bodyPr/>
          <a:lstStyle/>
          <a:p>
            <a:endParaRPr lang="en-US"/>
          </a:p>
        </p:txBody>
      </p:sp>
      <p:sp>
        <p:nvSpPr>
          <p:cNvPr id="4" name="Shape 2"/>
          <p:cNvSpPr/>
          <p:nvPr/>
        </p:nvSpPr>
        <p:spPr>
          <a:xfrm>
            <a:off x="2504386" y="645478"/>
            <a:ext cx="0" cy="4202267"/>
          </a:xfrm>
          <a:custGeom>
            <a:avLst/>
            <a:gdLst/>
            <a:ahLst/>
            <a:cxnLst/>
            <a:rect l="l" t="t" r="r" b="b"/>
            <a:pathLst>
              <a:path h="4202267">
                <a:moveTo>
                  <a:pt x="0" y="0"/>
                </a:moveTo>
                <a:moveTo>
                  <a:pt x="0" y="0"/>
                </a:moveTo>
                <a:lnTo>
                  <a:pt x="0" y="4202267"/>
                </a:lnTo>
              </a:path>
            </a:pathLst>
          </a:custGeom>
          <a:noFill/>
          <a:ln w="19736">
            <a:solidFill>
              <a:srgbClr val="90CF5B"/>
            </a:solidFill>
            <a:prstDash val="solid"/>
            <a:headEnd type="none"/>
            <a:tailEnd type="none"/>
          </a:ln>
        </p:spPr>
        <p:txBody>
          <a:bodyPr/>
          <a:lstStyle/>
          <a:p>
            <a:endParaRPr lang="en-US"/>
          </a:p>
        </p:txBody>
      </p:sp>
      <p:sp>
        <p:nvSpPr>
          <p:cNvPr id="5" name="Shape 3"/>
          <p:cNvSpPr/>
          <p:nvPr/>
        </p:nvSpPr>
        <p:spPr>
          <a:xfrm>
            <a:off x="2409655" y="474304"/>
            <a:ext cx="189462" cy="189462"/>
          </a:xfrm>
          <a:custGeom>
            <a:avLst/>
            <a:gdLst/>
            <a:ahLst/>
            <a:cxnLst/>
            <a:rect l="l" t="t" r="r" b="b"/>
            <a:pathLst>
              <a:path w="189462" h="189462">
                <a:moveTo>
                  <a:pt x="94731" y="0"/>
                </a:moveTo>
                <a:moveTo>
                  <a:pt x="94731" y="0"/>
                </a:moveTo>
                <a:cubicBezTo>
                  <a:pt x="147014" y="0"/>
                  <a:pt x="189462" y="42448"/>
                  <a:pt x="189462" y="94731"/>
                </a:cubicBezTo>
                <a:cubicBezTo>
                  <a:pt x="189462" y="147014"/>
                  <a:pt x="147014" y="189462"/>
                  <a:pt x="94731" y="189462"/>
                </a:cubicBezTo>
                <a:cubicBezTo>
                  <a:pt x="42448" y="189462"/>
                  <a:pt x="0" y="147014"/>
                  <a:pt x="0" y="94731"/>
                </a:cubicBezTo>
                <a:cubicBezTo>
                  <a:pt x="0" y="42448"/>
                  <a:pt x="42448" y="0"/>
                  <a:pt x="94731" y="0"/>
                </a:cubicBezTo>
                <a:close/>
              </a:path>
            </a:pathLst>
          </a:custGeom>
          <a:solidFill>
            <a:srgbClr val="90CF5B"/>
          </a:solidFill>
          <a:ln/>
        </p:spPr>
        <p:txBody>
          <a:bodyPr/>
          <a:lstStyle/>
          <a:p>
            <a:endParaRPr lang="en-US"/>
          </a:p>
        </p:txBody>
      </p:sp>
      <p:sp>
        <p:nvSpPr>
          <p:cNvPr id="6" name="Shape 4"/>
          <p:cNvSpPr/>
          <p:nvPr/>
        </p:nvSpPr>
        <p:spPr>
          <a:xfrm>
            <a:off x="4661050" y="663766"/>
            <a:ext cx="0" cy="4183979"/>
          </a:xfrm>
          <a:custGeom>
            <a:avLst/>
            <a:gdLst/>
            <a:ahLst/>
            <a:cxnLst/>
            <a:rect l="l" t="t" r="r" b="b"/>
            <a:pathLst>
              <a:path h="4183979">
                <a:moveTo>
                  <a:pt x="0" y="0"/>
                </a:moveTo>
                <a:moveTo>
                  <a:pt x="0" y="0"/>
                </a:moveTo>
                <a:lnTo>
                  <a:pt x="0" y="4183979"/>
                </a:lnTo>
              </a:path>
            </a:pathLst>
          </a:custGeom>
          <a:noFill/>
          <a:ln w="19736">
            <a:solidFill>
              <a:srgbClr val="FFC12A"/>
            </a:solidFill>
            <a:prstDash val="solid"/>
            <a:headEnd type="none"/>
            <a:tailEnd type="none"/>
          </a:ln>
        </p:spPr>
        <p:txBody>
          <a:bodyPr/>
          <a:lstStyle/>
          <a:p>
            <a:endParaRPr lang="en-US"/>
          </a:p>
        </p:txBody>
      </p:sp>
      <p:sp>
        <p:nvSpPr>
          <p:cNvPr id="7" name="Shape 5"/>
          <p:cNvSpPr/>
          <p:nvPr/>
        </p:nvSpPr>
        <p:spPr>
          <a:xfrm>
            <a:off x="4566319" y="465160"/>
            <a:ext cx="189462" cy="189462"/>
          </a:xfrm>
          <a:custGeom>
            <a:avLst/>
            <a:gdLst/>
            <a:ahLst/>
            <a:cxnLst/>
            <a:rect l="l" t="t" r="r" b="b"/>
            <a:pathLst>
              <a:path w="189462" h="189462">
                <a:moveTo>
                  <a:pt x="94731" y="0"/>
                </a:moveTo>
                <a:moveTo>
                  <a:pt x="94731" y="0"/>
                </a:moveTo>
                <a:cubicBezTo>
                  <a:pt x="147014" y="0"/>
                  <a:pt x="189462" y="42448"/>
                  <a:pt x="189462" y="94731"/>
                </a:cubicBezTo>
                <a:cubicBezTo>
                  <a:pt x="189462" y="147014"/>
                  <a:pt x="147014" y="189462"/>
                  <a:pt x="94731" y="189462"/>
                </a:cubicBezTo>
                <a:cubicBezTo>
                  <a:pt x="42448" y="189462"/>
                  <a:pt x="0" y="147014"/>
                  <a:pt x="0" y="94731"/>
                </a:cubicBezTo>
                <a:cubicBezTo>
                  <a:pt x="0" y="42448"/>
                  <a:pt x="42448" y="0"/>
                  <a:pt x="94731" y="0"/>
                </a:cubicBezTo>
                <a:close/>
              </a:path>
            </a:pathLst>
          </a:custGeom>
          <a:solidFill>
            <a:srgbClr val="FFC12A"/>
          </a:solidFill>
          <a:ln/>
        </p:spPr>
        <p:txBody>
          <a:bodyPr/>
          <a:lstStyle/>
          <a:p>
            <a:endParaRPr lang="en-US"/>
          </a:p>
        </p:txBody>
      </p:sp>
      <p:sp>
        <p:nvSpPr>
          <p:cNvPr id="8" name="Shape 6"/>
          <p:cNvSpPr/>
          <p:nvPr/>
        </p:nvSpPr>
        <p:spPr>
          <a:xfrm>
            <a:off x="6828200" y="645478"/>
            <a:ext cx="0" cy="4202267"/>
          </a:xfrm>
          <a:custGeom>
            <a:avLst/>
            <a:gdLst/>
            <a:ahLst/>
            <a:cxnLst/>
            <a:rect l="l" t="t" r="r" b="b"/>
            <a:pathLst>
              <a:path h="4202267">
                <a:moveTo>
                  <a:pt x="0" y="0"/>
                </a:moveTo>
                <a:moveTo>
                  <a:pt x="0" y="0"/>
                </a:moveTo>
                <a:lnTo>
                  <a:pt x="0" y="4202267"/>
                </a:lnTo>
              </a:path>
            </a:pathLst>
          </a:custGeom>
          <a:noFill/>
          <a:ln w="19736">
            <a:solidFill>
              <a:srgbClr val="F8800F"/>
            </a:solidFill>
            <a:prstDash val="solid"/>
            <a:headEnd type="none"/>
            <a:tailEnd type="none"/>
          </a:ln>
        </p:spPr>
        <p:txBody>
          <a:bodyPr/>
          <a:lstStyle/>
          <a:p>
            <a:endParaRPr lang="en-US"/>
          </a:p>
        </p:txBody>
      </p:sp>
      <p:sp>
        <p:nvSpPr>
          <p:cNvPr id="9" name="Shape 7"/>
          <p:cNvSpPr/>
          <p:nvPr/>
        </p:nvSpPr>
        <p:spPr>
          <a:xfrm>
            <a:off x="6733469" y="465160"/>
            <a:ext cx="189462" cy="189462"/>
          </a:xfrm>
          <a:custGeom>
            <a:avLst/>
            <a:gdLst/>
            <a:ahLst/>
            <a:cxnLst/>
            <a:rect l="l" t="t" r="r" b="b"/>
            <a:pathLst>
              <a:path w="189462" h="189462">
                <a:moveTo>
                  <a:pt x="94731" y="0"/>
                </a:moveTo>
                <a:moveTo>
                  <a:pt x="94731" y="0"/>
                </a:moveTo>
                <a:cubicBezTo>
                  <a:pt x="147014" y="0"/>
                  <a:pt x="189462" y="42448"/>
                  <a:pt x="189462" y="94731"/>
                </a:cubicBezTo>
                <a:cubicBezTo>
                  <a:pt x="189462" y="147014"/>
                  <a:pt x="147014" y="189462"/>
                  <a:pt x="94731" y="189462"/>
                </a:cubicBezTo>
                <a:cubicBezTo>
                  <a:pt x="42448" y="189462"/>
                  <a:pt x="0" y="147014"/>
                  <a:pt x="0" y="94731"/>
                </a:cubicBezTo>
                <a:cubicBezTo>
                  <a:pt x="0" y="42448"/>
                  <a:pt x="42448" y="0"/>
                  <a:pt x="94731" y="0"/>
                </a:cubicBezTo>
                <a:close/>
              </a:path>
            </a:pathLst>
          </a:custGeom>
          <a:solidFill>
            <a:srgbClr val="F8800F"/>
          </a:solidFill>
          <a:ln/>
        </p:spPr>
        <p:txBody>
          <a:bodyPr/>
          <a:lstStyle/>
          <a:p>
            <a:endParaRPr lang="en-US"/>
          </a:p>
        </p:txBody>
      </p:sp>
      <p:sp>
        <p:nvSpPr>
          <p:cNvPr id="10" name="Text 8"/>
          <p:cNvSpPr/>
          <p:nvPr/>
        </p:nvSpPr>
        <p:spPr>
          <a:xfrm>
            <a:off x="399573" y="785540"/>
            <a:ext cx="1953132" cy="422585"/>
          </a:xfrm>
          <a:prstGeom prst="rect">
            <a:avLst/>
          </a:prstGeom>
          <a:noFill/>
          <a:ln/>
        </p:spPr>
        <p:txBody>
          <a:bodyPr wrap="square" lIns="95250" tIns="95250" rIns="95250" bIns="95250" rtlCol="0" anchor="ctr"/>
          <a:lstStyle/>
          <a:p>
            <a:pPr marL="0" indent="0">
              <a:lnSpc>
                <a:spcPct val="100000"/>
              </a:lnSpc>
              <a:spcBef>
                <a:spcPts val="375"/>
              </a:spcBef>
              <a:buNone/>
            </a:pPr>
            <a:r>
              <a:rPr lang="en-US" sz="1440" b="1" dirty="0">
                <a:solidFill>
                  <a:srgbClr val="2B76FD"/>
                </a:solidFill>
                <a:latin typeface="Noto Sans" pitchFamily="34" charset="0"/>
                <a:ea typeface="Noto Sans" pitchFamily="34" charset="-122"/>
                <a:cs typeface="Noto Sans" pitchFamily="34" charset="-120"/>
              </a:rPr>
              <a:t>Bối cảnh và vai trò của Embedding</a:t>
            </a:r>
            <a:endParaRPr lang="en-US" sz="1440" dirty="0"/>
          </a:p>
        </p:txBody>
      </p:sp>
      <p:sp>
        <p:nvSpPr>
          <p:cNvPr id="11" name="Text 9"/>
          <p:cNvSpPr/>
          <p:nvPr/>
        </p:nvSpPr>
        <p:spPr>
          <a:xfrm>
            <a:off x="494304" y="1242740"/>
            <a:ext cx="1953132" cy="3145536"/>
          </a:xfrm>
          <a:prstGeom prst="rect">
            <a:avLst/>
          </a:prstGeom>
          <a:noFill/>
          <a:ln/>
        </p:spPr>
        <p:txBody>
          <a:bodyPr wrap="square" lIns="95250" tIns="95250" rIns="95250" bIns="95250" rtlCol="0" anchor="t">
            <a:spAutoFit/>
          </a:bodyPr>
          <a:lstStyle/>
          <a:p>
            <a:pPr marL="0" indent="0" algn="just">
              <a:lnSpc>
                <a:spcPct val="100000"/>
              </a:lnSpc>
              <a:spcBef>
                <a:spcPts val="375"/>
              </a:spcBef>
              <a:buNone/>
            </a:pPr>
            <a:r>
              <a:rPr lang="en-US" sz="1296" dirty="0">
                <a:solidFill>
                  <a:srgbClr val="00070F"/>
                </a:solidFill>
                <a:latin typeface="Noto Sans" pitchFamily="34" charset="0"/>
                <a:ea typeface="Noto Sans" pitchFamily="34" charset="-122"/>
                <a:cs typeface="Noto Sans" pitchFamily="34" charset="-120"/>
              </a:rPr>
              <a:t>Là dạng biểu diễn dạng vector được tạo bởi mạng nơ-ron, ánh xạ đối tượng dữ liệu vào không gian vector.</a:t>
            </a:r>
            <a:endParaRPr lang="en-US" sz="1440" dirty="0"/>
          </a:p>
          <a:p>
            <a:pPr marL="0" indent="0" algn="just">
              <a:lnSpc>
                <a:spcPct val="100000"/>
              </a:lnSpc>
              <a:spcBef>
                <a:spcPts val="375"/>
              </a:spcBef>
              <a:buNone/>
            </a:pPr>
            <a:r>
              <a:rPr lang="en-US" sz="1296" dirty="0">
                <a:solidFill>
                  <a:srgbClr val="00070F"/>
                </a:solidFill>
                <a:latin typeface="Noto Sans" pitchFamily="34" charset="0"/>
                <a:ea typeface="Noto Sans" pitchFamily="34" charset="-122"/>
                <a:cs typeface="Noto Sans" pitchFamily="34" charset="-120"/>
              </a:rPr>
              <a:t>Embedding được trích xuất từ:</a:t>
            </a:r>
            <a:endParaRPr lang="en-US" sz="1440" dirty="0"/>
          </a:p>
          <a:p>
            <a:pPr marL="205740" indent="-205740" algn="just">
              <a:lnSpc>
                <a:spcPct val="100000"/>
              </a:lnSpc>
              <a:spcBef>
                <a:spcPts val="10"/>
              </a:spcBef>
              <a:buSzPct val="100000"/>
              <a:buChar char="•"/>
            </a:pPr>
            <a:r>
              <a:rPr lang="en-US" sz="1296" dirty="0">
                <a:solidFill>
                  <a:srgbClr val="00070F"/>
                </a:solidFill>
                <a:latin typeface="Noto Sans" pitchFamily="34" charset="0"/>
                <a:ea typeface="Noto Sans" pitchFamily="34" charset="-122"/>
                <a:cs typeface="Noto Sans" pitchFamily="34" charset="-120"/>
              </a:rPr>
              <a:t>Từ ngữ, văn bản</a:t>
            </a:r>
            <a:endParaRPr lang="en-US" sz="1440" dirty="0"/>
          </a:p>
          <a:p>
            <a:pPr marL="205740" indent="-205740" algn="just">
              <a:lnSpc>
                <a:spcPct val="100000"/>
              </a:lnSpc>
              <a:spcBef>
                <a:spcPts val="10"/>
              </a:spcBef>
              <a:buSzPct val="100000"/>
              <a:buChar char="•"/>
            </a:pPr>
            <a:r>
              <a:rPr lang="en-US" sz="1296" dirty="0">
                <a:solidFill>
                  <a:srgbClr val="00070F"/>
                </a:solidFill>
                <a:latin typeface="Noto Sans" pitchFamily="34" charset="0"/>
                <a:ea typeface="Noto Sans" pitchFamily="34" charset="-122"/>
                <a:cs typeface="Noto Sans" pitchFamily="34" charset="-120"/>
              </a:rPr>
              <a:t>Hình ảnh</a:t>
            </a:r>
            <a:endParaRPr lang="en-US" sz="1440" dirty="0"/>
          </a:p>
          <a:p>
            <a:pPr marL="205740" indent="-205740" algn="just">
              <a:lnSpc>
                <a:spcPct val="100000"/>
              </a:lnSpc>
              <a:spcBef>
                <a:spcPts val="10"/>
              </a:spcBef>
              <a:buSzPct val="100000"/>
              <a:buChar char="•"/>
            </a:pPr>
            <a:r>
              <a:rPr lang="en-US" sz="1296" dirty="0">
                <a:solidFill>
                  <a:srgbClr val="00070F"/>
                </a:solidFill>
                <a:latin typeface="Noto Sans" pitchFamily="34" charset="0"/>
                <a:ea typeface="Noto Sans" pitchFamily="34" charset="-122"/>
                <a:cs typeface="Noto Sans" pitchFamily="34" charset="-120"/>
              </a:rPr>
              <a:t>Người dùng và        sản phẩm</a:t>
            </a:r>
            <a:endParaRPr lang="en-US" sz="1440" dirty="0"/>
          </a:p>
          <a:p>
            <a:pPr marL="205740" indent="-205740" algn="just">
              <a:lnSpc>
                <a:spcPct val="100000"/>
              </a:lnSpc>
              <a:spcBef>
                <a:spcPts val="10"/>
              </a:spcBef>
              <a:buSzPct val="100000"/>
              <a:buChar char="•"/>
            </a:pPr>
            <a:r>
              <a:rPr lang="en-US" sz="1296" dirty="0">
                <a:solidFill>
                  <a:srgbClr val="00070F"/>
                </a:solidFill>
                <a:latin typeface="Noto Sans" pitchFamily="34" charset="0"/>
                <a:ea typeface="Noto Sans" pitchFamily="34" charset="-122"/>
                <a:cs typeface="Noto Sans" pitchFamily="34" charset="-120"/>
              </a:rPr>
              <a:t>Văn bản - hình ảnh, văn bản - âm thanh</a:t>
            </a:r>
            <a:endParaRPr lang="en-US" sz="1440" dirty="0"/>
          </a:p>
        </p:txBody>
      </p:sp>
      <p:sp>
        <p:nvSpPr>
          <p:cNvPr id="12" name="Text 10"/>
          <p:cNvSpPr/>
          <p:nvPr/>
        </p:nvSpPr>
        <p:spPr>
          <a:xfrm>
            <a:off x="2504386" y="663766"/>
            <a:ext cx="2294938" cy="422585"/>
          </a:xfrm>
          <a:prstGeom prst="rect">
            <a:avLst/>
          </a:prstGeom>
          <a:noFill/>
          <a:ln/>
        </p:spPr>
        <p:txBody>
          <a:bodyPr wrap="square" lIns="95250" tIns="95250" rIns="95250" bIns="95250" rtlCol="0" anchor="ctr"/>
          <a:lstStyle/>
          <a:p>
            <a:pPr marL="0" indent="0">
              <a:lnSpc>
                <a:spcPct val="100000"/>
              </a:lnSpc>
              <a:spcBef>
                <a:spcPts val="375"/>
              </a:spcBef>
              <a:buNone/>
            </a:pPr>
            <a:r>
              <a:rPr lang="en-US" sz="1440" b="1" dirty="0">
                <a:solidFill>
                  <a:srgbClr val="90CF5B"/>
                </a:solidFill>
                <a:latin typeface="Noto Sans" pitchFamily="34" charset="0"/>
                <a:ea typeface="Noto Sans" pitchFamily="34" charset="-122"/>
                <a:cs typeface="Noto Sans" pitchFamily="34" charset="-120"/>
              </a:rPr>
              <a:t>Hợp đồng Embedding</a:t>
            </a:r>
            <a:endParaRPr lang="en-US" sz="1440" dirty="0"/>
          </a:p>
        </p:txBody>
      </p:sp>
      <p:sp>
        <p:nvSpPr>
          <p:cNvPr id="13" name="Text 11"/>
          <p:cNvSpPr/>
          <p:nvPr/>
        </p:nvSpPr>
        <p:spPr>
          <a:xfrm>
            <a:off x="2599117" y="1242740"/>
            <a:ext cx="1967202" cy="3218688"/>
          </a:xfrm>
          <a:prstGeom prst="rect">
            <a:avLst/>
          </a:prstGeom>
          <a:noFill/>
          <a:ln/>
        </p:spPr>
        <p:txBody>
          <a:bodyPr wrap="square" lIns="95250" tIns="95250" rIns="95250" bIns="95250" rtlCol="0" anchor="t">
            <a:spAutoFit/>
          </a:bodyPr>
          <a:lstStyle/>
          <a:p>
            <a:pPr marL="0" indent="0" algn="just">
              <a:lnSpc>
                <a:spcPct val="100000"/>
              </a:lnSpc>
              <a:spcBef>
                <a:spcPts val="375"/>
              </a:spcBef>
              <a:buNone/>
            </a:pPr>
            <a:r>
              <a:rPr lang="en-US" sz="1296" dirty="0">
                <a:solidFill>
                  <a:srgbClr val="00070F"/>
                </a:solidFill>
                <a:latin typeface="Noto Sans" pitchFamily="34" charset="0"/>
                <a:ea typeface="Noto Sans" pitchFamily="34" charset="-122"/>
                <a:cs typeface="Noto Sans" pitchFamily="34" charset="-120"/>
              </a:rPr>
              <a:t>Embedding và tìm kiếm vector bị ràng buộc bởi “hợp đồng embedding”:</a:t>
            </a:r>
            <a:endParaRPr lang="en-US" sz="1440" dirty="0"/>
          </a:p>
          <a:p>
            <a:pPr marL="205740" indent="-205740" algn="just">
              <a:lnSpc>
                <a:spcPct val="100000"/>
              </a:lnSpc>
              <a:spcBef>
                <a:spcPts val="10"/>
              </a:spcBef>
              <a:buSzPct val="100000"/>
              <a:buChar char="•"/>
            </a:pPr>
            <a:r>
              <a:rPr lang="en-US" sz="1296" b="1" dirty="0">
                <a:solidFill>
                  <a:srgbClr val="00070F"/>
                </a:solidFill>
                <a:latin typeface="Noto Sans" pitchFamily="34" charset="0"/>
                <a:ea typeface="Noto Sans" pitchFamily="34" charset="-122"/>
                <a:cs typeface="Noto Sans" pitchFamily="34" charset="-120"/>
              </a:rPr>
              <a:t>Bộ trích xuất embedding:</a:t>
            </a:r>
            <a:r>
              <a:rPr lang="en-US" sz="1296" dirty="0">
                <a:solidFill>
                  <a:srgbClr val="00070F"/>
                </a:solidFill>
                <a:latin typeface="Noto Sans" pitchFamily="34" charset="0"/>
                <a:ea typeface="Noto Sans" pitchFamily="34" charset="-122"/>
                <a:cs typeface="Noto Sans" pitchFamily="34" charset="-120"/>
              </a:rPr>
              <a:t> Được huấn luyện sao cho khoảng cách embedding        phù hợp với nhiệm vụ.</a:t>
            </a:r>
            <a:endParaRPr lang="en-US" sz="1440" dirty="0"/>
          </a:p>
          <a:p>
            <a:pPr marL="205740" indent="-205740" algn="just">
              <a:lnSpc>
                <a:spcPct val="100000"/>
              </a:lnSpc>
              <a:spcBef>
                <a:spcPts val="10"/>
              </a:spcBef>
              <a:buSzPct val="100000"/>
              <a:buChar char="•"/>
            </a:pPr>
            <a:r>
              <a:rPr lang="en-US" sz="1296" b="1" dirty="0">
                <a:solidFill>
                  <a:srgbClr val="00070F"/>
                </a:solidFill>
                <a:latin typeface="Noto Sans" pitchFamily="34" charset="0"/>
                <a:ea typeface="Noto Sans" pitchFamily="34" charset="-122"/>
                <a:cs typeface="Noto Sans" pitchFamily="34" charset="-120"/>
              </a:rPr>
              <a:t>Chỉ mục vector:</a:t>
            </a:r>
            <a:r>
              <a:rPr lang="en-US" sz="1296" dirty="0">
                <a:solidFill>
                  <a:srgbClr val="00070F"/>
                </a:solidFill>
                <a:latin typeface="Noto Sans" pitchFamily="34" charset="0"/>
                <a:ea typeface="Noto Sans" pitchFamily="34" charset="-122"/>
                <a:cs typeface="Noto Sans" pitchFamily="34" charset="-120"/>
              </a:rPr>
              <a:t> Thực hiện tìm kiếm láng giềng chính xác nhất có thể</a:t>
            </a:r>
            <a:endParaRPr lang="en-US" sz="1440" dirty="0"/>
          </a:p>
        </p:txBody>
      </p:sp>
      <p:sp>
        <p:nvSpPr>
          <p:cNvPr id="14" name="Text 12"/>
          <p:cNvSpPr/>
          <p:nvPr/>
        </p:nvSpPr>
        <p:spPr>
          <a:xfrm>
            <a:off x="4755781" y="780806"/>
            <a:ext cx="1953132" cy="422585"/>
          </a:xfrm>
          <a:prstGeom prst="rect">
            <a:avLst/>
          </a:prstGeom>
          <a:noFill/>
          <a:ln/>
        </p:spPr>
        <p:txBody>
          <a:bodyPr wrap="square" lIns="95250" tIns="95250" rIns="95250" bIns="95250" rtlCol="0" anchor="ctr"/>
          <a:lstStyle/>
          <a:p>
            <a:pPr marL="0" indent="0">
              <a:lnSpc>
                <a:spcPct val="100000"/>
              </a:lnSpc>
              <a:spcBef>
                <a:spcPts val="375"/>
              </a:spcBef>
              <a:buNone/>
            </a:pPr>
            <a:r>
              <a:rPr lang="en-US" sz="1440" b="1" dirty="0">
                <a:solidFill>
                  <a:srgbClr val="FFC12A"/>
                </a:solidFill>
                <a:latin typeface="Noto Sans" pitchFamily="34" charset="0"/>
                <a:ea typeface="Noto Sans" pitchFamily="34" charset="-122"/>
                <a:cs typeface="Noto Sans" pitchFamily="34" charset="-120"/>
              </a:rPr>
              <a:t>Đặc điểm của FAISS</a:t>
            </a:r>
            <a:endParaRPr lang="en-US" sz="1440" dirty="0"/>
          </a:p>
        </p:txBody>
      </p:sp>
      <p:sp>
        <p:nvSpPr>
          <p:cNvPr id="15" name="Text 13"/>
          <p:cNvSpPr/>
          <p:nvPr/>
        </p:nvSpPr>
        <p:spPr>
          <a:xfrm>
            <a:off x="4679338" y="1242740"/>
            <a:ext cx="2102900" cy="3657600"/>
          </a:xfrm>
          <a:prstGeom prst="rect">
            <a:avLst/>
          </a:prstGeom>
          <a:noFill/>
          <a:ln/>
        </p:spPr>
        <p:txBody>
          <a:bodyPr wrap="square" lIns="95250" tIns="95250" rIns="95250" bIns="95250" rtlCol="0" anchor="t">
            <a:spAutoFit/>
          </a:bodyPr>
          <a:lstStyle/>
          <a:p>
            <a:pPr marL="0" indent="0" algn="just">
              <a:lnSpc>
                <a:spcPct val="100000"/>
              </a:lnSpc>
              <a:spcBef>
                <a:spcPts val="375"/>
              </a:spcBef>
              <a:buNone/>
            </a:pPr>
            <a:r>
              <a:rPr lang="en-US" sz="1296" b="1" dirty="0">
                <a:solidFill>
                  <a:srgbClr val="00070F"/>
                </a:solidFill>
                <a:latin typeface="Noto Sans" pitchFamily="34" charset="0"/>
                <a:ea typeface="Noto Sans" pitchFamily="34" charset="-122"/>
                <a:cs typeface="Noto Sans" pitchFamily="34" charset="-120"/>
              </a:rPr>
              <a:t>Faiss KHÔNG PHẢI là:</a:t>
            </a:r>
            <a:endParaRPr lang="en-US" sz="1440" dirty="0"/>
          </a:p>
          <a:p>
            <a:pPr marL="205740" indent="-205740" algn="just">
              <a:lnSpc>
                <a:spcPct val="100000"/>
              </a:lnSpc>
              <a:spcBef>
                <a:spcPts val="10"/>
              </a:spcBef>
              <a:buSzPct val="100000"/>
              <a:buChar char="•"/>
            </a:pPr>
            <a:r>
              <a:rPr lang="en-US" sz="1296" dirty="0">
                <a:solidFill>
                  <a:srgbClr val="00070F"/>
                </a:solidFill>
                <a:latin typeface="Noto Sans" pitchFamily="34" charset="0"/>
                <a:ea typeface="Noto Sans" pitchFamily="34" charset="-122"/>
                <a:cs typeface="Noto Sans" pitchFamily="34" charset="-120"/>
              </a:rPr>
              <a:t>Công cụ trích xuất đặc trưng</a:t>
            </a:r>
            <a:endParaRPr lang="en-US" sz="1440" dirty="0"/>
          </a:p>
          <a:p>
            <a:pPr marL="205740" indent="-205740" algn="just">
              <a:lnSpc>
                <a:spcPct val="100000"/>
              </a:lnSpc>
              <a:spcBef>
                <a:spcPts val="10"/>
              </a:spcBef>
              <a:buSzPct val="100000"/>
              <a:buChar char="•"/>
            </a:pPr>
            <a:r>
              <a:rPr lang="en-US" sz="1296" dirty="0">
                <a:solidFill>
                  <a:srgbClr val="00070F"/>
                </a:solidFill>
                <a:latin typeface="Noto Sans" pitchFamily="34" charset="0"/>
                <a:ea typeface="Noto Sans" pitchFamily="34" charset="-122"/>
                <a:cs typeface="Noto Sans" pitchFamily="34" charset="-120"/>
              </a:rPr>
              <a:t>Một dịch vụ (service)</a:t>
            </a:r>
            <a:endParaRPr lang="en-US" sz="1440" dirty="0"/>
          </a:p>
          <a:p>
            <a:pPr marL="205740" indent="-205740" algn="just">
              <a:lnSpc>
                <a:spcPct val="100000"/>
              </a:lnSpc>
              <a:spcBef>
                <a:spcPts val="10"/>
              </a:spcBef>
              <a:buSzPct val="100000"/>
              <a:buChar char="•"/>
            </a:pPr>
            <a:r>
              <a:rPr lang="en-US" sz="1296" dirty="0">
                <a:solidFill>
                  <a:srgbClr val="00070F"/>
                </a:solidFill>
                <a:latin typeface="Noto Sans" pitchFamily="34" charset="0"/>
                <a:ea typeface="Noto Sans" pitchFamily="34" charset="-122"/>
                <a:cs typeface="Noto Sans" pitchFamily="34" charset="-120"/>
              </a:rPr>
              <a:t>Một cơ sở dữ liệu (không có ghi đồng thời, cân bằng tải)</a:t>
            </a:r>
            <a:endParaRPr lang="en-US" sz="1440" dirty="0"/>
          </a:p>
          <a:p>
            <a:pPr marL="0" indent="0" algn="just">
              <a:lnSpc>
                <a:spcPct val="100000"/>
              </a:lnSpc>
              <a:spcBef>
                <a:spcPts val="375"/>
              </a:spcBef>
              <a:buNone/>
            </a:pPr>
            <a:r>
              <a:rPr lang="en-US" sz="1296" b="1" dirty="0">
                <a:solidFill>
                  <a:srgbClr val="00070F"/>
                </a:solidFill>
                <a:latin typeface="Noto Sans" pitchFamily="34" charset="0"/>
                <a:ea typeface="Noto Sans" pitchFamily="34" charset="-122"/>
                <a:cs typeface="Noto Sans" pitchFamily="34" charset="-120"/>
              </a:rPr>
              <a:t>Faiss là:</a:t>
            </a:r>
            <a:endParaRPr lang="en-US" sz="1440" dirty="0"/>
          </a:p>
          <a:p>
            <a:pPr marL="205740" indent="-205740" algn="just">
              <a:lnSpc>
                <a:spcPct val="100000"/>
              </a:lnSpc>
              <a:spcBef>
                <a:spcPts val="10"/>
              </a:spcBef>
              <a:buSzPct val="100000"/>
              <a:buChar char="•"/>
            </a:pPr>
            <a:r>
              <a:rPr lang="en-US" sz="1296" dirty="0">
                <a:solidFill>
                  <a:srgbClr val="00070F"/>
                </a:solidFill>
                <a:latin typeface="Noto Sans" pitchFamily="34" charset="0"/>
                <a:ea typeface="Noto Sans" pitchFamily="34" charset="-122"/>
                <a:cs typeface="Noto Sans" pitchFamily="34" charset="-120"/>
              </a:rPr>
              <a:t>Thư viện C++ không phụ thuộc bên ngoài, có wrapper Python</a:t>
            </a:r>
            <a:endParaRPr lang="en-US" sz="1440" dirty="0"/>
          </a:p>
          <a:p>
            <a:pPr marL="205740" indent="-205740" algn="just">
              <a:lnSpc>
                <a:spcPct val="100000"/>
              </a:lnSpc>
              <a:spcBef>
                <a:spcPts val="10"/>
              </a:spcBef>
              <a:buSzPct val="100000"/>
              <a:buChar char="•"/>
            </a:pPr>
            <a:r>
              <a:rPr lang="en-US" sz="1296" dirty="0">
                <a:solidFill>
                  <a:srgbClr val="00070F"/>
                </a:solidFill>
                <a:latin typeface="Noto Sans" pitchFamily="34" charset="0"/>
                <a:ea typeface="Noto Sans" pitchFamily="34" charset="-122"/>
                <a:cs typeface="Noto Sans" pitchFamily="34" charset="-120"/>
              </a:rPr>
              <a:t>Bộ công cụ đa dạng với hàng chục loại  chỉ mục</a:t>
            </a:r>
            <a:endParaRPr lang="en-US" sz="1440" dirty="0"/>
          </a:p>
          <a:p>
            <a:pPr marL="205740" indent="-205740" algn="just">
              <a:lnSpc>
                <a:spcPct val="100000"/>
              </a:lnSpc>
              <a:spcBef>
                <a:spcPts val="10"/>
              </a:spcBef>
              <a:buSzPct val="100000"/>
              <a:buChar char="•"/>
            </a:pPr>
            <a:r>
              <a:rPr lang="en-US" sz="1296" dirty="0">
                <a:solidFill>
                  <a:srgbClr val="00070F"/>
                </a:solidFill>
                <a:latin typeface="Noto Sans" pitchFamily="34" charset="0"/>
                <a:ea typeface="Noto Sans" pitchFamily="34" charset="-122"/>
                <a:cs typeface="Noto Sans" pitchFamily="34" charset="-120"/>
              </a:rPr>
              <a:t>Hỗ trợ cả CPU và GPU</a:t>
            </a:r>
            <a:endParaRPr lang="en-US" sz="1440" dirty="0"/>
          </a:p>
        </p:txBody>
      </p:sp>
      <p:sp>
        <p:nvSpPr>
          <p:cNvPr id="16" name="Text 14"/>
          <p:cNvSpPr/>
          <p:nvPr/>
        </p:nvSpPr>
        <p:spPr>
          <a:xfrm>
            <a:off x="7023515" y="663766"/>
            <a:ext cx="1240730" cy="422585"/>
          </a:xfrm>
          <a:prstGeom prst="rect">
            <a:avLst/>
          </a:prstGeom>
          <a:noFill/>
          <a:ln/>
        </p:spPr>
        <p:txBody>
          <a:bodyPr wrap="square" lIns="95250" tIns="95250" rIns="95250" bIns="95250" rtlCol="0" anchor="ctr"/>
          <a:lstStyle/>
          <a:p>
            <a:pPr marL="0" indent="0">
              <a:lnSpc>
                <a:spcPct val="100000"/>
              </a:lnSpc>
              <a:spcBef>
                <a:spcPts val="375"/>
              </a:spcBef>
              <a:buNone/>
            </a:pPr>
            <a:r>
              <a:rPr lang="en-US" sz="1440" b="1" dirty="0">
                <a:solidFill>
                  <a:srgbClr val="F8800F"/>
                </a:solidFill>
                <a:latin typeface="Noto Sans" pitchFamily="34" charset="0"/>
                <a:ea typeface="Noto Sans" pitchFamily="34" charset="-122"/>
                <a:cs typeface="Noto Sans" pitchFamily="34" charset="-120"/>
              </a:rPr>
              <a:t>Thành tựu</a:t>
            </a:r>
            <a:endParaRPr lang="en-US" sz="1440" dirty="0"/>
          </a:p>
        </p:txBody>
      </p:sp>
      <p:sp>
        <p:nvSpPr>
          <p:cNvPr id="17" name="Text 15"/>
          <p:cNvSpPr/>
          <p:nvPr/>
        </p:nvSpPr>
        <p:spPr>
          <a:xfrm>
            <a:off x="6922930" y="1242740"/>
            <a:ext cx="1872471" cy="2038379"/>
          </a:xfrm>
          <a:prstGeom prst="rect">
            <a:avLst/>
          </a:prstGeom>
          <a:noFill/>
          <a:ln/>
        </p:spPr>
        <p:txBody>
          <a:bodyPr wrap="square" lIns="95250" tIns="95250" rIns="95250" bIns="95250" rtlCol="0" anchor="t">
            <a:spAutoFit/>
          </a:bodyPr>
          <a:lstStyle/>
          <a:p>
            <a:pPr marL="0" indent="0" algn="just">
              <a:lnSpc>
                <a:spcPct val="100000"/>
              </a:lnSpc>
              <a:spcBef>
                <a:spcPts val="375"/>
              </a:spcBef>
              <a:buNone/>
            </a:pPr>
            <a:r>
              <a:rPr lang="en-US" sz="1296" dirty="0">
                <a:solidFill>
                  <a:srgbClr val="00070F"/>
                </a:solidFill>
                <a:latin typeface="Noto Sans" pitchFamily="34" charset="0"/>
                <a:ea typeface="Noto Sans" pitchFamily="34" charset="-122"/>
                <a:cs typeface="Noto Sans" pitchFamily="34" charset="-120"/>
              </a:rPr>
              <a:t>Kể </a:t>
            </a:r>
            <a:r>
              <a:rPr lang="en-US" sz="1296" dirty="0" err="1">
                <a:solidFill>
                  <a:srgbClr val="00070F"/>
                </a:solidFill>
                <a:latin typeface="Noto Sans" pitchFamily="34" charset="0"/>
                <a:ea typeface="Noto Sans" pitchFamily="34" charset="-122"/>
                <a:cs typeface="Noto Sans" pitchFamily="34" charset="-120"/>
              </a:rPr>
              <a:t>từ</a:t>
            </a:r>
            <a:r>
              <a:rPr lang="en-US" sz="1296" dirty="0">
                <a:solidFill>
                  <a:srgbClr val="00070F"/>
                </a:solidFill>
                <a:latin typeface="Noto Sans" pitchFamily="34" charset="0"/>
                <a:ea typeface="Noto Sans" pitchFamily="34" charset="-122"/>
                <a:cs typeface="Noto Sans" pitchFamily="34" charset="-120"/>
              </a:rPr>
              <a:t> </a:t>
            </a:r>
            <a:r>
              <a:rPr lang="vi-VN" sz="1296" dirty="0">
                <a:solidFill>
                  <a:srgbClr val="00070F"/>
                </a:solidFill>
                <a:latin typeface="Noto Sans" pitchFamily="34" charset="0"/>
                <a:ea typeface="Noto Sans" pitchFamily="34" charset="-122"/>
                <a:cs typeface="Noto Sans" pitchFamily="34" charset="-120"/>
              </a:rPr>
              <a:t>khi </a:t>
            </a:r>
            <a:r>
              <a:rPr lang="en-US" sz="1296" dirty="0" err="1">
                <a:solidFill>
                  <a:srgbClr val="00070F"/>
                </a:solidFill>
                <a:latin typeface="Noto Sans" pitchFamily="34" charset="0"/>
                <a:ea typeface="Noto Sans" pitchFamily="34" charset="-122"/>
                <a:cs typeface="Noto Sans" pitchFamily="34" charset="-120"/>
              </a:rPr>
              <a:t>phát</a:t>
            </a:r>
            <a:r>
              <a:rPr lang="en-US" sz="1296" dirty="0">
                <a:solidFill>
                  <a:srgbClr val="00070F"/>
                </a:solidFill>
                <a:latin typeface="Noto Sans" pitchFamily="34" charset="0"/>
                <a:ea typeface="Noto Sans" pitchFamily="34" charset="-122"/>
                <a:cs typeface="Noto Sans" pitchFamily="34" charset="-120"/>
              </a:rPr>
              <a:t> hành </a:t>
            </a:r>
            <a:endParaRPr lang="en-US" sz="1440" dirty="0"/>
          </a:p>
          <a:p>
            <a:pPr marL="0" indent="0" algn="just">
              <a:lnSpc>
                <a:spcPct val="100000"/>
              </a:lnSpc>
              <a:spcBef>
                <a:spcPts val="375"/>
              </a:spcBef>
              <a:buNone/>
            </a:pPr>
            <a:r>
              <a:rPr lang="en-US" sz="1296" dirty="0">
                <a:solidFill>
                  <a:srgbClr val="00070F"/>
                </a:solidFill>
                <a:latin typeface="Noto Sans" pitchFamily="34" charset="0"/>
                <a:ea typeface="Noto Sans" pitchFamily="34" charset="-122"/>
                <a:cs typeface="Noto Sans" pitchFamily="34" charset="-120"/>
              </a:rPr>
              <a:t>mã </a:t>
            </a:r>
            <a:r>
              <a:rPr lang="en-US" sz="1296" dirty="0" err="1">
                <a:solidFill>
                  <a:srgbClr val="00070F"/>
                </a:solidFill>
                <a:latin typeface="Noto Sans" pitchFamily="34" charset="0"/>
                <a:ea typeface="Noto Sans" pitchFamily="34" charset="-122"/>
                <a:cs typeface="Noto Sans" pitchFamily="34" charset="-120"/>
              </a:rPr>
              <a:t>nguồn</a:t>
            </a:r>
            <a:r>
              <a:rPr lang="en-US" sz="1296" dirty="0">
                <a:solidFill>
                  <a:srgbClr val="00070F"/>
                </a:solidFill>
                <a:latin typeface="Noto Sans" pitchFamily="34" charset="0"/>
                <a:ea typeface="Noto Sans" pitchFamily="34" charset="-122"/>
                <a:cs typeface="Noto Sans" pitchFamily="34" charset="-120"/>
              </a:rPr>
              <a:t> </a:t>
            </a:r>
            <a:r>
              <a:rPr lang="en-US" sz="1296" dirty="0" err="1">
                <a:solidFill>
                  <a:srgbClr val="00070F"/>
                </a:solidFill>
                <a:latin typeface="Noto Sans" pitchFamily="34" charset="0"/>
                <a:ea typeface="Noto Sans" pitchFamily="34" charset="-122"/>
                <a:cs typeface="Noto Sans" pitchFamily="34" charset="-120"/>
              </a:rPr>
              <a:t>mở</a:t>
            </a:r>
            <a:r>
              <a:rPr lang="vi-VN" sz="1296" dirty="0">
                <a:solidFill>
                  <a:srgbClr val="00070F"/>
                </a:solidFill>
                <a:latin typeface="Noto Sans" pitchFamily="34" charset="0"/>
                <a:ea typeface="Noto Sans" pitchFamily="34" charset="-122"/>
                <a:cs typeface="Noto Sans" pitchFamily="34" charset="-120"/>
              </a:rPr>
              <a:t> </a:t>
            </a:r>
            <a:r>
              <a:rPr lang="en-US" sz="1296" dirty="0">
                <a:solidFill>
                  <a:srgbClr val="00070F"/>
                </a:solidFill>
                <a:latin typeface="Noto Sans" pitchFamily="34" charset="0"/>
                <a:ea typeface="Noto Sans" pitchFamily="34" charset="-122"/>
                <a:cs typeface="Noto Sans" pitchFamily="34" charset="-120"/>
              </a:rPr>
              <a:t>(2017):</a:t>
            </a:r>
            <a:endParaRPr lang="en-US" sz="1440" dirty="0"/>
          </a:p>
          <a:p>
            <a:pPr marL="205740" indent="-205740" algn="just">
              <a:lnSpc>
                <a:spcPct val="100000"/>
              </a:lnSpc>
              <a:spcBef>
                <a:spcPts val="10"/>
              </a:spcBef>
              <a:buSzPct val="100000"/>
              <a:buChar char="•"/>
            </a:pPr>
            <a:r>
              <a:rPr lang="en-US" sz="1296" dirty="0">
                <a:solidFill>
                  <a:srgbClr val="00070F"/>
                </a:solidFill>
                <a:latin typeface="Noto Sans" pitchFamily="34" charset="0"/>
                <a:ea typeface="Noto Sans" pitchFamily="34" charset="-122"/>
                <a:cs typeface="Noto Sans" pitchFamily="34" charset="-120"/>
              </a:rPr>
              <a:t>37,000 sao GitHub</a:t>
            </a:r>
            <a:endParaRPr lang="en-US" sz="1440" dirty="0"/>
          </a:p>
          <a:p>
            <a:pPr marL="205740" indent="-205740" algn="just">
              <a:lnSpc>
                <a:spcPct val="100000"/>
              </a:lnSpc>
              <a:spcBef>
                <a:spcPts val="10"/>
              </a:spcBef>
              <a:buSzPct val="100000"/>
              <a:buChar char="•"/>
            </a:pPr>
            <a:r>
              <a:rPr lang="en-US" sz="1296" dirty="0">
                <a:solidFill>
                  <a:srgbClr val="00070F"/>
                </a:solidFill>
                <a:latin typeface="Noto Sans" pitchFamily="34" charset="0"/>
                <a:ea typeface="Noto Sans" pitchFamily="34" charset="-122"/>
                <a:cs typeface="Noto Sans" pitchFamily="34" charset="-120"/>
              </a:rPr>
              <a:t>5,200+ </a:t>
            </a:r>
            <a:r>
              <a:rPr lang="en-US" sz="1296" dirty="0" err="1">
                <a:solidFill>
                  <a:srgbClr val="00070F"/>
                </a:solidFill>
                <a:latin typeface="Noto Sans" pitchFamily="34" charset="0"/>
                <a:ea typeface="Noto Sans" pitchFamily="34" charset="-122"/>
                <a:cs typeface="Noto Sans" pitchFamily="34" charset="-120"/>
              </a:rPr>
              <a:t>trích</a:t>
            </a:r>
            <a:r>
              <a:rPr lang="vi-VN" sz="1296" dirty="0">
                <a:solidFill>
                  <a:srgbClr val="00070F"/>
                </a:solidFill>
                <a:latin typeface="Noto Sans" pitchFamily="34" charset="0"/>
                <a:ea typeface="Noto Sans" pitchFamily="34" charset="-122"/>
                <a:cs typeface="Noto Sans" pitchFamily="34" charset="-120"/>
              </a:rPr>
              <a:t> </a:t>
            </a:r>
            <a:r>
              <a:rPr lang="en-US" sz="1296" dirty="0" err="1">
                <a:solidFill>
                  <a:srgbClr val="00070F"/>
                </a:solidFill>
                <a:latin typeface="Noto Sans" pitchFamily="34" charset="0"/>
                <a:ea typeface="Noto Sans" pitchFamily="34" charset="-122"/>
                <a:cs typeface="Noto Sans" pitchFamily="34" charset="-120"/>
              </a:rPr>
              <a:t>dẫn</a:t>
            </a:r>
            <a:r>
              <a:rPr lang="en-US" sz="1296" dirty="0">
                <a:solidFill>
                  <a:srgbClr val="00070F"/>
                </a:solidFill>
                <a:latin typeface="Noto Sans" pitchFamily="34" charset="0"/>
                <a:ea typeface="Noto Sans" pitchFamily="34" charset="-122"/>
                <a:cs typeface="Noto Sans" pitchFamily="34" charset="-120"/>
              </a:rPr>
              <a:t> bài báo GPU</a:t>
            </a:r>
            <a:endParaRPr lang="en-US" sz="1440" dirty="0"/>
          </a:p>
          <a:p>
            <a:pPr marL="205740" indent="-205740" algn="just">
              <a:lnSpc>
                <a:spcPct val="100000"/>
              </a:lnSpc>
              <a:spcBef>
                <a:spcPts val="10"/>
              </a:spcBef>
              <a:buSzPct val="100000"/>
              <a:buChar char="•"/>
            </a:pPr>
            <a:r>
              <a:rPr lang="en-US" sz="1296" dirty="0">
                <a:solidFill>
                  <a:srgbClr val="00070F"/>
                </a:solidFill>
                <a:latin typeface="Noto Sans" pitchFamily="34" charset="0"/>
                <a:ea typeface="Noto Sans" pitchFamily="34" charset="-122"/>
                <a:cs typeface="Noto Sans" pitchFamily="34" charset="-120"/>
              </a:rPr>
              <a:t>6 </a:t>
            </a:r>
            <a:r>
              <a:rPr lang="en-US" sz="1296" dirty="0" err="1">
                <a:solidFill>
                  <a:srgbClr val="00070F"/>
                </a:solidFill>
                <a:latin typeface="Noto Sans" pitchFamily="34" charset="0"/>
                <a:ea typeface="Noto Sans" pitchFamily="34" charset="-122"/>
                <a:cs typeface="Noto Sans" pitchFamily="34" charset="-120"/>
              </a:rPr>
              <a:t>triệu</a:t>
            </a:r>
            <a:r>
              <a:rPr lang="vi-VN" sz="1296" dirty="0">
                <a:solidFill>
                  <a:srgbClr val="00070F"/>
                </a:solidFill>
                <a:latin typeface="Noto Sans" pitchFamily="34" charset="0"/>
                <a:ea typeface="Noto Sans" pitchFamily="34" charset="-122"/>
                <a:cs typeface="Noto Sans" pitchFamily="34" charset="-120"/>
              </a:rPr>
              <a:t> </a:t>
            </a:r>
            <a:r>
              <a:rPr lang="en-US" sz="1296" dirty="0" err="1">
                <a:solidFill>
                  <a:srgbClr val="00070F"/>
                </a:solidFill>
                <a:latin typeface="Noto Sans" pitchFamily="34" charset="0"/>
                <a:ea typeface="Noto Sans" pitchFamily="34" charset="-122"/>
                <a:cs typeface="Noto Sans" pitchFamily="34" charset="-120"/>
              </a:rPr>
              <a:t>lượt</a:t>
            </a:r>
            <a:r>
              <a:rPr lang="en-US" sz="1296" dirty="0">
                <a:solidFill>
                  <a:srgbClr val="00070F"/>
                </a:solidFill>
                <a:latin typeface="Noto Sans" pitchFamily="34" charset="0"/>
                <a:ea typeface="Noto Sans" pitchFamily="34" charset="-122"/>
                <a:cs typeface="Noto Sans" pitchFamily="34" charset="-120"/>
              </a:rPr>
              <a:t>          tải xuống</a:t>
            </a:r>
            <a:endParaRPr lang="en-US" sz="1440" dirty="0"/>
          </a:p>
          <a:p>
            <a:pPr marL="205740" indent="-205740" algn="just">
              <a:lnSpc>
                <a:spcPct val="100000"/>
              </a:lnSpc>
              <a:spcBef>
                <a:spcPts val="10"/>
              </a:spcBef>
              <a:buSzPct val="100000"/>
              <a:buChar char="•"/>
            </a:pPr>
            <a:r>
              <a:rPr lang="en-US" sz="1296" dirty="0">
                <a:solidFill>
                  <a:srgbClr val="00070F"/>
                </a:solidFill>
                <a:latin typeface="Noto Sans" pitchFamily="34" charset="0"/>
                <a:ea typeface="Noto Sans" pitchFamily="34" charset="-122"/>
                <a:cs typeface="Noto Sans" pitchFamily="34" charset="-120"/>
              </a:rPr>
              <a:t>Được Zilliz, Milvus, Pinecone sử dụng</a:t>
            </a:r>
            <a:endParaRPr lang="en-US" sz="144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542174" y="1048230"/>
            <a:ext cx="2140946" cy="1828800"/>
          </a:xfrm>
          <a:prstGeom prst="rect">
            <a:avLst/>
          </a:prstGeom>
          <a:noFill/>
          <a:ln/>
        </p:spPr>
        <p:txBody>
          <a:bodyPr wrap="square" lIns="95250" tIns="95250" rIns="95250" bIns="95250" rtlCol="0" anchor="t">
            <a:spAutoFit/>
          </a:bodyPr>
          <a:lstStyle/>
          <a:p>
            <a:pPr marL="0" indent="0" algn="ctr">
              <a:lnSpc>
                <a:spcPct val="112500"/>
              </a:lnSpc>
              <a:spcBef>
                <a:spcPts val="375"/>
              </a:spcBef>
              <a:buNone/>
            </a:pPr>
            <a:r>
              <a:rPr lang="en-US" sz="8640" b="1" dirty="0">
                <a:solidFill>
                  <a:srgbClr val="0071BE">
                    <a:alpha val="60000"/>
                  </a:srgbClr>
                </a:solidFill>
                <a:latin typeface="Noto Sans" pitchFamily="34" charset="0"/>
                <a:ea typeface="Noto Sans" pitchFamily="34" charset="-122"/>
                <a:cs typeface="Noto Sans" pitchFamily="34" charset="-120"/>
              </a:rPr>
              <a:t>02</a:t>
            </a:r>
            <a:endParaRPr lang="en-US" sz="1440" dirty="0"/>
          </a:p>
        </p:txBody>
      </p:sp>
      <p:sp>
        <p:nvSpPr>
          <p:cNvPr id="3" name="Text 1"/>
          <p:cNvSpPr/>
          <p:nvPr/>
        </p:nvSpPr>
        <p:spPr>
          <a:xfrm>
            <a:off x="3325018" y="2507457"/>
            <a:ext cx="5026485" cy="1280160"/>
          </a:xfrm>
          <a:prstGeom prst="rect">
            <a:avLst/>
          </a:prstGeom>
          <a:noFill/>
          <a:ln/>
        </p:spPr>
        <p:txBody>
          <a:bodyPr wrap="square" lIns="95250" tIns="95250" rIns="95250" bIns="95250" rtlCol="0" anchor="t">
            <a:spAutoFit/>
          </a:bodyPr>
          <a:lstStyle/>
          <a:p>
            <a:pPr marL="0" indent="0" algn="r">
              <a:lnSpc>
                <a:spcPct val="100000"/>
              </a:lnSpc>
              <a:spcBef>
                <a:spcPts val="375"/>
              </a:spcBef>
              <a:buNone/>
            </a:pPr>
            <a:r>
              <a:rPr lang="en-US" sz="3456" b="1" dirty="0">
                <a:solidFill>
                  <a:srgbClr val="2B76FD"/>
                </a:solidFill>
                <a:latin typeface="Noto Sans" pitchFamily="34" charset="0"/>
                <a:ea typeface="Noto Sans" pitchFamily="34" charset="-122"/>
                <a:cs typeface="Noto Sans" pitchFamily="34" charset="-120"/>
              </a:rPr>
              <a:t>CÁC CÔNG TRÌNH</a:t>
            </a:r>
            <a:endParaRPr lang="en-US" sz="1440" dirty="0"/>
          </a:p>
          <a:p>
            <a:pPr marL="0" indent="0" algn="r">
              <a:lnSpc>
                <a:spcPct val="100000"/>
              </a:lnSpc>
              <a:spcBef>
                <a:spcPts val="375"/>
              </a:spcBef>
              <a:buNone/>
            </a:pPr>
            <a:r>
              <a:rPr lang="en-US" sz="3456" b="1" dirty="0">
                <a:solidFill>
                  <a:srgbClr val="2B76FD"/>
                </a:solidFill>
                <a:latin typeface="Noto Sans" pitchFamily="34" charset="0"/>
                <a:ea typeface="Noto Sans" pitchFamily="34" charset="-122"/>
                <a:cs typeface="Noto Sans" pitchFamily="34" charset="-120"/>
              </a:rPr>
              <a:t>LIÊN QUAN</a:t>
            </a:r>
            <a:endParaRPr lang="en-US" sz="144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96558" y="328468"/>
            <a:ext cx="8396337" cy="594360"/>
          </a:xfrm>
          <a:prstGeom prst="rect">
            <a:avLst/>
          </a:prstGeom>
          <a:noFill/>
          <a:ln/>
        </p:spPr>
        <p:txBody>
          <a:bodyPr wrap="square" lIns="95250" tIns="95250" rIns="95250" bIns="95250" rtlCol="0" anchor="t">
            <a:spAutoFit/>
          </a:bodyPr>
          <a:lstStyle/>
          <a:p>
            <a:pPr marL="0" indent="0">
              <a:lnSpc>
                <a:spcPct val="112500"/>
              </a:lnSpc>
              <a:spcBef>
                <a:spcPts val="375"/>
              </a:spcBef>
              <a:buNone/>
            </a:pPr>
            <a:r>
              <a:rPr lang="en-US" sz="2160" b="1" dirty="0">
                <a:solidFill>
                  <a:srgbClr val="193AB9"/>
                </a:solidFill>
                <a:latin typeface="Noto Sans" pitchFamily="34" charset="0"/>
                <a:ea typeface="Noto Sans" pitchFamily="34" charset="-122"/>
                <a:cs typeface="Noto Sans" pitchFamily="34" charset="-120"/>
              </a:rPr>
              <a:t>2.1. Các phương pháp đánh chỉ mục</a:t>
            </a:r>
            <a:endParaRPr lang="en-US" sz="1440" dirty="0"/>
          </a:p>
        </p:txBody>
      </p:sp>
      <p:sp>
        <p:nvSpPr>
          <p:cNvPr id="3" name="Shape 1"/>
          <p:cNvSpPr/>
          <p:nvPr/>
        </p:nvSpPr>
        <p:spPr>
          <a:xfrm>
            <a:off x="379930" y="4263537"/>
            <a:ext cx="8384141" cy="492725"/>
          </a:xfrm>
          <a:custGeom>
            <a:avLst/>
            <a:gdLst/>
            <a:ahLst/>
            <a:cxnLst/>
            <a:rect l="l" t="t" r="r" b="b"/>
            <a:pathLst>
              <a:path w="8384141" h="492725">
                <a:moveTo>
                  <a:pt x="246363" y="0"/>
                </a:moveTo>
                <a:moveTo>
                  <a:pt x="246363" y="0"/>
                </a:moveTo>
                <a:lnTo>
                  <a:pt x="8137778" y="0"/>
                </a:lnTo>
                <a:quadBezTo>
                  <a:pt x="8384141" y="0"/>
                  <a:pt x="8384141" y="246363"/>
                </a:quadBezTo>
                <a:lnTo>
                  <a:pt x="8384141" y="246363"/>
                </a:lnTo>
                <a:quadBezTo>
                  <a:pt x="8384141" y="492725"/>
                  <a:pt x="8137778" y="492725"/>
                </a:quadBezTo>
                <a:lnTo>
                  <a:pt x="246363" y="492725"/>
                </a:lnTo>
                <a:quadBezTo>
                  <a:pt x="0" y="492725"/>
                  <a:pt x="0" y="246363"/>
                </a:quadBezTo>
                <a:lnTo>
                  <a:pt x="0" y="246363"/>
                </a:lnTo>
                <a:quadBezTo>
                  <a:pt x="0" y="0"/>
                  <a:pt x="246363" y="0"/>
                </a:quadBezTo>
                <a:close/>
              </a:path>
            </a:pathLst>
          </a:custGeom>
          <a:solidFill>
            <a:srgbClr val="2B76FD"/>
          </a:solidFill>
          <a:ln/>
        </p:spPr>
        <p:txBody>
          <a:bodyPr/>
          <a:lstStyle/>
          <a:p>
            <a:endParaRPr lang="en-US"/>
          </a:p>
        </p:txBody>
      </p:sp>
      <p:sp>
        <p:nvSpPr>
          <p:cNvPr id="4" name="Shape 2"/>
          <p:cNvSpPr/>
          <p:nvPr/>
        </p:nvSpPr>
        <p:spPr>
          <a:xfrm>
            <a:off x="674046" y="4568512"/>
            <a:ext cx="2507373" cy="0"/>
          </a:xfrm>
          <a:custGeom>
            <a:avLst/>
            <a:gdLst/>
            <a:ahLst/>
            <a:cxnLst/>
            <a:rect l="l" t="t" r="r" b="b"/>
            <a:pathLst>
              <a:path w="2507373">
                <a:moveTo>
                  <a:pt x="0" y="0"/>
                </a:moveTo>
                <a:moveTo>
                  <a:pt x="0" y="0"/>
                </a:moveTo>
                <a:lnTo>
                  <a:pt x="2507373" y="0"/>
                </a:lnTo>
              </a:path>
            </a:pathLst>
          </a:custGeom>
          <a:noFill/>
          <a:ln w="28575">
            <a:solidFill>
              <a:srgbClr val="FFFFFF"/>
            </a:solidFill>
            <a:prstDash val="solid"/>
            <a:headEnd type="none"/>
            <a:tailEnd type="none"/>
          </a:ln>
        </p:spPr>
        <p:txBody>
          <a:bodyPr/>
          <a:lstStyle/>
          <a:p>
            <a:endParaRPr lang="en-US"/>
          </a:p>
        </p:txBody>
      </p:sp>
      <p:sp>
        <p:nvSpPr>
          <p:cNvPr id="5" name="Shape 3"/>
          <p:cNvSpPr/>
          <p:nvPr/>
        </p:nvSpPr>
        <p:spPr>
          <a:xfrm>
            <a:off x="674046" y="4263537"/>
            <a:ext cx="2523744" cy="230247"/>
          </a:xfrm>
          <a:custGeom>
            <a:avLst/>
            <a:gdLst/>
            <a:ahLst/>
            <a:cxnLst/>
            <a:rect l="l" t="t" r="r" b="b"/>
            <a:pathLst>
              <a:path w="2523744" h="230247">
                <a:moveTo>
                  <a:pt x="0" y="0"/>
                </a:moveTo>
                <a:moveTo>
                  <a:pt x="0" y="0"/>
                </a:moveTo>
                <a:lnTo>
                  <a:pt x="2523744" y="0"/>
                </a:lnTo>
                <a:lnTo>
                  <a:pt x="2523744" y="230247"/>
                </a:lnTo>
                <a:lnTo>
                  <a:pt x="0" y="230247"/>
                </a:lnTo>
                <a:close/>
              </a:path>
            </a:pathLst>
          </a:custGeom>
          <a:solidFill>
            <a:srgbClr val="FFFFFF">
              <a:alpha val="90000"/>
            </a:srgbClr>
          </a:solidFill>
          <a:ln/>
        </p:spPr>
        <p:txBody>
          <a:bodyPr/>
          <a:lstStyle/>
          <a:p>
            <a:endParaRPr lang="en-US"/>
          </a:p>
        </p:txBody>
      </p:sp>
      <p:pic>
        <p:nvPicPr>
          <p:cNvPr id="6" name="Image 0" descr="preencoded.png"/>
          <p:cNvPicPr>
            <a:picLocks noChangeAspect="1"/>
          </p:cNvPicPr>
          <p:nvPr/>
        </p:nvPicPr>
        <p:blipFill>
          <a:blip r:embed="rId4">
            <a:alphaModFix amt="50000"/>
            <a:duotone>
              <a:schemeClr val="accent6">
                <a:shade val="45000"/>
                <a:satMod val="135000"/>
              </a:schemeClr>
              <a:prstClr val="white"/>
            </a:duotone>
            <a:extLst>
              <a:ext uri="{BEBA8EAE-BF5A-486C-A8C5-ECC9F3942E4B}">
                <a14:imgProps xmlns:a14="http://schemas.microsoft.com/office/drawing/2010/main">
                  <a14:imgLayer r:embed="rId5">
                    <a14:imgEffect>
                      <a14:brightnessContrast bright="-20000" contrast="40000"/>
                    </a14:imgEffect>
                  </a14:imgLayer>
                </a14:imgProps>
              </a:ext>
            </a:extLst>
          </a:blip>
          <a:stretch>
            <a:fillRect/>
          </a:stretch>
        </p:blipFill>
        <p:spPr>
          <a:xfrm>
            <a:off x="605395" y="1043848"/>
            <a:ext cx="2611169" cy="3263962"/>
          </a:xfrm>
          <a:prstGeom prst="rect">
            <a:avLst/>
          </a:prstGeom>
        </p:spPr>
      </p:pic>
      <p:pic>
        <p:nvPicPr>
          <p:cNvPr id="7" name="Image 1" descr="preencoded.png"/>
          <p:cNvPicPr>
            <a:picLocks noChangeAspect="1"/>
          </p:cNvPicPr>
          <p:nvPr/>
        </p:nvPicPr>
        <p:blipFill>
          <a:blip r:embed="rId6">
            <a:alphaModFix amt="50000"/>
            <a:extLst>
              <a:ext uri="{BEBA8EAE-BF5A-486C-A8C5-ECC9F3942E4B}">
                <a14:imgProps xmlns:a14="http://schemas.microsoft.com/office/drawing/2010/main">
                  <a14:imgLayer r:embed="rId5">
                    <a14:imgEffect>
                      <a14:colorTemperature colorTemp="8800"/>
                    </a14:imgEffect>
                  </a14:imgLayer>
                </a14:imgProps>
              </a:ext>
            </a:extLst>
          </a:blip>
          <a:stretch>
            <a:fillRect/>
          </a:stretch>
        </p:blipFill>
        <p:spPr>
          <a:xfrm>
            <a:off x="5845763" y="999576"/>
            <a:ext cx="2611169" cy="3263962"/>
          </a:xfrm>
          <a:prstGeom prst="rect">
            <a:avLst/>
          </a:prstGeom>
        </p:spPr>
      </p:pic>
      <p:sp>
        <p:nvSpPr>
          <p:cNvPr id="8" name="Text 4"/>
          <p:cNvSpPr/>
          <p:nvPr/>
        </p:nvSpPr>
        <p:spPr>
          <a:xfrm>
            <a:off x="1583384" y="1295370"/>
            <a:ext cx="688696" cy="786384"/>
          </a:xfrm>
          <a:prstGeom prst="rect">
            <a:avLst/>
          </a:prstGeom>
          <a:noFill/>
          <a:ln/>
        </p:spPr>
        <p:txBody>
          <a:bodyPr wrap="square" lIns="95250" tIns="95250" rIns="95250" bIns="95250" rtlCol="0" anchor="t">
            <a:spAutoFit/>
          </a:bodyPr>
          <a:lstStyle/>
          <a:p>
            <a:pPr marL="0" indent="0" algn="ctr">
              <a:lnSpc>
                <a:spcPct val="112500"/>
              </a:lnSpc>
              <a:spcBef>
                <a:spcPts val="375"/>
              </a:spcBef>
              <a:buNone/>
            </a:pPr>
            <a:r>
              <a:rPr lang="en-US" sz="3168" b="1" i="1" dirty="0">
                <a:solidFill>
                  <a:srgbClr val="2B76FD"/>
                </a:solidFill>
                <a:latin typeface="Noto Sans" pitchFamily="34" charset="0"/>
                <a:ea typeface="Noto Sans" pitchFamily="34" charset="-122"/>
                <a:cs typeface="Noto Sans" pitchFamily="34" charset="-120"/>
              </a:rPr>
              <a:t>01</a:t>
            </a:r>
            <a:endParaRPr lang="en-US" sz="1440" dirty="0"/>
          </a:p>
        </p:txBody>
      </p:sp>
      <p:pic>
        <p:nvPicPr>
          <p:cNvPr id="9" name="Image 2" descr="preencoded.png"/>
          <p:cNvPicPr>
            <a:picLocks noChangeAspect="1"/>
          </p:cNvPicPr>
          <p:nvPr/>
        </p:nvPicPr>
        <p:blipFill>
          <a:blip r:embed="rId4">
            <a:alphaModFix amt="50000"/>
            <a:duotone>
              <a:schemeClr val="accent2">
                <a:shade val="45000"/>
                <a:satMod val="135000"/>
              </a:schemeClr>
              <a:prstClr val="white"/>
            </a:duotone>
            <a:extLst>
              <a:ext uri="{BEBA8EAE-BF5A-486C-A8C5-ECC9F3942E4B}">
                <a14:imgProps xmlns:a14="http://schemas.microsoft.com/office/drawing/2010/main">
                  <a14:imgLayer r:embed="rId5">
                    <a14:imgEffect>
                      <a14:brightnessContrast bright="-20000" contrast="40000"/>
                    </a14:imgEffect>
                  </a14:imgLayer>
                </a14:imgProps>
              </a:ext>
            </a:extLst>
          </a:blip>
          <a:stretch>
            <a:fillRect/>
          </a:stretch>
        </p:blipFill>
        <p:spPr>
          <a:xfrm>
            <a:off x="3229472" y="999576"/>
            <a:ext cx="2611169" cy="3263962"/>
          </a:xfrm>
          <a:prstGeom prst="rect">
            <a:avLst/>
          </a:prstGeom>
        </p:spPr>
      </p:pic>
      <p:sp>
        <p:nvSpPr>
          <p:cNvPr id="10" name="Shape 5"/>
          <p:cNvSpPr/>
          <p:nvPr/>
        </p:nvSpPr>
        <p:spPr>
          <a:xfrm>
            <a:off x="3290337" y="4568512"/>
            <a:ext cx="2507373" cy="0"/>
          </a:xfrm>
          <a:custGeom>
            <a:avLst/>
            <a:gdLst/>
            <a:ahLst/>
            <a:cxnLst/>
            <a:rect l="l" t="t" r="r" b="b"/>
            <a:pathLst>
              <a:path w="2507373">
                <a:moveTo>
                  <a:pt x="0" y="0"/>
                </a:moveTo>
                <a:moveTo>
                  <a:pt x="0" y="0"/>
                </a:moveTo>
                <a:lnTo>
                  <a:pt x="2507373" y="0"/>
                </a:lnTo>
              </a:path>
            </a:pathLst>
          </a:custGeom>
          <a:noFill/>
          <a:ln w="28575">
            <a:solidFill>
              <a:srgbClr val="FFFFFF"/>
            </a:solidFill>
            <a:prstDash val="solid"/>
            <a:headEnd type="none"/>
            <a:tailEnd type="none"/>
          </a:ln>
        </p:spPr>
        <p:txBody>
          <a:bodyPr/>
          <a:lstStyle/>
          <a:p>
            <a:endParaRPr lang="en-US"/>
          </a:p>
        </p:txBody>
      </p:sp>
      <p:sp>
        <p:nvSpPr>
          <p:cNvPr id="11" name="Shape 6"/>
          <p:cNvSpPr/>
          <p:nvPr/>
        </p:nvSpPr>
        <p:spPr>
          <a:xfrm>
            <a:off x="3290337" y="4263537"/>
            <a:ext cx="2523744" cy="230247"/>
          </a:xfrm>
          <a:custGeom>
            <a:avLst/>
            <a:gdLst/>
            <a:ahLst/>
            <a:cxnLst/>
            <a:rect l="l" t="t" r="r" b="b"/>
            <a:pathLst>
              <a:path w="2523744" h="230247">
                <a:moveTo>
                  <a:pt x="0" y="0"/>
                </a:moveTo>
                <a:moveTo>
                  <a:pt x="0" y="0"/>
                </a:moveTo>
                <a:lnTo>
                  <a:pt x="2523744" y="0"/>
                </a:lnTo>
                <a:lnTo>
                  <a:pt x="2523744" y="230247"/>
                </a:lnTo>
                <a:lnTo>
                  <a:pt x="0" y="230247"/>
                </a:lnTo>
                <a:close/>
              </a:path>
            </a:pathLst>
          </a:custGeom>
          <a:solidFill>
            <a:srgbClr val="FFFFFF">
              <a:alpha val="90000"/>
            </a:srgbClr>
          </a:solidFill>
          <a:ln/>
        </p:spPr>
        <p:txBody>
          <a:bodyPr/>
          <a:lstStyle/>
          <a:p>
            <a:endParaRPr lang="en-US"/>
          </a:p>
        </p:txBody>
      </p:sp>
      <p:sp>
        <p:nvSpPr>
          <p:cNvPr id="12" name="Text 7"/>
          <p:cNvSpPr/>
          <p:nvPr/>
        </p:nvSpPr>
        <p:spPr>
          <a:xfrm>
            <a:off x="4250378" y="1280450"/>
            <a:ext cx="688696" cy="786384"/>
          </a:xfrm>
          <a:prstGeom prst="rect">
            <a:avLst/>
          </a:prstGeom>
          <a:noFill/>
          <a:ln/>
        </p:spPr>
        <p:txBody>
          <a:bodyPr wrap="square" lIns="95250" tIns="95250" rIns="95250" bIns="95250" rtlCol="0" anchor="t">
            <a:spAutoFit/>
          </a:bodyPr>
          <a:lstStyle/>
          <a:p>
            <a:pPr marL="0" indent="0" algn="ctr">
              <a:lnSpc>
                <a:spcPct val="112500"/>
              </a:lnSpc>
              <a:spcBef>
                <a:spcPts val="375"/>
              </a:spcBef>
              <a:buNone/>
            </a:pPr>
            <a:r>
              <a:rPr lang="en-US" sz="3168" b="1" i="1" dirty="0">
                <a:solidFill>
                  <a:srgbClr val="2B76FD"/>
                </a:solidFill>
                <a:latin typeface="Noto Sans" pitchFamily="34" charset="0"/>
                <a:ea typeface="Noto Sans" pitchFamily="34" charset="-122"/>
                <a:cs typeface="Noto Sans" pitchFamily="34" charset="-120"/>
              </a:rPr>
              <a:t>02</a:t>
            </a:r>
            <a:endParaRPr lang="en-US" sz="1440" dirty="0"/>
          </a:p>
        </p:txBody>
      </p:sp>
      <p:sp>
        <p:nvSpPr>
          <p:cNvPr id="13" name="Shape 8"/>
          <p:cNvSpPr/>
          <p:nvPr/>
        </p:nvSpPr>
        <p:spPr>
          <a:xfrm>
            <a:off x="5906629" y="4568512"/>
            <a:ext cx="2507373" cy="0"/>
          </a:xfrm>
          <a:custGeom>
            <a:avLst/>
            <a:gdLst/>
            <a:ahLst/>
            <a:cxnLst/>
            <a:rect l="l" t="t" r="r" b="b"/>
            <a:pathLst>
              <a:path w="2507373">
                <a:moveTo>
                  <a:pt x="0" y="0"/>
                </a:moveTo>
                <a:moveTo>
                  <a:pt x="0" y="0"/>
                </a:moveTo>
                <a:lnTo>
                  <a:pt x="2507373" y="0"/>
                </a:lnTo>
              </a:path>
            </a:pathLst>
          </a:custGeom>
          <a:noFill/>
          <a:ln w="28575">
            <a:solidFill>
              <a:srgbClr val="FFFFFF"/>
            </a:solidFill>
            <a:prstDash val="solid"/>
            <a:headEnd type="none"/>
            <a:tailEnd type="none"/>
          </a:ln>
        </p:spPr>
        <p:txBody>
          <a:bodyPr/>
          <a:lstStyle/>
          <a:p>
            <a:endParaRPr lang="en-US"/>
          </a:p>
        </p:txBody>
      </p:sp>
      <p:sp>
        <p:nvSpPr>
          <p:cNvPr id="14" name="Shape 9"/>
          <p:cNvSpPr/>
          <p:nvPr/>
        </p:nvSpPr>
        <p:spPr>
          <a:xfrm>
            <a:off x="5906629" y="4263537"/>
            <a:ext cx="2523744" cy="230247"/>
          </a:xfrm>
          <a:custGeom>
            <a:avLst/>
            <a:gdLst/>
            <a:ahLst/>
            <a:cxnLst/>
            <a:rect l="l" t="t" r="r" b="b"/>
            <a:pathLst>
              <a:path w="2523744" h="230247">
                <a:moveTo>
                  <a:pt x="0" y="0"/>
                </a:moveTo>
                <a:moveTo>
                  <a:pt x="0" y="0"/>
                </a:moveTo>
                <a:lnTo>
                  <a:pt x="2523744" y="0"/>
                </a:lnTo>
                <a:lnTo>
                  <a:pt x="2523744" y="230247"/>
                </a:lnTo>
                <a:lnTo>
                  <a:pt x="0" y="230247"/>
                </a:lnTo>
                <a:close/>
              </a:path>
            </a:pathLst>
          </a:custGeom>
          <a:solidFill>
            <a:srgbClr val="FFFFFF">
              <a:alpha val="90000"/>
            </a:srgbClr>
          </a:solidFill>
          <a:ln/>
        </p:spPr>
        <p:txBody>
          <a:bodyPr/>
          <a:lstStyle/>
          <a:p>
            <a:endParaRPr lang="en-US"/>
          </a:p>
        </p:txBody>
      </p:sp>
      <p:sp>
        <p:nvSpPr>
          <p:cNvPr id="15" name="Text 10"/>
          <p:cNvSpPr/>
          <p:nvPr/>
        </p:nvSpPr>
        <p:spPr>
          <a:xfrm>
            <a:off x="6863457" y="1280450"/>
            <a:ext cx="688696" cy="786384"/>
          </a:xfrm>
          <a:prstGeom prst="rect">
            <a:avLst/>
          </a:prstGeom>
          <a:noFill/>
          <a:ln/>
        </p:spPr>
        <p:txBody>
          <a:bodyPr wrap="square" lIns="95250" tIns="95250" rIns="95250" bIns="95250" rtlCol="0" anchor="t">
            <a:spAutoFit/>
          </a:bodyPr>
          <a:lstStyle/>
          <a:p>
            <a:pPr marL="0" indent="0" algn="ctr">
              <a:lnSpc>
                <a:spcPct val="112500"/>
              </a:lnSpc>
              <a:spcBef>
                <a:spcPts val="375"/>
              </a:spcBef>
              <a:buNone/>
            </a:pPr>
            <a:r>
              <a:rPr lang="en-US" sz="3168" b="1" i="1" dirty="0">
                <a:solidFill>
                  <a:srgbClr val="2B76FD"/>
                </a:solidFill>
                <a:latin typeface="Noto Sans" pitchFamily="34" charset="0"/>
                <a:ea typeface="Noto Sans" pitchFamily="34" charset="-122"/>
                <a:cs typeface="Noto Sans" pitchFamily="34" charset="-120"/>
              </a:rPr>
              <a:t>03</a:t>
            </a:r>
            <a:endParaRPr lang="en-US" sz="1440" dirty="0"/>
          </a:p>
        </p:txBody>
      </p:sp>
      <p:sp>
        <p:nvSpPr>
          <p:cNvPr id="16" name="Text 11"/>
          <p:cNvSpPr/>
          <p:nvPr/>
        </p:nvSpPr>
        <p:spPr>
          <a:xfrm>
            <a:off x="674046" y="2163064"/>
            <a:ext cx="2389736" cy="347472"/>
          </a:xfrm>
          <a:prstGeom prst="rect">
            <a:avLst/>
          </a:prstGeom>
          <a:noFill/>
          <a:ln/>
        </p:spPr>
        <p:txBody>
          <a:bodyPr wrap="square" lIns="95250" tIns="95250" rIns="95250" bIns="95250" rtlCol="0" anchor="ctr"/>
          <a:lstStyle/>
          <a:p>
            <a:pPr marL="0" indent="0" algn="ctr">
              <a:lnSpc>
                <a:spcPct val="100000"/>
              </a:lnSpc>
              <a:spcBef>
                <a:spcPts val="375"/>
              </a:spcBef>
              <a:buNone/>
            </a:pPr>
            <a:r>
              <a:rPr lang="en-US" sz="1296" b="1" i="1" dirty="0">
                <a:solidFill>
                  <a:srgbClr val="193AB9"/>
                </a:solidFill>
                <a:latin typeface="Noto Sans" pitchFamily="34" charset="0"/>
                <a:ea typeface="Noto Sans" pitchFamily="34" charset="-122"/>
                <a:cs typeface="Noto Sans" pitchFamily="34" charset="-120"/>
              </a:rPr>
              <a:t>Locality Sensitive Hashing (LSH)</a:t>
            </a:r>
            <a:endParaRPr lang="en-US" sz="1440" dirty="0"/>
          </a:p>
        </p:txBody>
      </p:sp>
      <p:sp>
        <p:nvSpPr>
          <p:cNvPr id="17" name="Text 12"/>
          <p:cNvSpPr/>
          <p:nvPr/>
        </p:nvSpPr>
        <p:spPr>
          <a:xfrm>
            <a:off x="687068" y="2561156"/>
            <a:ext cx="2310556" cy="1713290"/>
          </a:xfrm>
          <a:prstGeom prst="rect">
            <a:avLst/>
          </a:prstGeom>
          <a:noFill/>
          <a:ln/>
        </p:spPr>
        <p:txBody>
          <a:bodyPr wrap="square" lIns="95250" tIns="95250" rIns="95250" bIns="95250" rtlCol="0" anchor="t">
            <a:spAutoFit/>
          </a:bodyPr>
          <a:lstStyle/>
          <a:p>
            <a:pPr marL="171450" indent="-171450" algn="just">
              <a:lnSpc>
                <a:spcPct val="100000"/>
              </a:lnSpc>
              <a:spcBef>
                <a:spcPts val="375"/>
              </a:spcBef>
              <a:buFont typeface="Arial" panose="020B0604020202020204" pitchFamily="34" charset="0"/>
              <a:buChar char="•"/>
            </a:pPr>
            <a:r>
              <a:rPr lang="en-US" sz="1152" b="1" dirty="0" err="1">
                <a:solidFill>
                  <a:srgbClr val="00070F"/>
                </a:solidFill>
                <a:latin typeface="Noto Sans" pitchFamily="34" charset="0"/>
                <a:ea typeface="Noto Sans" pitchFamily="34" charset="-122"/>
                <a:cs typeface="Noto Sans" pitchFamily="34" charset="-120"/>
              </a:rPr>
              <a:t>Mục</a:t>
            </a:r>
            <a:r>
              <a:rPr lang="en-US" sz="1152" b="1" dirty="0">
                <a:solidFill>
                  <a:srgbClr val="00070F"/>
                </a:solidFill>
                <a:latin typeface="Noto Sans" pitchFamily="34" charset="0"/>
                <a:ea typeface="Noto Sans" pitchFamily="34" charset="-122"/>
                <a:cs typeface="Noto Sans" pitchFamily="34" charset="-120"/>
              </a:rPr>
              <a:t> đích:</a:t>
            </a:r>
            <a:r>
              <a:rPr lang="en-US" sz="1152" dirty="0">
                <a:solidFill>
                  <a:srgbClr val="00070F"/>
                </a:solidFill>
                <a:latin typeface="Noto Sans" pitchFamily="34" charset="0"/>
                <a:ea typeface="Noto Sans" pitchFamily="34" charset="-122"/>
                <a:cs typeface="Noto Sans" pitchFamily="34" charset="-120"/>
              </a:rPr>
              <a:t> Nén embedding thành mã </a:t>
            </a:r>
            <a:r>
              <a:rPr lang="en-US" sz="1152" dirty="0" err="1">
                <a:solidFill>
                  <a:srgbClr val="00070F"/>
                </a:solidFill>
                <a:latin typeface="Noto Sans" pitchFamily="34" charset="0"/>
                <a:ea typeface="Noto Sans" pitchFamily="34" charset="-122"/>
                <a:cs typeface="Noto Sans" pitchFamily="34" charset="-120"/>
              </a:rPr>
              <a:t>gọn</a:t>
            </a:r>
            <a:r>
              <a:rPr lang="en-US" sz="1152" dirty="0">
                <a:solidFill>
                  <a:srgbClr val="00070F"/>
                </a:solidFill>
                <a:latin typeface="Noto Sans" pitchFamily="34" charset="0"/>
                <a:ea typeface="Noto Sans" pitchFamily="34" charset="-122"/>
                <a:cs typeface="Noto Sans" pitchFamily="34" charset="-120"/>
              </a:rPr>
              <a:t> </a:t>
            </a:r>
            <a:r>
              <a:rPr lang="en-US" sz="1152" dirty="0" err="1">
                <a:solidFill>
                  <a:srgbClr val="00070F"/>
                </a:solidFill>
                <a:latin typeface="Noto Sans" pitchFamily="34" charset="0"/>
                <a:ea typeface="Noto Sans" pitchFamily="34" charset="-122"/>
                <a:cs typeface="Noto Sans" pitchFamily="34" charset="-120"/>
              </a:rPr>
              <a:t>nhẹ</a:t>
            </a:r>
            <a:r>
              <a:rPr lang="en-US" sz="1152" dirty="0">
                <a:solidFill>
                  <a:srgbClr val="00070F"/>
                </a:solidFill>
                <a:latin typeface="Noto Sans" pitchFamily="34" charset="0"/>
                <a:ea typeface="Noto Sans" pitchFamily="34" charset="-122"/>
                <a:cs typeface="Noto Sans" pitchFamily="34" charset="-120"/>
              </a:rPr>
              <a:t>
</a:t>
            </a:r>
            <a:r>
              <a:rPr lang="en-US" sz="1152" b="1" dirty="0">
                <a:solidFill>
                  <a:srgbClr val="00070F"/>
                </a:solidFill>
                <a:latin typeface="Noto Sans" pitchFamily="34" charset="0"/>
                <a:ea typeface="Noto Sans" pitchFamily="34" charset="-122"/>
                <a:cs typeface="Noto Sans" pitchFamily="34" charset="-120"/>
              </a:rPr>
              <a:t>Cosine sketch:</a:t>
            </a:r>
            <a:r>
              <a:rPr lang="en-US" sz="1152" dirty="0">
                <a:solidFill>
                  <a:srgbClr val="00070F"/>
                </a:solidFill>
                <a:latin typeface="Noto Sans" pitchFamily="34" charset="0"/>
                <a:ea typeface="Noto Sans" pitchFamily="34" charset="-122"/>
                <a:cs typeface="Noto Sans" pitchFamily="34" charset="-120"/>
              </a:rPr>
              <a:t> Vector nhị phân, Hamming distance ước lượng    độ </a:t>
            </a:r>
            <a:r>
              <a:rPr lang="en-US" sz="1152" dirty="0" err="1">
                <a:solidFill>
                  <a:srgbClr val="00070F"/>
                </a:solidFill>
                <a:latin typeface="Noto Sans" pitchFamily="34" charset="0"/>
                <a:ea typeface="Noto Sans" pitchFamily="34" charset="-122"/>
                <a:cs typeface="Noto Sans" pitchFamily="34" charset="-120"/>
              </a:rPr>
              <a:t>tương</a:t>
            </a:r>
            <a:r>
              <a:rPr lang="en-US" sz="1152" dirty="0">
                <a:solidFill>
                  <a:srgbClr val="00070F"/>
                </a:solidFill>
                <a:latin typeface="Noto Sans" pitchFamily="34" charset="0"/>
                <a:ea typeface="Noto Sans" pitchFamily="34" charset="-122"/>
                <a:cs typeface="Noto Sans" pitchFamily="34" charset="-120"/>
              </a:rPr>
              <a:t> </a:t>
            </a:r>
            <a:r>
              <a:rPr lang="en-US" sz="1152" dirty="0" err="1">
                <a:solidFill>
                  <a:srgbClr val="00070F"/>
                </a:solidFill>
                <a:latin typeface="Noto Sans" pitchFamily="34" charset="0"/>
                <a:ea typeface="Noto Sans" pitchFamily="34" charset="-122"/>
                <a:cs typeface="Noto Sans" pitchFamily="34" charset="-120"/>
              </a:rPr>
              <a:t>đồng</a:t>
            </a:r>
            <a:r>
              <a:rPr lang="en-US" sz="1152" dirty="0">
                <a:solidFill>
                  <a:srgbClr val="00070F"/>
                </a:solidFill>
                <a:latin typeface="Noto Sans" pitchFamily="34" charset="0"/>
                <a:ea typeface="Noto Sans" pitchFamily="34" charset="-122"/>
                <a:cs typeface="Noto Sans" pitchFamily="34" charset="-120"/>
              </a:rPr>
              <a:t>
</a:t>
            </a:r>
            <a:r>
              <a:rPr lang="en-US" sz="1152" b="1" dirty="0" err="1">
                <a:solidFill>
                  <a:srgbClr val="00070F"/>
                </a:solidFill>
                <a:latin typeface="Noto Sans" pitchFamily="34" charset="0"/>
                <a:ea typeface="Noto Sans" pitchFamily="34" charset="-122"/>
                <a:cs typeface="Noto Sans" pitchFamily="34" charset="-120"/>
              </a:rPr>
              <a:t>Ưu</a:t>
            </a:r>
            <a:r>
              <a:rPr lang="en-US" sz="1152" b="1" dirty="0">
                <a:solidFill>
                  <a:srgbClr val="00070F"/>
                </a:solidFill>
                <a:latin typeface="Noto Sans" pitchFamily="34" charset="0"/>
                <a:ea typeface="Noto Sans" pitchFamily="34" charset="-122"/>
                <a:cs typeface="Noto Sans" pitchFamily="34" charset="-120"/>
              </a:rPr>
              <a:t> điểm:</a:t>
            </a:r>
            <a:r>
              <a:rPr lang="en-US" sz="1152" dirty="0">
                <a:solidFill>
                  <a:srgbClr val="00070F"/>
                </a:solidFill>
                <a:latin typeface="Noto Sans" pitchFamily="34" charset="0"/>
                <a:ea typeface="Noto Sans" pitchFamily="34" charset="-122"/>
                <a:cs typeface="Noto Sans" pitchFamily="34" charset="-120"/>
              </a:rPr>
              <a:t> Lưu trữ cơ sở dữ liệu rất lớn không cần embedding </a:t>
            </a:r>
            <a:r>
              <a:rPr lang="en-US" sz="1152" dirty="0" err="1">
                <a:solidFill>
                  <a:srgbClr val="00070F"/>
                </a:solidFill>
                <a:latin typeface="Noto Sans" pitchFamily="34" charset="0"/>
                <a:ea typeface="Noto Sans" pitchFamily="34" charset="-122"/>
                <a:cs typeface="Noto Sans" pitchFamily="34" charset="-120"/>
              </a:rPr>
              <a:t>gốc</a:t>
            </a:r>
            <a:endParaRPr lang="en-US" sz="1440" dirty="0"/>
          </a:p>
        </p:txBody>
      </p:sp>
      <p:sp>
        <p:nvSpPr>
          <p:cNvPr id="18" name="Text 13"/>
          <p:cNvSpPr/>
          <p:nvPr/>
        </p:nvSpPr>
        <p:spPr>
          <a:xfrm>
            <a:off x="3377132" y="2081905"/>
            <a:ext cx="2389736" cy="347472"/>
          </a:xfrm>
          <a:prstGeom prst="rect">
            <a:avLst/>
          </a:prstGeom>
          <a:noFill/>
          <a:ln/>
        </p:spPr>
        <p:txBody>
          <a:bodyPr wrap="square" lIns="95250" tIns="95250" rIns="95250" bIns="95250" rtlCol="0" anchor="ctr"/>
          <a:lstStyle/>
          <a:p>
            <a:pPr marL="0" indent="0">
              <a:lnSpc>
                <a:spcPct val="100000"/>
              </a:lnSpc>
              <a:spcBef>
                <a:spcPts val="375"/>
              </a:spcBef>
              <a:buNone/>
            </a:pPr>
            <a:r>
              <a:rPr lang="en-US" sz="1296" b="1" i="1" dirty="0">
                <a:solidFill>
                  <a:srgbClr val="193AB9"/>
                </a:solidFill>
                <a:latin typeface="Noto Sans" pitchFamily="34" charset="0"/>
                <a:ea typeface="Noto Sans" pitchFamily="34" charset="-122"/>
                <a:cs typeface="Noto Sans" pitchFamily="34" charset="-120"/>
              </a:rPr>
              <a:t>Product Quantization (PQ)</a:t>
            </a:r>
            <a:endParaRPr lang="en-US" sz="1440" dirty="0"/>
          </a:p>
        </p:txBody>
      </p:sp>
      <p:sp>
        <p:nvSpPr>
          <p:cNvPr id="19" name="Text 14"/>
          <p:cNvSpPr/>
          <p:nvPr/>
        </p:nvSpPr>
        <p:spPr>
          <a:xfrm>
            <a:off x="3377132" y="2579475"/>
            <a:ext cx="2253304" cy="1069848"/>
          </a:xfrm>
          <a:prstGeom prst="rect">
            <a:avLst/>
          </a:prstGeom>
          <a:noFill/>
          <a:ln/>
        </p:spPr>
        <p:txBody>
          <a:bodyPr wrap="square" lIns="95250" tIns="95250" rIns="95250" bIns="95250" rtlCol="0" anchor="t">
            <a:spAutoFit/>
          </a:bodyPr>
          <a:lstStyle/>
          <a:p>
            <a:pPr marL="0" indent="0" algn="just">
              <a:lnSpc>
                <a:spcPct val="100000"/>
              </a:lnSpc>
              <a:spcBef>
                <a:spcPts val="375"/>
              </a:spcBef>
              <a:buNone/>
            </a:pPr>
            <a:r>
              <a:rPr lang="en-US" sz="1152" dirty="0">
                <a:solidFill>
                  <a:srgbClr val="00070F"/>
                </a:solidFill>
                <a:latin typeface="Noto Sans" pitchFamily="34" charset="0"/>
                <a:ea typeface="Noto Sans" pitchFamily="34" charset="-122"/>
                <a:cs typeface="Noto Sans" pitchFamily="34" charset="-120"/>
              </a:rPr>
              <a:t>• Giải pháp mạnh mẽ thay thế mã nhị phân</a:t>
            </a:r>
            <a:endParaRPr lang="en-US" sz="1440" dirty="0"/>
          </a:p>
          <a:p>
            <a:pPr marL="0" indent="0" algn="just">
              <a:lnSpc>
                <a:spcPct val="100000"/>
              </a:lnSpc>
              <a:spcBef>
                <a:spcPts val="375"/>
              </a:spcBef>
              <a:buNone/>
            </a:pPr>
            <a:r>
              <a:rPr lang="en-US" sz="1152" dirty="0">
                <a:solidFill>
                  <a:srgbClr val="00070F"/>
                </a:solidFill>
                <a:latin typeface="Noto Sans" pitchFamily="34" charset="0"/>
                <a:ea typeface="Noto Sans" pitchFamily="34" charset="-122"/>
                <a:cs typeface="Noto Sans" pitchFamily="34" charset="-120"/>
              </a:rPr>
              <a:t>• Nén vector hiệu quả, cân bằng độ chính xác và tốc độ</a:t>
            </a:r>
            <a:endParaRPr lang="en-US" sz="1440" dirty="0"/>
          </a:p>
        </p:txBody>
      </p:sp>
      <p:sp>
        <p:nvSpPr>
          <p:cNvPr id="20" name="Text 15"/>
          <p:cNvSpPr/>
          <p:nvPr/>
        </p:nvSpPr>
        <p:spPr>
          <a:xfrm>
            <a:off x="6012937" y="2081905"/>
            <a:ext cx="2389736" cy="347472"/>
          </a:xfrm>
          <a:prstGeom prst="rect">
            <a:avLst/>
          </a:prstGeom>
          <a:noFill/>
          <a:ln/>
        </p:spPr>
        <p:txBody>
          <a:bodyPr wrap="square" lIns="95250" tIns="95250" rIns="95250" bIns="95250" rtlCol="0" anchor="ctr"/>
          <a:lstStyle/>
          <a:p>
            <a:pPr marL="0" indent="0" algn="ctr">
              <a:lnSpc>
                <a:spcPct val="100000"/>
              </a:lnSpc>
              <a:spcBef>
                <a:spcPts val="375"/>
              </a:spcBef>
              <a:buNone/>
            </a:pPr>
            <a:r>
              <a:rPr lang="en-US" sz="1296" b="1" i="1" dirty="0">
                <a:solidFill>
                  <a:srgbClr val="193AB9"/>
                </a:solidFill>
                <a:latin typeface="Noto Sans" pitchFamily="34" charset="0"/>
                <a:ea typeface="Noto Sans" pitchFamily="34" charset="-122"/>
                <a:cs typeface="Noto Sans" pitchFamily="34" charset="-120"/>
              </a:rPr>
              <a:t>Hierarchical Navigable Small World (HNSW)</a:t>
            </a:r>
            <a:endParaRPr lang="en-US" sz="1440" dirty="0"/>
          </a:p>
        </p:txBody>
      </p:sp>
      <p:sp>
        <p:nvSpPr>
          <p:cNvPr id="21" name="Text 16"/>
          <p:cNvSpPr/>
          <p:nvPr/>
        </p:nvSpPr>
        <p:spPr>
          <a:xfrm>
            <a:off x="6050489" y="2579475"/>
            <a:ext cx="2253304" cy="1069848"/>
          </a:xfrm>
          <a:prstGeom prst="rect">
            <a:avLst/>
          </a:prstGeom>
          <a:noFill/>
          <a:ln/>
        </p:spPr>
        <p:txBody>
          <a:bodyPr wrap="square" lIns="95250" tIns="95250" rIns="95250" bIns="95250" rtlCol="0" anchor="t">
            <a:spAutoFit/>
          </a:bodyPr>
          <a:lstStyle/>
          <a:p>
            <a:pPr marL="0" indent="0" algn="just">
              <a:lnSpc>
                <a:spcPct val="100000"/>
              </a:lnSpc>
              <a:spcBef>
                <a:spcPts val="375"/>
              </a:spcBef>
              <a:buNone/>
            </a:pPr>
            <a:r>
              <a:rPr lang="en-US" sz="1152" dirty="0">
                <a:solidFill>
                  <a:srgbClr val="00070F"/>
                </a:solidFill>
                <a:latin typeface="Noto Sans" pitchFamily="34" charset="0"/>
                <a:ea typeface="Noto Sans" pitchFamily="34" charset="-122"/>
                <a:cs typeface="Noto Sans" pitchFamily="34" charset="-120"/>
              </a:rPr>
              <a:t>• Phổ biến nhất cho tập dữ liệu quy mô trung bình  (&lt;10M vectors) </a:t>
            </a:r>
            <a:endParaRPr lang="en-US" sz="1440" dirty="0"/>
          </a:p>
          <a:p>
            <a:pPr marL="0" indent="0" algn="just">
              <a:lnSpc>
                <a:spcPct val="100000"/>
              </a:lnSpc>
              <a:spcBef>
                <a:spcPts val="375"/>
              </a:spcBef>
              <a:buNone/>
            </a:pPr>
            <a:r>
              <a:rPr lang="en-US" sz="1152" dirty="0">
                <a:solidFill>
                  <a:srgbClr val="00070F"/>
                </a:solidFill>
                <a:latin typeface="Noto Sans" pitchFamily="34" charset="0"/>
                <a:ea typeface="Noto Sans" pitchFamily="34" charset="-122"/>
                <a:cs typeface="Noto Sans" pitchFamily="34" charset="-120"/>
              </a:rPr>
              <a:t>• Triển khai trong HNSWlib</a:t>
            </a:r>
            <a:endParaRPr lang="en-US" sz="144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33338" y="437846"/>
            <a:ext cx="8396337" cy="594360"/>
          </a:xfrm>
          <a:prstGeom prst="rect">
            <a:avLst/>
          </a:prstGeom>
          <a:noFill/>
          <a:ln/>
        </p:spPr>
        <p:txBody>
          <a:bodyPr wrap="square" lIns="95250" tIns="95250" rIns="95250" bIns="95250" rtlCol="0" anchor="t">
            <a:spAutoFit/>
          </a:bodyPr>
          <a:lstStyle/>
          <a:p>
            <a:pPr marL="0" indent="0">
              <a:lnSpc>
                <a:spcPct val="112500"/>
              </a:lnSpc>
              <a:spcBef>
                <a:spcPts val="375"/>
              </a:spcBef>
              <a:buNone/>
            </a:pPr>
            <a:r>
              <a:rPr lang="en-US" sz="2160" b="1" dirty="0">
                <a:solidFill>
                  <a:srgbClr val="193AB9"/>
                </a:solidFill>
                <a:latin typeface="Noto Sans" pitchFamily="34" charset="0"/>
                <a:ea typeface="Noto Sans" pitchFamily="34" charset="-122"/>
                <a:cs typeface="Noto Sans" pitchFamily="34" charset="-120"/>
              </a:rPr>
              <a:t>2.2. Các gói phần mềm </a:t>
            </a:r>
            <a:endParaRPr lang="en-US" sz="1440" dirty="0"/>
          </a:p>
        </p:txBody>
      </p:sp>
      <p:pic>
        <p:nvPicPr>
          <p:cNvPr id="3" name="Image 0" descr="preencoded.png"/>
          <p:cNvPicPr>
            <a:picLocks noChangeAspect="1"/>
          </p:cNvPicPr>
          <p:nvPr/>
        </p:nvPicPr>
        <p:blipFill>
          <a:blip r:embed="rId4"/>
          <a:stretch>
            <a:fillRect/>
          </a:stretch>
        </p:blipFill>
        <p:spPr>
          <a:xfrm>
            <a:off x="8615113" y="1256853"/>
            <a:ext cx="214562" cy="214562"/>
          </a:xfrm>
          <a:prstGeom prst="rect">
            <a:avLst/>
          </a:prstGeom>
        </p:spPr>
      </p:pic>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779983" y="1527175"/>
          <a:ext cx="7523809" cy="2581608"/>
        </p:xfrm>
        <a:graphic>
          <a:graphicData uri="http://schemas.openxmlformats.org/drawingml/2006/table">
            <a:tbl>
              <a:tblPr/>
              <a:tblGrid>
                <a:gridCol w="2013337">
                  <a:extLst>
                    <a:ext uri="{9D8B030D-6E8A-4147-A177-3AD203B41FA5}">
                      <a16:colId xmlns:a16="http://schemas.microsoft.com/office/drawing/2014/main" val="20000"/>
                    </a:ext>
                  </a:extLst>
                </a:gridCol>
                <a:gridCol w="2755236">
                  <a:extLst>
                    <a:ext uri="{9D8B030D-6E8A-4147-A177-3AD203B41FA5}">
                      <a16:colId xmlns:a16="http://schemas.microsoft.com/office/drawing/2014/main" val="20001"/>
                    </a:ext>
                  </a:extLst>
                </a:gridCol>
                <a:gridCol w="2755236">
                  <a:extLst>
                    <a:ext uri="{9D8B030D-6E8A-4147-A177-3AD203B41FA5}">
                      <a16:colId xmlns:a16="http://schemas.microsoft.com/office/drawing/2014/main" val="20002"/>
                    </a:ext>
                  </a:extLst>
                </a:gridCol>
              </a:tblGrid>
              <a:tr h="645402">
                <a:tc>
                  <a:txBody>
                    <a:bodyPr/>
                    <a:lstStyle/>
                    <a:p>
                      <a:pPr marL="0" indent="0" algn="ctr">
                        <a:buNone/>
                      </a:pPr>
                      <a:r>
                        <a:rPr lang="en-US" sz="1584" b="1" u="none" dirty="0">
                          <a:solidFill>
                            <a:srgbClr val="00070F"/>
                          </a:solidFill>
                          <a:latin typeface="Noto Sans" pitchFamily="34" charset="0"/>
                          <a:ea typeface="Noto Sans" pitchFamily="34" charset="-122"/>
                          <a:cs typeface="Noto Sans" pitchFamily="34" charset="-120"/>
                        </a:rPr>
                        <a:t>Thư viện</a:t>
                      </a:r>
                      <a:endParaRPr lang="en-US" sz="1584" dirty="0">
                        <a:latin typeface="Noto Sans" charset="0"/>
                        <a:ea typeface="Noto Sans" charset="0"/>
                        <a:cs typeface="Noto Sans" charset="0"/>
                      </a:endParaRPr>
                    </a:p>
                  </a:txBody>
                  <a:tcPr anchor="ctr">
                    <a:lnL w="19050" cap="flat" cmpd="sng" algn="ctr">
                      <a:solidFill>
                        <a:srgbClr val="EEECE1"/>
                      </a:solidFill>
                      <a:prstDash val="solid"/>
                      <a:round/>
                      <a:headEnd type="none" w="med" len="med"/>
                      <a:tailEnd type="none" w="med" len="med"/>
                    </a:lnL>
                    <a:lnR w="19050" cap="flat" cmpd="sng" algn="ctr">
                      <a:solidFill>
                        <a:srgbClr val="EEECE1"/>
                      </a:solidFill>
                      <a:prstDash val="solid"/>
                      <a:round/>
                      <a:headEnd type="none" w="med" len="med"/>
                      <a:tailEnd type="none" w="med" len="med"/>
                    </a:lnR>
                    <a:lnT w="19050" cap="flat" cmpd="sng" algn="ctr">
                      <a:solidFill>
                        <a:srgbClr val="EEECE1"/>
                      </a:solidFill>
                      <a:prstDash val="solid"/>
                      <a:round/>
                      <a:headEnd type="none" w="med" len="med"/>
                      <a:tailEnd type="none" w="med" len="med"/>
                    </a:lnT>
                    <a:lnB w="19050" cap="flat" cmpd="sng" algn="ctr">
                      <a:solidFill>
                        <a:srgbClr val="EEECE1"/>
                      </a:solidFill>
                      <a:prstDash val="solid"/>
                      <a:round/>
                      <a:headEnd type="none" w="med" len="med"/>
                      <a:tailEnd type="none" w="med" len="med"/>
                    </a:lnB>
                    <a:solidFill>
                      <a:srgbClr val="3A85FF"/>
                    </a:solidFill>
                  </a:tcPr>
                </a:tc>
                <a:tc>
                  <a:txBody>
                    <a:bodyPr/>
                    <a:lstStyle/>
                    <a:p>
                      <a:pPr marL="0" indent="0" algn="ctr">
                        <a:buNone/>
                      </a:pPr>
                      <a:r>
                        <a:rPr lang="en-US" sz="1584" b="1" u="none" dirty="0">
                          <a:solidFill>
                            <a:srgbClr val="00070F"/>
                          </a:solidFill>
                          <a:latin typeface="Noto Sans" pitchFamily="34" charset="0"/>
                          <a:ea typeface="Noto Sans" pitchFamily="34" charset="-122"/>
                          <a:cs typeface="Noto Sans" pitchFamily="34" charset="-120"/>
                        </a:rPr>
                        <a:t>Đặc điểm</a:t>
                      </a:r>
                      <a:endParaRPr lang="en-US" sz="1584" dirty="0">
                        <a:latin typeface="Noto Sans" charset="0"/>
                        <a:ea typeface="Noto Sans" charset="0"/>
                        <a:cs typeface="Noto Sans" charset="0"/>
                      </a:endParaRPr>
                    </a:p>
                  </a:txBody>
                  <a:tcPr anchor="ctr">
                    <a:lnL w="19050" cap="flat" cmpd="sng" algn="ctr">
                      <a:solidFill>
                        <a:srgbClr val="EEECE1"/>
                      </a:solidFill>
                      <a:prstDash val="solid"/>
                      <a:round/>
                      <a:headEnd type="none" w="med" len="med"/>
                      <a:tailEnd type="none" w="med" len="med"/>
                    </a:lnL>
                    <a:lnR w="19050" cap="flat" cmpd="sng" algn="ctr">
                      <a:solidFill>
                        <a:srgbClr val="EEECE1"/>
                      </a:solidFill>
                      <a:prstDash val="solid"/>
                      <a:round/>
                      <a:headEnd type="none" w="med" len="med"/>
                      <a:tailEnd type="none" w="med" len="med"/>
                    </a:lnR>
                    <a:lnT w="19050" cap="flat" cmpd="sng" algn="ctr">
                      <a:solidFill>
                        <a:srgbClr val="EEECE1"/>
                      </a:solidFill>
                      <a:prstDash val="solid"/>
                      <a:round/>
                      <a:headEnd type="none" w="med" len="med"/>
                      <a:tailEnd type="none" w="med" len="med"/>
                    </a:lnT>
                    <a:lnB w="19050" cap="flat" cmpd="sng" algn="ctr">
                      <a:solidFill>
                        <a:srgbClr val="EEECE1"/>
                      </a:solidFill>
                      <a:prstDash val="solid"/>
                      <a:round/>
                      <a:headEnd type="none" w="med" len="med"/>
                      <a:tailEnd type="none" w="med" len="med"/>
                    </a:lnB>
                    <a:solidFill>
                      <a:srgbClr val="3A85FF"/>
                    </a:solidFill>
                  </a:tcPr>
                </a:tc>
                <a:tc>
                  <a:txBody>
                    <a:bodyPr/>
                    <a:lstStyle/>
                    <a:p>
                      <a:pPr marL="0" indent="0" algn="ctr">
                        <a:buNone/>
                      </a:pPr>
                      <a:r>
                        <a:rPr lang="en-US" sz="1584" b="1" u="none" dirty="0">
                          <a:solidFill>
                            <a:srgbClr val="00070F"/>
                          </a:solidFill>
                          <a:latin typeface="Noto Sans" pitchFamily="34" charset="0"/>
                          <a:ea typeface="Noto Sans" pitchFamily="34" charset="-122"/>
                          <a:cs typeface="Noto Sans" pitchFamily="34" charset="-120"/>
                        </a:rPr>
                        <a:t>Quan hệ với FAISS</a:t>
                      </a:r>
                      <a:endParaRPr lang="en-US" sz="1584" dirty="0">
                        <a:latin typeface="Noto Sans" charset="0"/>
                        <a:ea typeface="Noto Sans" charset="0"/>
                        <a:cs typeface="Noto Sans" charset="0"/>
                      </a:endParaRPr>
                    </a:p>
                  </a:txBody>
                  <a:tcPr anchor="ctr">
                    <a:lnL w="19050" cap="flat" cmpd="sng" algn="ctr">
                      <a:solidFill>
                        <a:srgbClr val="EEECE1"/>
                      </a:solidFill>
                      <a:prstDash val="solid"/>
                      <a:round/>
                      <a:headEnd type="none" w="med" len="med"/>
                      <a:tailEnd type="none" w="med" len="med"/>
                    </a:lnL>
                    <a:lnR w="19050" cap="flat" cmpd="sng" algn="ctr">
                      <a:solidFill>
                        <a:srgbClr val="EEECE1"/>
                      </a:solidFill>
                      <a:prstDash val="solid"/>
                      <a:round/>
                      <a:headEnd type="none" w="med" len="med"/>
                      <a:tailEnd type="none" w="med" len="med"/>
                    </a:lnR>
                    <a:lnT w="19050" cap="flat" cmpd="sng" algn="ctr">
                      <a:solidFill>
                        <a:srgbClr val="EEECE1"/>
                      </a:solidFill>
                      <a:prstDash val="solid"/>
                      <a:round/>
                      <a:headEnd type="none" w="med" len="med"/>
                      <a:tailEnd type="none" w="med" len="med"/>
                    </a:lnT>
                    <a:lnB w="19050" cap="flat" cmpd="sng" algn="ctr">
                      <a:solidFill>
                        <a:srgbClr val="EEECE1"/>
                      </a:solidFill>
                      <a:prstDash val="solid"/>
                      <a:round/>
                      <a:headEnd type="none" w="med" len="med"/>
                      <a:tailEnd type="none" w="med" len="med"/>
                    </a:lnB>
                    <a:solidFill>
                      <a:srgbClr val="3A85FF"/>
                    </a:solidFill>
                  </a:tcPr>
                </a:tc>
                <a:extLst>
                  <a:ext uri="{0D108BD9-81ED-4DB2-BD59-A6C34878D82A}">
                    <a16:rowId xmlns:a16="http://schemas.microsoft.com/office/drawing/2014/main" val="10000"/>
                  </a:ext>
                </a:extLst>
              </a:tr>
              <a:tr h="645402">
                <a:tc>
                  <a:txBody>
                    <a:bodyPr/>
                    <a:lstStyle/>
                    <a:p>
                      <a:pPr marL="0" indent="0" algn="l">
                        <a:buNone/>
                      </a:pPr>
                      <a:r>
                        <a:rPr lang="en-US" sz="1440" b="1" u="none" dirty="0">
                          <a:solidFill>
                            <a:srgbClr val="00070F"/>
                          </a:solidFill>
                          <a:latin typeface="Noto Sans" pitchFamily="34" charset="0"/>
                          <a:ea typeface="Noto Sans" pitchFamily="34" charset="-122"/>
                          <a:cs typeface="Noto Sans" pitchFamily="34" charset="-120"/>
                        </a:rPr>
                        <a:t>SCANN</a:t>
                      </a:r>
                      <a:endParaRPr lang="en-US" sz="1440" dirty="0">
                        <a:latin typeface="Noto Sans" charset="0"/>
                        <a:ea typeface="Noto Sans" charset="0"/>
                        <a:cs typeface="Noto Sans" charset="0"/>
                      </a:endParaRPr>
                    </a:p>
                  </a:txBody>
                  <a:tcPr anchor="ctr">
                    <a:lnL w="19050" cap="flat" cmpd="sng" algn="ctr">
                      <a:solidFill>
                        <a:srgbClr val="EEECE1"/>
                      </a:solidFill>
                      <a:prstDash val="solid"/>
                      <a:round/>
                      <a:headEnd type="none" w="med" len="med"/>
                      <a:tailEnd type="none" w="med" len="med"/>
                    </a:lnL>
                    <a:lnR w="19050" cap="flat" cmpd="sng" algn="ctr">
                      <a:solidFill>
                        <a:srgbClr val="EEECE1"/>
                      </a:solidFill>
                      <a:prstDash val="solid"/>
                      <a:round/>
                      <a:headEnd type="none" w="med" len="med"/>
                      <a:tailEnd type="none" w="med" len="med"/>
                    </a:lnR>
                    <a:lnT w="19050" cap="flat" cmpd="sng" algn="ctr">
                      <a:solidFill>
                        <a:srgbClr val="EEECE1"/>
                      </a:solidFill>
                      <a:prstDash val="solid"/>
                      <a:round/>
                      <a:headEnd type="none" w="med" len="med"/>
                      <a:tailEnd type="none" w="med" len="med"/>
                    </a:lnT>
                    <a:lnB w="19050" cap="flat" cmpd="sng" algn="ctr">
                      <a:solidFill>
                        <a:srgbClr val="EEECE1"/>
                      </a:solidFill>
                      <a:prstDash val="solid"/>
                      <a:round/>
                      <a:headEnd type="none" w="med" len="med"/>
                      <a:tailEnd type="none" w="med" len="med"/>
                    </a:lnB>
                    <a:solidFill>
                      <a:srgbClr val="C4DAFF"/>
                    </a:solidFill>
                  </a:tcPr>
                </a:tc>
                <a:tc>
                  <a:txBody>
                    <a:bodyPr/>
                    <a:lstStyle/>
                    <a:p>
                      <a:pPr marL="0" indent="0" algn="l">
                        <a:buNone/>
                      </a:pPr>
                      <a:r>
                        <a:rPr lang="en-US" sz="1296" u="none" dirty="0">
                          <a:solidFill>
                            <a:srgbClr val="00070F"/>
                          </a:solidFill>
                          <a:latin typeface="Noto Sans" pitchFamily="34" charset="0"/>
                          <a:ea typeface="Noto Sans" pitchFamily="34" charset="-122"/>
                          <a:cs typeface="Noto Sans" pitchFamily="34" charset="-120"/>
                        </a:rPr>
                        <a:t>Tối ưu IVFPQ trên SIMD</a:t>
                      </a:r>
                      <a:endParaRPr lang="en-US" sz="1296" dirty="0">
                        <a:latin typeface="Noto Sans" charset="0"/>
                        <a:ea typeface="Noto Sans" charset="0"/>
                        <a:cs typeface="Noto Sans" charset="0"/>
                      </a:endParaRPr>
                    </a:p>
                  </a:txBody>
                  <a:tcPr anchor="ctr">
                    <a:lnL w="19050" cap="flat" cmpd="sng" algn="ctr">
                      <a:solidFill>
                        <a:srgbClr val="EEECE1"/>
                      </a:solidFill>
                      <a:prstDash val="solid"/>
                      <a:round/>
                      <a:headEnd type="none" w="med" len="med"/>
                      <a:tailEnd type="none" w="med" len="med"/>
                    </a:lnL>
                    <a:lnR w="19050" cap="flat" cmpd="sng" algn="ctr">
                      <a:solidFill>
                        <a:srgbClr val="EEECE1"/>
                      </a:solidFill>
                      <a:prstDash val="solid"/>
                      <a:round/>
                      <a:headEnd type="none" w="med" len="med"/>
                      <a:tailEnd type="none" w="med" len="med"/>
                    </a:lnR>
                    <a:lnT w="19050" cap="flat" cmpd="sng" algn="ctr">
                      <a:solidFill>
                        <a:srgbClr val="EEECE1"/>
                      </a:solidFill>
                      <a:prstDash val="solid"/>
                      <a:round/>
                      <a:headEnd type="none" w="med" len="med"/>
                      <a:tailEnd type="none" w="med" len="med"/>
                    </a:lnT>
                    <a:lnB w="19050" cap="flat" cmpd="sng" algn="ctr">
                      <a:solidFill>
                        <a:srgbClr val="EEECE1"/>
                      </a:solidFill>
                      <a:prstDash val="solid"/>
                      <a:round/>
                      <a:headEnd type="none" w="med" len="med"/>
                      <a:tailEnd type="none" w="med" len="med"/>
                    </a:lnB>
                    <a:solidFill>
                      <a:srgbClr val="C4DAFF"/>
                    </a:solidFill>
                  </a:tcPr>
                </a:tc>
                <a:tc>
                  <a:txBody>
                    <a:bodyPr/>
                    <a:lstStyle/>
                    <a:p>
                      <a:pPr marL="0" indent="0" algn="l">
                        <a:buNone/>
                      </a:pPr>
                      <a:r>
                        <a:rPr lang="en-US" sz="1296" u="none" dirty="0">
                          <a:solidFill>
                            <a:srgbClr val="00070F"/>
                          </a:solidFill>
                          <a:latin typeface="Noto Sans" pitchFamily="34" charset="0"/>
                          <a:ea typeface="Noto Sans" pitchFamily="34" charset="-122"/>
                          <a:cs typeface="Noto Sans" pitchFamily="34" charset="-120"/>
                        </a:rPr>
                        <a:t>Cạnh tranh trực tiếp</a:t>
                      </a:r>
                      <a:endParaRPr lang="en-US" sz="1296" dirty="0">
                        <a:latin typeface="Noto Sans" charset="0"/>
                        <a:ea typeface="Noto Sans" charset="0"/>
                        <a:cs typeface="Noto Sans" charset="0"/>
                      </a:endParaRPr>
                    </a:p>
                  </a:txBody>
                  <a:tcPr anchor="ctr">
                    <a:lnL w="19050" cap="flat" cmpd="sng" algn="ctr">
                      <a:solidFill>
                        <a:srgbClr val="EEECE1"/>
                      </a:solidFill>
                      <a:prstDash val="solid"/>
                      <a:round/>
                      <a:headEnd type="none" w="med" len="med"/>
                      <a:tailEnd type="none" w="med" len="med"/>
                    </a:lnL>
                    <a:lnR w="19050" cap="flat" cmpd="sng" algn="ctr">
                      <a:solidFill>
                        <a:srgbClr val="EEECE1"/>
                      </a:solidFill>
                      <a:prstDash val="solid"/>
                      <a:round/>
                      <a:headEnd type="none" w="med" len="med"/>
                      <a:tailEnd type="none" w="med" len="med"/>
                    </a:lnR>
                    <a:lnT w="19050" cap="flat" cmpd="sng" algn="ctr">
                      <a:solidFill>
                        <a:srgbClr val="EEECE1"/>
                      </a:solidFill>
                      <a:prstDash val="solid"/>
                      <a:round/>
                      <a:headEnd type="none" w="med" len="med"/>
                      <a:tailEnd type="none" w="med" len="med"/>
                    </a:lnT>
                    <a:lnB w="19050" cap="flat" cmpd="sng" algn="ctr">
                      <a:solidFill>
                        <a:srgbClr val="EEECE1"/>
                      </a:solidFill>
                      <a:prstDash val="solid"/>
                      <a:round/>
                      <a:headEnd type="none" w="med" len="med"/>
                      <a:tailEnd type="none" w="med" len="med"/>
                    </a:lnB>
                    <a:solidFill>
                      <a:srgbClr val="C4DAFF"/>
                    </a:solidFill>
                  </a:tcPr>
                </a:tc>
                <a:extLst>
                  <a:ext uri="{0D108BD9-81ED-4DB2-BD59-A6C34878D82A}">
                    <a16:rowId xmlns:a16="http://schemas.microsoft.com/office/drawing/2014/main" val="10001"/>
                  </a:ext>
                </a:extLst>
              </a:tr>
              <a:tr h="645402">
                <a:tc>
                  <a:txBody>
                    <a:bodyPr/>
                    <a:lstStyle/>
                    <a:p>
                      <a:pPr marL="0" indent="0" algn="l">
                        <a:buNone/>
                      </a:pPr>
                      <a:r>
                        <a:rPr lang="en-US" sz="1440" b="1" u="none" dirty="0">
                          <a:solidFill>
                            <a:srgbClr val="00070F"/>
                          </a:solidFill>
                          <a:latin typeface="Noto Sans" pitchFamily="34" charset="0"/>
                          <a:ea typeface="Noto Sans" pitchFamily="34" charset="-122"/>
                          <a:cs typeface="Noto Sans" pitchFamily="34" charset="-120"/>
                        </a:rPr>
                        <a:t>DiskANN</a:t>
                      </a:r>
                      <a:endParaRPr lang="en-US" sz="1440" dirty="0">
                        <a:latin typeface="Noto Sans" charset="0"/>
                        <a:ea typeface="Noto Sans" charset="0"/>
                        <a:cs typeface="Noto Sans" charset="0"/>
                      </a:endParaRPr>
                    </a:p>
                  </a:txBody>
                  <a:tcPr anchor="ctr">
                    <a:lnL w="19050" cap="flat" cmpd="sng" algn="ctr">
                      <a:solidFill>
                        <a:srgbClr val="EEECE1"/>
                      </a:solidFill>
                      <a:prstDash val="solid"/>
                      <a:round/>
                      <a:headEnd type="none" w="med" len="med"/>
                      <a:tailEnd type="none" w="med" len="med"/>
                    </a:lnL>
                    <a:lnR w="19050" cap="flat" cmpd="sng" algn="ctr">
                      <a:solidFill>
                        <a:srgbClr val="EEECE1"/>
                      </a:solidFill>
                      <a:prstDash val="solid"/>
                      <a:round/>
                      <a:headEnd type="none" w="med" len="med"/>
                      <a:tailEnd type="none" w="med" len="med"/>
                    </a:lnR>
                    <a:lnT w="19050" cap="flat" cmpd="sng" algn="ctr">
                      <a:solidFill>
                        <a:srgbClr val="EEECE1"/>
                      </a:solidFill>
                      <a:prstDash val="solid"/>
                      <a:round/>
                      <a:headEnd type="none" w="med" len="med"/>
                      <a:tailEnd type="none" w="med" len="med"/>
                    </a:lnT>
                    <a:lnB w="19050" cap="flat" cmpd="sng" algn="ctr">
                      <a:solidFill>
                        <a:srgbClr val="EEECE1"/>
                      </a:solidFill>
                      <a:prstDash val="solid"/>
                      <a:round/>
                      <a:headEnd type="none" w="med" len="med"/>
                      <a:tailEnd type="none" w="med" len="med"/>
                    </a:lnB>
                    <a:solidFill>
                      <a:srgbClr val="EBF3FF"/>
                    </a:solidFill>
                  </a:tcPr>
                </a:tc>
                <a:tc>
                  <a:txBody>
                    <a:bodyPr/>
                    <a:lstStyle/>
                    <a:p>
                      <a:pPr marL="0" indent="0" algn="l">
                        <a:buNone/>
                      </a:pPr>
                      <a:r>
                        <a:rPr lang="en-US" sz="1296" u="none" dirty="0">
                          <a:solidFill>
                            <a:srgbClr val="00070F"/>
                          </a:solidFill>
                          <a:latin typeface="Noto Sans" pitchFamily="34" charset="0"/>
                          <a:ea typeface="Noto Sans" pitchFamily="34" charset="-122"/>
                          <a:cs typeface="Noto Sans" pitchFamily="34" charset="-120"/>
                        </a:rPr>
                        <a:t>Dựa trên đồ thị, RAM/Flash</a:t>
                      </a:r>
                      <a:endParaRPr lang="en-US" sz="1296" dirty="0">
                        <a:latin typeface="Noto Sans" charset="0"/>
                        <a:ea typeface="Noto Sans" charset="0"/>
                        <a:cs typeface="Noto Sans" charset="0"/>
                      </a:endParaRPr>
                    </a:p>
                  </a:txBody>
                  <a:tcPr anchor="ctr">
                    <a:lnL w="19050" cap="flat" cmpd="sng" algn="ctr">
                      <a:solidFill>
                        <a:srgbClr val="EEECE1"/>
                      </a:solidFill>
                      <a:prstDash val="solid"/>
                      <a:round/>
                      <a:headEnd type="none" w="med" len="med"/>
                      <a:tailEnd type="none" w="med" len="med"/>
                    </a:lnL>
                    <a:lnR w="19050" cap="flat" cmpd="sng" algn="ctr">
                      <a:solidFill>
                        <a:srgbClr val="EEECE1"/>
                      </a:solidFill>
                      <a:prstDash val="solid"/>
                      <a:round/>
                      <a:headEnd type="none" w="med" len="med"/>
                      <a:tailEnd type="none" w="med" len="med"/>
                    </a:lnR>
                    <a:lnT w="19050" cap="flat" cmpd="sng" algn="ctr">
                      <a:solidFill>
                        <a:srgbClr val="EEECE1"/>
                      </a:solidFill>
                      <a:prstDash val="solid"/>
                      <a:round/>
                      <a:headEnd type="none" w="med" len="med"/>
                      <a:tailEnd type="none" w="med" len="med"/>
                    </a:lnT>
                    <a:lnB w="19050" cap="flat" cmpd="sng" algn="ctr">
                      <a:solidFill>
                        <a:srgbClr val="EEECE1"/>
                      </a:solidFill>
                      <a:prstDash val="solid"/>
                      <a:round/>
                      <a:headEnd type="none" w="med" len="med"/>
                      <a:tailEnd type="none" w="med" len="med"/>
                    </a:lnB>
                    <a:solidFill>
                      <a:srgbClr val="EBF3FF"/>
                    </a:solidFill>
                  </a:tcPr>
                </a:tc>
                <a:tc>
                  <a:txBody>
                    <a:bodyPr/>
                    <a:lstStyle/>
                    <a:p>
                      <a:pPr marL="0" indent="0" algn="l">
                        <a:buNone/>
                      </a:pPr>
                      <a:r>
                        <a:rPr lang="en-US" sz="1296" u="none" dirty="0">
                          <a:solidFill>
                            <a:srgbClr val="00070F"/>
                          </a:solidFill>
                          <a:latin typeface="Noto Sans" pitchFamily="34" charset="0"/>
                          <a:ea typeface="Noto Sans" pitchFamily="34" charset="-122"/>
                          <a:cs typeface="Noto Sans" pitchFamily="34" charset="-120"/>
                        </a:rPr>
                        <a:t>Cạnh tranh trực tiếp</a:t>
                      </a:r>
                      <a:endParaRPr lang="en-US" sz="1296" dirty="0">
                        <a:latin typeface="Noto Sans" charset="0"/>
                        <a:ea typeface="Noto Sans" charset="0"/>
                        <a:cs typeface="Noto Sans" charset="0"/>
                      </a:endParaRPr>
                    </a:p>
                  </a:txBody>
                  <a:tcPr anchor="ctr">
                    <a:lnL w="19050" cap="flat" cmpd="sng" algn="ctr">
                      <a:solidFill>
                        <a:srgbClr val="EEECE1"/>
                      </a:solidFill>
                      <a:prstDash val="solid"/>
                      <a:round/>
                      <a:headEnd type="none" w="med" len="med"/>
                      <a:tailEnd type="none" w="med" len="med"/>
                    </a:lnL>
                    <a:lnR w="19050" cap="flat" cmpd="sng" algn="ctr">
                      <a:solidFill>
                        <a:srgbClr val="EEECE1"/>
                      </a:solidFill>
                      <a:prstDash val="solid"/>
                      <a:round/>
                      <a:headEnd type="none" w="med" len="med"/>
                      <a:tailEnd type="none" w="med" len="med"/>
                    </a:lnR>
                    <a:lnT w="19050" cap="flat" cmpd="sng" algn="ctr">
                      <a:solidFill>
                        <a:srgbClr val="EEECE1"/>
                      </a:solidFill>
                      <a:prstDash val="solid"/>
                      <a:round/>
                      <a:headEnd type="none" w="med" len="med"/>
                      <a:tailEnd type="none" w="med" len="med"/>
                    </a:lnT>
                    <a:lnB w="19050" cap="flat" cmpd="sng" algn="ctr">
                      <a:solidFill>
                        <a:srgbClr val="EEECE1"/>
                      </a:solidFill>
                      <a:prstDash val="solid"/>
                      <a:round/>
                      <a:headEnd type="none" w="med" len="med"/>
                      <a:tailEnd type="none" w="med" len="med"/>
                    </a:lnB>
                    <a:solidFill>
                      <a:srgbClr val="EBF3FF"/>
                    </a:solidFill>
                  </a:tcPr>
                </a:tc>
                <a:extLst>
                  <a:ext uri="{0D108BD9-81ED-4DB2-BD59-A6C34878D82A}">
                    <a16:rowId xmlns:a16="http://schemas.microsoft.com/office/drawing/2014/main" val="10002"/>
                  </a:ext>
                </a:extLst>
              </a:tr>
              <a:tr h="645402">
                <a:tc>
                  <a:txBody>
                    <a:bodyPr/>
                    <a:lstStyle/>
                    <a:p>
                      <a:pPr marL="0" indent="0" algn="l">
                        <a:buNone/>
                      </a:pPr>
                      <a:r>
                        <a:rPr lang="en-US" sz="1440" b="1" u="none" dirty="0">
                          <a:solidFill>
                            <a:srgbClr val="00070F"/>
                          </a:solidFill>
                          <a:latin typeface="Noto Sans" pitchFamily="34" charset="0"/>
                          <a:ea typeface="Noto Sans" pitchFamily="34" charset="-122"/>
                          <a:cs typeface="Noto Sans" pitchFamily="34" charset="-120"/>
                        </a:rPr>
                        <a:t>Milvus</a:t>
                      </a:r>
                      <a:endParaRPr lang="en-US" sz="1440" dirty="0">
                        <a:latin typeface="Noto Sans" charset="0"/>
                        <a:ea typeface="Noto Sans" charset="0"/>
                        <a:cs typeface="Noto Sans" charset="0"/>
                      </a:endParaRPr>
                    </a:p>
                  </a:txBody>
                  <a:tcPr anchor="ctr">
                    <a:lnL w="19050" cap="flat" cmpd="sng" algn="ctr">
                      <a:solidFill>
                        <a:srgbClr val="EEECE1"/>
                      </a:solidFill>
                      <a:prstDash val="solid"/>
                      <a:round/>
                      <a:headEnd type="none" w="med" len="med"/>
                      <a:tailEnd type="none" w="med" len="med"/>
                    </a:lnL>
                    <a:lnR w="19050" cap="flat" cmpd="sng" algn="ctr">
                      <a:solidFill>
                        <a:srgbClr val="EEECE1"/>
                      </a:solidFill>
                      <a:prstDash val="solid"/>
                      <a:round/>
                      <a:headEnd type="none" w="med" len="med"/>
                      <a:tailEnd type="none" w="med" len="med"/>
                    </a:lnR>
                    <a:lnT w="19050" cap="flat" cmpd="sng" algn="ctr">
                      <a:solidFill>
                        <a:srgbClr val="EEECE1"/>
                      </a:solidFill>
                      <a:prstDash val="solid"/>
                      <a:round/>
                      <a:headEnd type="none" w="med" len="med"/>
                      <a:tailEnd type="none" w="med" len="med"/>
                    </a:lnT>
                    <a:lnB w="19050" cap="flat" cmpd="sng" algn="ctr">
                      <a:solidFill>
                        <a:srgbClr val="EEECE1"/>
                      </a:solidFill>
                      <a:prstDash val="solid"/>
                      <a:round/>
                      <a:headEnd type="none" w="med" len="med"/>
                      <a:tailEnd type="none" w="med" len="med"/>
                    </a:lnB>
                    <a:solidFill>
                      <a:srgbClr val="C4DAFF"/>
                    </a:solidFill>
                  </a:tcPr>
                </a:tc>
                <a:tc>
                  <a:txBody>
                    <a:bodyPr/>
                    <a:lstStyle/>
                    <a:p>
                      <a:pPr marL="0" indent="0" algn="l">
                        <a:buNone/>
                      </a:pPr>
                      <a:r>
                        <a:rPr lang="en-US" sz="1296" u="none" dirty="0">
                          <a:solidFill>
                            <a:srgbClr val="00070F"/>
                          </a:solidFill>
                          <a:latin typeface="Noto Sans" pitchFamily="34" charset="0"/>
                          <a:ea typeface="Noto Sans" pitchFamily="34" charset="-122"/>
                          <a:cs typeface="Noto Sans" pitchFamily="34" charset="-120"/>
                        </a:rPr>
                        <a:t>DBMS vector hoàn chỉnh</a:t>
                      </a:r>
                      <a:endParaRPr lang="en-US" sz="1296" dirty="0">
                        <a:latin typeface="Noto Sans" charset="0"/>
                        <a:ea typeface="Noto Sans" charset="0"/>
                        <a:cs typeface="Noto Sans" charset="0"/>
                      </a:endParaRPr>
                    </a:p>
                  </a:txBody>
                  <a:tcPr anchor="ctr">
                    <a:lnL w="19050" cap="flat" cmpd="sng" algn="ctr">
                      <a:solidFill>
                        <a:srgbClr val="EEECE1"/>
                      </a:solidFill>
                      <a:prstDash val="solid"/>
                      <a:round/>
                      <a:headEnd type="none" w="med" len="med"/>
                      <a:tailEnd type="none" w="med" len="med"/>
                    </a:lnL>
                    <a:lnR w="19050" cap="flat" cmpd="sng" algn="ctr">
                      <a:solidFill>
                        <a:srgbClr val="EEECE1"/>
                      </a:solidFill>
                      <a:prstDash val="solid"/>
                      <a:round/>
                      <a:headEnd type="none" w="med" len="med"/>
                      <a:tailEnd type="none" w="med" len="med"/>
                    </a:lnR>
                    <a:lnT w="19050" cap="flat" cmpd="sng" algn="ctr">
                      <a:solidFill>
                        <a:srgbClr val="EEECE1"/>
                      </a:solidFill>
                      <a:prstDash val="solid"/>
                      <a:round/>
                      <a:headEnd type="none" w="med" len="med"/>
                      <a:tailEnd type="none" w="med" len="med"/>
                    </a:lnT>
                    <a:lnB w="19050" cap="flat" cmpd="sng" algn="ctr">
                      <a:solidFill>
                        <a:srgbClr val="EEECE1"/>
                      </a:solidFill>
                      <a:prstDash val="solid"/>
                      <a:round/>
                      <a:headEnd type="none" w="med" len="med"/>
                      <a:tailEnd type="none" w="med" len="med"/>
                    </a:lnB>
                    <a:solidFill>
                      <a:srgbClr val="C4DAFF"/>
                    </a:solidFill>
                  </a:tcPr>
                </a:tc>
                <a:tc>
                  <a:txBody>
                    <a:bodyPr/>
                    <a:lstStyle/>
                    <a:p>
                      <a:pPr marL="0" indent="0" algn="l">
                        <a:buNone/>
                      </a:pPr>
                      <a:r>
                        <a:rPr lang="en-US" sz="1296" u="none" dirty="0">
                          <a:solidFill>
                            <a:srgbClr val="00070F"/>
                          </a:solidFill>
                          <a:latin typeface="Noto Sans" pitchFamily="34" charset="0"/>
                          <a:ea typeface="Noto Sans" pitchFamily="34" charset="-122"/>
                          <a:cs typeface="Noto Sans" pitchFamily="34" charset="-120"/>
                        </a:rPr>
                        <a:t>Sử dụng FAISS làm công cụ cốt lõi</a:t>
                      </a:r>
                      <a:endParaRPr lang="en-US" sz="1296" dirty="0">
                        <a:latin typeface="Noto Sans" charset="0"/>
                        <a:ea typeface="Noto Sans" charset="0"/>
                        <a:cs typeface="Noto Sans" charset="0"/>
                      </a:endParaRPr>
                    </a:p>
                  </a:txBody>
                  <a:tcPr anchor="ctr">
                    <a:lnL w="19050" cap="flat" cmpd="sng" algn="ctr">
                      <a:solidFill>
                        <a:srgbClr val="EEECE1"/>
                      </a:solidFill>
                      <a:prstDash val="solid"/>
                      <a:round/>
                      <a:headEnd type="none" w="med" len="med"/>
                      <a:tailEnd type="none" w="med" len="med"/>
                    </a:lnL>
                    <a:lnR w="19050" cap="flat" cmpd="sng" algn="ctr">
                      <a:solidFill>
                        <a:srgbClr val="EEECE1"/>
                      </a:solidFill>
                      <a:prstDash val="solid"/>
                      <a:round/>
                      <a:headEnd type="none" w="med" len="med"/>
                      <a:tailEnd type="none" w="med" len="med"/>
                    </a:lnR>
                    <a:lnT w="19050" cap="flat" cmpd="sng" algn="ctr">
                      <a:solidFill>
                        <a:srgbClr val="EEECE1"/>
                      </a:solidFill>
                      <a:prstDash val="solid"/>
                      <a:round/>
                      <a:headEnd type="none" w="med" len="med"/>
                      <a:tailEnd type="none" w="med" len="med"/>
                    </a:lnT>
                    <a:lnB w="19050" cap="flat" cmpd="sng" algn="ctr">
                      <a:solidFill>
                        <a:srgbClr val="EEECE1"/>
                      </a:solidFill>
                      <a:prstDash val="solid"/>
                      <a:round/>
                      <a:headEnd type="none" w="med" len="med"/>
                      <a:tailEnd type="none" w="med" len="med"/>
                    </a:lnB>
                    <a:solidFill>
                      <a:srgbClr val="C4DA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47356" y="1048142"/>
            <a:ext cx="8235616" cy="3347313"/>
          </a:xfrm>
          <a:custGeom>
            <a:avLst/>
            <a:gdLst/>
            <a:ahLst/>
            <a:cxnLst/>
            <a:rect l="l" t="t" r="r" b="b"/>
            <a:pathLst>
              <a:path w="8235616" h="3347313">
                <a:moveTo>
                  <a:pt x="418414" y="0"/>
                </a:moveTo>
                <a:moveTo>
                  <a:pt x="418414" y="0"/>
                </a:moveTo>
                <a:lnTo>
                  <a:pt x="7817202" y="0"/>
                </a:lnTo>
                <a:quadBezTo>
                  <a:pt x="8235616" y="0"/>
                  <a:pt x="8235616" y="418414"/>
                </a:quadBezTo>
                <a:lnTo>
                  <a:pt x="8235616" y="2928899"/>
                </a:lnTo>
                <a:quadBezTo>
                  <a:pt x="8235616" y="3347313"/>
                  <a:pt x="7817202" y="3347313"/>
                </a:quadBezTo>
                <a:lnTo>
                  <a:pt x="418414" y="3347313"/>
                </a:lnTo>
                <a:quadBezTo>
                  <a:pt x="0" y="3347313"/>
                  <a:pt x="0" y="2928899"/>
                </a:quadBezTo>
                <a:lnTo>
                  <a:pt x="0" y="418414"/>
                </a:lnTo>
                <a:quadBezTo>
                  <a:pt x="0" y="0"/>
                  <a:pt x="418414" y="0"/>
                </a:quadBezTo>
                <a:close/>
              </a:path>
            </a:pathLst>
          </a:custGeom>
          <a:solidFill>
            <a:srgbClr val="2B76FD">
              <a:alpha val="9020"/>
            </a:srgbClr>
          </a:solidFill>
          <a:ln w="9525">
            <a:solidFill>
              <a:srgbClr val="2B76FD">
                <a:alpha val="43137"/>
              </a:srgbClr>
            </a:solidFill>
            <a:prstDash val="solid"/>
          </a:ln>
        </p:spPr>
        <p:txBody>
          <a:bodyPr/>
          <a:lstStyle/>
          <a:p>
            <a:endParaRPr lang="en-US"/>
          </a:p>
        </p:txBody>
      </p:sp>
      <p:sp>
        <p:nvSpPr>
          <p:cNvPr id="3" name="Shape 1"/>
          <p:cNvSpPr/>
          <p:nvPr/>
        </p:nvSpPr>
        <p:spPr>
          <a:xfrm>
            <a:off x="930373" y="4047352"/>
            <a:ext cx="7598359" cy="19074"/>
          </a:xfrm>
          <a:custGeom>
            <a:avLst/>
            <a:gdLst/>
            <a:ahLst/>
            <a:cxnLst/>
            <a:rect l="l" t="t" r="r" b="b"/>
            <a:pathLst>
              <a:path w="7598359" h="19074">
                <a:moveTo>
                  <a:pt x="0" y="0"/>
                </a:moveTo>
                <a:moveTo>
                  <a:pt x="0" y="0"/>
                </a:moveTo>
                <a:lnTo>
                  <a:pt x="7598359" y="19074"/>
                </a:lnTo>
              </a:path>
            </a:pathLst>
          </a:custGeom>
          <a:noFill/>
          <a:ln w="10313">
            <a:solidFill>
              <a:srgbClr val="2B76FD"/>
            </a:solidFill>
            <a:prstDash val="solid"/>
            <a:headEnd type="none"/>
            <a:tailEnd type="none"/>
          </a:ln>
        </p:spPr>
        <p:txBody>
          <a:bodyPr/>
          <a:lstStyle/>
          <a:p>
            <a:endParaRPr lang="en-US"/>
          </a:p>
        </p:txBody>
      </p:sp>
      <p:sp>
        <p:nvSpPr>
          <p:cNvPr id="4" name="Shape 2"/>
          <p:cNvSpPr/>
          <p:nvPr/>
        </p:nvSpPr>
        <p:spPr>
          <a:xfrm>
            <a:off x="863424" y="4047352"/>
            <a:ext cx="514462" cy="0"/>
          </a:xfrm>
          <a:custGeom>
            <a:avLst/>
            <a:gdLst/>
            <a:ahLst/>
            <a:cxnLst/>
            <a:rect l="l" t="t" r="r" b="b"/>
            <a:pathLst>
              <a:path w="514462">
                <a:moveTo>
                  <a:pt x="0" y="0"/>
                </a:moveTo>
                <a:moveTo>
                  <a:pt x="0" y="0"/>
                </a:moveTo>
                <a:lnTo>
                  <a:pt x="514462" y="0"/>
                </a:lnTo>
              </a:path>
            </a:pathLst>
          </a:custGeom>
          <a:noFill/>
          <a:ln w="72191">
            <a:solidFill>
              <a:srgbClr val="2B76FD"/>
            </a:solidFill>
            <a:prstDash val="solid"/>
            <a:headEnd type="none"/>
            <a:tailEnd type="none"/>
          </a:ln>
        </p:spPr>
        <p:txBody>
          <a:bodyPr/>
          <a:lstStyle/>
          <a:p>
            <a:endParaRPr lang="en-US"/>
          </a:p>
        </p:txBody>
      </p:sp>
      <p:pic>
        <p:nvPicPr>
          <p:cNvPr id="5" name="Image 0" descr="preencoded.png"/>
          <p:cNvPicPr>
            <a:picLocks noChangeAspect="1"/>
          </p:cNvPicPr>
          <p:nvPr/>
        </p:nvPicPr>
        <p:blipFill>
          <a:blip r:embed="rId4"/>
          <a:stretch>
            <a:fillRect/>
          </a:stretch>
        </p:blipFill>
        <p:spPr>
          <a:xfrm>
            <a:off x="737338" y="1210365"/>
            <a:ext cx="4174205" cy="728377"/>
          </a:xfrm>
          <a:prstGeom prst="rect">
            <a:avLst/>
          </a:prstGeom>
        </p:spPr>
      </p:pic>
      <p:sp>
        <p:nvSpPr>
          <p:cNvPr id="6" name="Text 3"/>
          <p:cNvSpPr/>
          <p:nvPr/>
        </p:nvSpPr>
        <p:spPr>
          <a:xfrm>
            <a:off x="930373" y="1304806"/>
            <a:ext cx="4514388" cy="539496"/>
          </a:xfrm>
          <a:prstGeom prst="rect">
            <a:avLst/>
          </a:prstGeom>
          <a:noFill/>
          <a:ln/>
        </p:spPr>
        <p:txBody>
          <a:bodyPr wrap="square" lIns="95250" tIns="95250" rIns="95250" bIns="95250" rtlCol="0" anchor="t">
            <a:spAutoFit/>
          </a:bodyPr>
          <a:lstStyle/>
          <a:p>
            <a:pPr marL="0" indent="0">
              <a:lnSpc>
                <a:spcPct val="100800"/>
              </a:lnSpc>
              <a:spcBef>
                <a:spcPts val="375"/>
              </a:spcBef>
              <a:buNone/>
            </a:pPr>
            <a:r>
              <a:rPr lang="en-US" sz="2016" b="1" dirty="0">
                <a:solidFill>
                  <a:srgbClr val="FFFFFF"/>
                </a:solidFill>
                <a:latin typeface="Noto Sans" pitchFamily="34" charset="0"/>
                <a:ea typeface="Noto Sans" pitchFamily="34" charset="-122"/>
                <a:cs typeface="Noto Sans" pitchFamily="34" charset="-120"/>
              </a:rPr>
              <a:t>2.3. Các đảm bảo lý thuyết</a:t>
            </a:r>
            <a:endParaRPr lang="en-US" sz="1440" dirty="0"/>
          </a:p>
        </p:txBody>
      </p:sp>
      <p:sp>
        <p:nvSpPr>
          <p:cNvPr id="7" name="Shape 4"/>
          <p:cNvSpPr/>
          <p:nvPr/>
        </p:nvSpPr>
        <p:spPr>
          <a:xfrm>
            <a:off x="8161379" y="1252788"/>
            <a:ext cx="198010" cy="198010"/>
          </a:xfrm>
          <a:custGeom>
            <a:avLst/>
            <a:gdLst/>
            <a:ahLst/>
            <a:cxnLst/>
            <a:rect l="l" t="t" r="r" b="b"/>
            <a:pathLst>
              <a:path w="198010" h="198010">
                <a:moveTo>
                  <a:pt x="99005" y="0"/>
                </a:moveTo>
                <a:moveTo>
                  <a:pt x="99005" y="0"/>
                </a:moveTo>
                <a:cubicBezTo>
                  <a:pt x="153647" y="0"/>
                  <a:pt x="198010" y="44363"/>
                  <a:pt x="198010" y="99005"/>
                </a:cubicBezTo>
                <a:cubicBezTo>
                  <a:pt x="198010" y="153647"/>
                  <a:pt x="153647" y="198010"/>
                  <a:pt x="99005" y="198010"/>
                </a:cubicBezTo>
                <a:cubicBezTo>
                  <a:pt x="44363" y="198010"/>
                  <a:pt x="0" y="153647"/>
                  <a:pt x="0" y="99005"/>
                </a:cubicBezTo>
                <a:cubicBezTo>
                  <a:pt x="0" y="44363"/>
                  <a:pt x="44363" y="0"/>
                  <a:pt x="99005" y="0"/>
                </a:cubicBezTo>
                <a:close/>
              </a:path>
            </a:pathLst>
          </a:custGeom>
          <a:solidFill>
            <a:srgbClr val="2B76FD"/>
          </a:solidFill>
          <a:ln/>
        </p:spPr>
        <p:txBody>
          <a:bodyPr/>
          <a:lstStyle/>
          <a:p>
            <a:endParaRPr lang="en-US"/>
          </a:p>
        </p:txBody>
      </p:sp>
      <p:sp>
        <p:nvSpPr>
          <p:cNvPr id="8" name="Shape 5"/>
          <p:cNvSpPr/>
          <p:nvPr/>
        </p:nvSpPr>
        <p:spPr>
          <a:xfrm>
            <a:off x="7902627" y="1252788"/>
            <a:ext cx="198010" cy="198010"/>
          </a:xfrm>
          <a:custGeom>
            <a:avLst/>
            <a:gdLst/>
            <a:ahLst/>
            <a:cxnLst/>
            <a:rect l="l" t="t" r="r" b="b"/>
            <a:pathLst>
              <a:path w="198010" h="198010">
                <a:moveTo>
                  <a:pt x="99005" y="0"/>
                </a:moveTo>
                <a:moveTo>
                  <a:pt x="99005" y="0"/>
                </a:moveTo>
                <a:cubicBezTo>
                  <a:pt x="153647" y="0"/>
                  <a:pt x="198010" y="44363"/>
                  <a:pt x="198010" y="99005"/>
                </a:cubicBezTo>
                <a:cubicBezTo>
                  <a:pt x="198010" y="153647"/>
                  <a:pt x="153647" y="198010"/>
                  <a:pt x="99005" y="198010"/>
                </a:cubicBezTo>
                <a:cubicBezTo>
                  <a:pt x="44363" y="198010"/>
                  <a:pt x="0" y="153647"/>
                  <a:pt x="0" y="99005"/>
                </a:cubicBezTo>
                <a:cubicBezTo>
                  <a:pt x="0" y="44363"/>
                  <a:pt x="44363" y="0"/>
                  <a:pt x="99005" y="0"/>
                </a:cubicBezTo>
                <a:close/>
              </a:path>
            </a:pathLst>
          </a:custGeom>
          <a:solidFill>
            <a:srgbClr val="2B76FD">
              <a:alpha val="20000"/>
            </a:srgbClr>
          </a:solidFill>
          <a:ln/>
        </p:spPr>
        <p:txBody>
          <a:bodyPr/>
          <a:lstStyle/>
          <a:p>
            <a:endParaRPr lang="en-US"/>
          </a:p>
        </p:txBody>
      </p:sp>
      <p:sp>
        <p:nvSpPr>
          <p:cNvPr id="9" name="Shape 6"/>
          <p:cNvSpPr/>
          <p:nvPr/>
        </p:nvSpPr>
        <p:spPr>
          <a:xfrm>
            <a:off x="8420131" y="1252788"/>
            <a:ext cx="198010" cy="198010"/>
          </a:xfrm>
          <a:custGeom>
            <a:avLst/>
            <a:gdLst/>
            <a:ahLst/>
            <a:cxnLst/>
            <a:rect l="l" t="t" r="r" b="b"/>
            <a:pathLst>
              <a:path w="198010" h="198010">
                <a:moveTo>
                  <a:pt x="99005" y="0"/>
                </a:moveTo>
                <a:moveTo>
                  <a:pt x="99005" y="0"/>
                </a:moveTo>
                <a:cubicBezTo>
                  <a:pt x="153647" y="0"/>
                  <a:pt x="198010" y="44363"/>
                  <a:pt x="198010" y="99005"/>
                </a:cubicBezTo>
                <a:cubicBezTo>
                  <a:pt x="198010" y="153647"/>
                  <a:pt x="153647" y="198010"/>
                  <a:pt x="99005" y="198010"/>
                </a:cubicBezTo>
                <a:cubicBezTo>
                  <a:pt x="44363" y="198010"/>
                  <a:pt x="0" y="153647"/>
                  <a:pt x="0" y="99005"/>
                </a:cubicBezTo>
                <a:cubicBezTo>
                  <a:pt x="0" y="44363"/>
                  <a:pt x="44363" y="0"/>
                  <a:pt x="99005" y="0"/>
                </a:cubicBezTo>
                <a:close/>
              </a:path>
            </a:pathLst>
          </a:custGeom>
          <a:solidFill>
            <a:srgbClr val="2B76FD">
              <a:alpha val="20000"/>
            </a:srgbClr>
          </a:solidFill>
          <a:ln/>
        </p:spPr>
        <p:txBody>
          <a:bodyPr/>
          <a:lstStyle/>
          <a:p>
            <a:endParaRPr lang="en-US"/>
          </a:p>
        </p:txBody>
      </p:sp>
      <p:sp>
        <p:nvSpPr>
          <p:cNvPr id="10" name="Text 7"/>
          <p:cNvSpPr/>
          <p:nvPr/>
        </p:nvSpPr>
        <p:spPr>
          <a:xfrm>
            <a:off x="792027" y="1990278"/>
            <a:ext cx="7567361" cy="1965960"/>
          </a:xfrm>
          <a:prstGeom prst="rect">
            <a:avLst/>
          </a:prstGeom>
          <a:noFill/>
          <a:ln/>
        </p:spPr>
        <p:txBody>
          <a:bodyPr wrap="square" lIns="95250" tIns="95250" rIns="95250" bIns="95250" rtlCol="0" anchor="t">
            <a:spAutoFit/>
          </a:bodyPr>
          <a:lstStyle/>
          <a:p>
            <a:pPr marL="251460" indent="-251460" algn="just">
              <a:lnSpc>
                <a:spcPct val="100000"/>
              </a:lnSpc>
              <a:spcBef>
                <a:spcPts val="10"/>
              </a:spcBef>
              <a:buSzPct val="100000"/>
              <a:buChar char="•"/>
            </a:pPr>
            <a:r>
              <a:rPr lang="en-US" sz="1584" dirty="0">
                <a:solidFill>
                  <a:srgbClr val="00070F"/>
                </a:solidFill>
                <a:latin typeface="Noto Sans" pitchFamily="34" charset="0"/>
                <a:ea typeface="Noto Sans" pitchFamily="34" charset="-122"/>
                <a:cs typeface="Noto Sans" pitchFamily="34" charset="-120"/>
              </a:rPr>
              <a:t>Một số thuật toán ANN dựa trên </a:t>
            </a:r>
            <a:r>
              <a:rPr lang="en-US" sz="1584" b="1" dirty="0">
                <a:solidFill>
                  <a:srgbClr val="00070F"/>
                </a:solidFill>
                <a:latin typeface="Noto Sans" pitchFamily="34" charset="0"/>
                <a:ea typeface="Noto Sans" pitchFamily="34" charset="-122"/>
                <a:cs typeface="Noto Sans" pitchFamily="34" charset="-120"/>
              </a:rPr>
              <a:t>bổ đề Johnson–Lindenstrauss</a:t>
            </a:r>
            <a:r>
              <a:rPr lang="en-US" sz="1584" dirty="0">
                <a:solidFill>
                  <a:srgbClr val="00070F"/>
                </a:solidFill>
                <a:latin typeface="Noto Sans" pitchFamily="34" charset="0"/>
                <a:ea typeface="Noto Sans" pitchFamily="34" charset="-122"/>
                <a:cs typeface="Noto Sans" pitchFamily="34" charset="-120"/>
              </a:rPr>
              <a:t> và </a:t>
            </a:r>
            <a:r>
              <a:rPr lang="en-US" sz="1584" b="1" dirty="0">
                <a:solidFill>
                  <a:srgbClr val="00070F"/>
                </a:solidFill>
                <a:latin typeface="Noto Sans" pitchFamily="34" charset="0"/>
                <a:ea typeface="Noto Sans" pitchFamily="34" charset="-122"/>
                <a:cs typeface="Noto Sans" pitchFamily="34" charset="-120"/>
              </a:rPr>
              <a:t>phân vùng ngẫu nhiên (LSH)</a:t>
            </a:r>
            <a:r>
              <a:rPr lang="en-US" sz="1584" dirty="0">
                <a:solidFill>
                  <a:srgbClr val="00070F"/>
                </a:solidFill>
                <a:latin typeface="Noto Sans" pitchFamily="34" charset="0"/>
                <a:ea typeface="Noto Sans" pitchFamily="34" charset="-122"/>
                <a:cs typeface="Noto Sans" pitchFamily="34" charset="-120"/>
              </a:rPr>
              <a:t>, nhưng thiếu đảm bảo chính thức cho độ chính xác k-NN.</a:t>
            </a:r>
            <a:endParaRPr lang="en-US" sz="1440" dirty="0"/>
          </a:p>
          <a:p>
            <a:pPr marL="251460" indent="-251460" algn="just">
              <a:lnSpc>
                <a:spcPct val="100000"/>
              </a:lnSpc>
              <a:spcBef>
                <a:spcPts val="10"/>
              </a:spcBef>
              <a:buSzPct val="100000"/>
              <a:buChar char="•"/>
            </a:pPr>
            <a:r>
              <a:rPr lang="en-US" sz="1584" b="1" dirty="0">
                <a:solidFill>
                  <a:srgbClr val="00070F"/>
                </a:solidFill>
                <a:latin typeface="Noto Sans" pitchFamily="34" charset="0"/>
                <a:ea typeface="Noto Sans" pitchFamily="34" charset="-122"/>
                <a:cs typeface="Noto Sans" pitchFamily="34" charset="-120"/>
              </a:rPr>
              <a:t>Phân vùng nhận biết dữ liệu</a:t>
            </a:r>
            <a:r>
              <a:rPr lang="en-US" sz="1584" dirty="0">
                <a:solidFill>
                  <a:srgbClr val="00070F"/>
                </a:solidFill>
                <a:latin typeface="Noto Sans" pitchFamily="34" charset="0"/>
                <a:ea typeface="Noto Sans" pitchFamily="34" charset="-122"/>
                <a:cs typeface="Noto Sans" pitchFamily="34" charset="-120"/>
              </a:rPr>
              <a:t> và </a:t>
            </a:r>
            <a:r>
              <a:rPr lang="en-US" sz="1584" b="1" dirty="0">
                <a:solidFill>
                  <a:srgbClr val="00070F"/>
                </a:solidFill>
                <a:latin typeface="Noto Sans" pitchFamily="34" charset="0"/>
                <a:ea typeface="Noto Sans" pitchFamily="34" charset="-122"/>
                <a:cs typeface="Noto Sans" pitchFamily="34" charset="-120"/>
              </a:rPr>
              <a:t>kỹ thuật nén vector</a:t>
            </a:r>
            <a:r>
              <a:rPr lang="en-US" sz="1584" dirty="0">
                <a:solidFill>
                  <a:srgbClr val="00070F"/>
                </a:solidFill>
                <a:latin typeface="Noto Sans" pitchFamily="34" charset="0"/>
                <a:ea typeface="Noto Sans" pitchFamily="34" charset="-122"/>
                <a:cs typeface="Noto Sans" pitchFamily="34" charset="-120"/>
              </a:rPr>
              <a:t> thường cho kết quả tốt hơn trong thực tế.</a:t>
            </a:r>
            <a:endParaRPr lang="en-US" sz="1440" dirty="0"/>
          </a:p>
          <a:p>
            <a:pPr marL="251460" indent="-251460" algn="just">
              <a:lnSpc>
                <a:spcPct val="100000"/>
              </a:lnSpc>
              <a:spcBef>
                <a:spcPts val="10"/>
              </a:spcBef>
              <a:buSzPct val="100000"/>
              <a:buChar char="•"/>
            </a:pPr>
            <a:r>
              <a:rPr lang="en-US" sz="1584" b="1" dirty="0">
                <a:solidFill>
                  <a:srgbClr val="00070F"/>
                </a:solidFill>
                <a:latin typeface="Noto Sans" pitchFamily="34" charset="0"/>
                <a:ea typeface="Noto Sans" pitchFamily="34" charset="-122"/>
                <a:cs typeface="Noto Sans" pitchFamily="34" charset="-120"/>
              </a:rPr>
              <a:t>Hiệu quả ANN</a:t>
            </a:r>
            <a:r>
              <a:rPr lang="en-US" sz="1584" dirty="0">
                <a:solidFill>
                  <a:srgbClr val="00070F"/>
                </a:solidFill>
                <a:latin typeface="Noto Sans" pitchFamily="34" charset="0"/>
                <a:ea typeface="Noto Sans" pitchFamily="34" charset="-122"/>
                <a:cs typeface="Noto Sans" pitchFamily="34" charset="-120"/>
              </a:rPr>
              <a:t> chủ yếu được </a:t>
            </a:r>
            <a:r>
              <a:rPr lang="en-US" sz="1584" b="1" dirty="0">
                <a:solidFill>
                  <a:srgbClr val="00070F"/>
                </a:solidFill>
                <a:latin typeface="Noto Sans" pitchFamily="34" charset="0"/>
                <a:ea typeface="Noto Sans" pitchFamily="34" charset="-122"/>
                <a:cs typeface="Noto Sans" pitchFamily="34" charset="-120"/>
              </a:rPr>
              <a:t>đánh giá thực nghiệm</a:t>
            </a:r>
            <a:r>
              <a:rPr lang="en-US" sz="1584" dirty="0">
                <a:solidFill>
                  <a:srgbClr val="00070F"/>
                </a:solidFill>
                <a:latin typeface="Noto Sans" pitchFamily="34" charset="0"/>
                <a:ea typeface="Noto Sans" pitchFamily="34" charset="-122"/>
                <a:cs typeface="Noto Sans" pitchFamily="34" charset="-120"/>
              </a:rPr>
              <a:t> trên các bộ benchmark công khai.</a:t>
            </a:r>
            <a:endParaRPr lang="en-US" sz="144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96558" y="328468"/>
            <a:ext cx="8396337" cy="594360"/>
          </a:xfrm>
          <a:prstGeom prst="rect">
            <a:avLst/>
          </a:prstGeom>
          <a:noFill/>
          <a:ln/>
        </p:spPr>
        <p:txBody>
          <a:bodyPr wrap="square" lIns="95250" tIns="95250" rIns="95250" bIns="95250" rtlCol="0" anchor="t">
            <a:spAutoFit/>
          </a:bodyPr>
          <a:lstStyle/>
          <a:p>
            <a:pPr marL="0" indent="0">
              <a:lnSpc>
                <a:spcPct val="112500"/>
              </a:lnSpc>
              <a:spcBef>
                <a:spcPts val="375"/>
              </a:spcBef>
              <a:buNone/>
            </a:pPr>
            <a:r>
              <a:rPr lang="en-US" sz="2160" b="1" dirty="0">
                <a:solidFill>
                  <a:srgbClr val="193AB9"/>
                </a:solidFill>
                <a:latin typeface="Noto Sans" pitchFamily="34" charset="0"/>
                <a:ea typeface="Noto Sans" pitchFamily="34" charset="-122"/>
                <a:cs typeface="Noto Sans" pitchFamily="34" charset="-120"/>
              </a:rPr>
              <a:t>2.4. Benchmark và cuộc thi</a:t>
            </a:r>
            <a:endParaRPr lang="en-US" sz="1440" dirty="0"/>
          </a:p>
        </p:txBody>
      </p:sp>
      <p:pic>
        <p:nvPicPr>
          <p:cNvPr id="3" name="Image 0" descr="preencoded.png"/>
          <p:cNvPicPr>
            <a:picLocks noChangeAspect="1"/>
          </p:cNvPicPr>
          <p:nvPr/>
        </p:nvPicPr>
        <p:blipFill>
          <a:blip r:embed="rId4"/>
          <a:stretch>
            <a:fillRect/>
          </a:stretch>
        </p:blipFill>
        <p:spPr>
          <a:xfrm>
            <a:off x="495354" y="1022005"/>
            <a:ext cx="5960695" cy="1614360"/>
          </a:xfrm>
          <a:prstGeom prst="rect">
            <a:avLst/>
          </a:prstGeom>
        </p:spPr>
      </p:pic>
      <p:pic>
        <p:nvPicPr>
          <p:cNvPr id="4" name="Image 1" descr="preencoded.png"/>
          <p:cNvPicPr>
            <a:picLocks noChangeAspect="1"/>
          </p:cNvPicPr>
          <p:nvPr/>
        </p:nvPicPr>
        <p:blipFill>
          <a:blip r:embed="rId5"/>
          <a:stretch>
            <a:fillRect/>
          </a:stretch>
        </p:blipFill>
        <p:spPr>
          <a:xfrm>
            <a:off x="253371" y="2285461"/>
            <a:ext cx="4009644" cy="588874"/>
          </a:xfrm>
          <a:prstGeom prst="rect">
            <a:avLst/>
          </a:prstGeom>
        </p:spPr>
      </p:pic>
      <p:pic>
        <p:nvPicPr>
          <p:cNvPr id="5" name="Image 2" descr="preencoded.png"/>
          <p:cNvPicPr>
            <a:picLocks noChangeAspect="1"/>
          </p:cNvPicPr>
          <p:nvPr/>
        </p:nvPicPr>
        <p:blipFill>
          <a:blip r:embed="rId6"/>
          <a:stretch>
            <a:fillRect/>
          </a:stretch>
        </p:blipFill>
        <p:spPr>
          <a:xfrm>
            <a:off x="625892" y="1079129"/>
            <a:ext cx="420338" cy="173081"/>
          </a:xfrm>
          <a:prstGeom prst="rect">
            <a:avLst/>
          </a:prstGeom>
        </p:spPr>
      </p:pic>
      <p:pic>
        <p:nvPicPr>
          <p:cNvPr id="6" name="Image 3" descr="preencoded.png"/>
          <p:cNvPicPr>
            <a:picLocks noChangeAspect="1"/>
          </p:cNvPicPr>
          <p:nvPr/>
        </p:nvPicPr>
        <p:blipFill>
          <a:blip r:embed="rId6">
            <a:alphaModFix amt="40000"/>
          </a:blip>
          <a:stretch>
            <a:fillRect/>
          </a:stretch>
        </p:blipFill>
        <p:spPr>
          <a:xfrm>
            <a:off x="785223" y="1079129"/>
            <a:ext cx="420338" cy="173081"/>
          </a:xfrm>
          <a:prstGeom prst="rect">
            <a:avLst/>
          </a:prstGeom>
        </p:spPr>
      </p:pic>
      <p:pic>
        <p:nvPicPr>
          <p:cNvPr id="7" name="Image 4" descr="preencoded.png"/>
          <p:cNvPicPr>
            <a:picLocks noChangeAspect="1"/>
          </p:cNvPicPr>
          <p:nvPr/>
        </p:nvPicPr>
        <p:blipFill>
          <a:blip r:embed="rId7"/>
          <a:stretch>
            <a:fillRect/>
          </a:stretch>
        </p:blipFill>
        <p:spPr>
          <a:xfrm>
            <a:off x="2929934" y="3013953"/>
            <a:ext cx="5960695" cy="1614360"/>
          </a:xfrm>
          <a:prstGeom prst="rect">
            <a:avLst/>
          </a:prstGeom>
        </p:spPr>
      </p:pic>
      <p:pic>
        <p:nvPicPr>
          <p:cNvPr id="8" name="Image 5" descr="preencoded.png"/>
          <p:cNvPicPr>
            <a:picLocks noChangeAspect="1"/>
          </p:cNvPicPr>
          <p:nvPr/>
        </p:nvPicPr>
        <p:blipFill>
          <a:blip r:embed="rId8"/>
          <a:stretch>
            <a:fillRect/>
          </a:stretch>
        </p:blipFill>
        <p:spPr>
          <a:xfrm>
            <a:off x="2688336" y="4259275"/>
            <a:ext cx="4009644" cy="588874"/>
          </a:xfrm>
          <a:prstGeom prst="rect">
            <a:avLst/>
          </a:prstGeom>
        </p:spPr>
      </p:pic>
      <p:pic>
        <p:nvPicPr>
          <p:cNvPr id="9" name="Image 6" descr="preencoded.png"/>
          <p:cNvPicPr>
            <a:picLocks noChangeAspect="1"/>
          </p:cNvPicPr>
          <p:nvPr/>
        </p:nvPicPr>
        <p:blipFill>
          <a:blip r:embed="rId9"/>
          <a:stretch>
            <a:fillRect/>
          </a:stretch>
        </p:blipFill>
        <p:spPr>
          <a:xfrm>
            <a:off x="3060472" y="3071076"/>
            <a:ext cx="420338" cy="173081"/>
          </a:xfrm>
          <a:prstGeom prst="rect">
            <a:avLst/>
          </a:prstGeom>
        </p:spPr>
      </p:pic>
      <p:pic>
        <p:nvPicPr>
          <p:cNvPr id="10" name="Image 7" descr="preencoded.png"/>
          <p:cNvPicPr>
            <a:picLocks noChangeAspect="1"/>
          </p:cNvPicPr>
          <p:nvPr/>
        </p:nvPicPr>
        <p:blipFill>
          <a:blip r:embed="rId9">
            <a:alphaModFix amt="40000"/>
          </a:blip>
          <a:stretch>
            <a:fillRect/>
          </a:stretch>
        </p:blipFill>
        <p:spPr>
          <a:xfrm>
            <a:off x="3219803" y="3071076"/>
            <a:ext cx="420338" cy="173081"/>
          </a:xfrm>
          <a:prstGeom prst="rect">
            <a:avLst/>
          </a:prstGeom>
        </p:spPr>
      </p:pic>
      <p:sp>
        <p:nvSpPr>
          <p:cNvPr id="11" name="Text 1"/>
          <p:cNvSpPr/>
          <p:nvPr/>
        </p:nvSpPr>
        <p:spPr>
          <a:xfrm>
            <a:off x="373498" y="2369585"/>
            <a:ext cx="3769273" cy="420624"/>
          </a:xfrm>
          <a:prstGeom prst="rect">
            <a:avLst/>
          </a:prstGeom>
          <a:noFill/>
          <a:ln/>
        </p:spPr>
        <p:txBody>
          <a:bodyPr wrap="square" lIns="95250" tIns="95250" rIns="95250" bIns="95250" rtlCol="0" anchor="ctr"/>
          <a:lstStyle/>
          <a:p>
            <a:pPr marL="0" indent="0" algn="ctr">
              <a:lnSpc>
                <a:spcPct val="100000"/>
              </a:lnSpc>
              <a:spcBef>
                <a:spcPts val="375"/>
              </a:spcBef>
              <a:buNone/>
            </a:pPr>
            <a:r>
              <a:rPr lang="en-US" sz="1728" b="1" dirty="0">
                <a:solidFill>
                  <a:srgbClr val="FFFFFF"/>
                </a:solidFill>
                <a:latin typeface="Noto Sans" pitchFamily="34" charset="0"/>
                <a:ea typeface="Noto Sans" pitchFamily="34" charset="-122"/>
                <a:cs typeface="Noto Sans" pitchFamily="34" charset="-120"/>
              </a:rPr>
              <a:t>ANN-benchmarks</a:t>
            </a:r>
            <a:endParaRPr lang="en-US" sz="1440" dirty="0"/>
          </a:p>
        </p:txBody>
      </p:sp>
      <p:sp>
        <p:nvSpPr>
          <p:cNvPr id="12" name="Text 2"/>
          <p:cNvSpPr/>
          <p:nvPr/>
        </p:nvSpPr>
        <p:spPr>
          <a:xfrm>
            <a:off x="886540" y="1412732"/>
            <a:ext cx="5637981" cy="713232"/>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en-US" sz="1584" dirty="0">
                <a:solidFill>
                  <a:srgbClr val="00070F"/>
                </a:solidFill>
                <a:latin typeface="Noto Sans" pitchFamily="34" charset="0"/>
                <a:ea typeface="Noto Sans" pitchFamily="34" charset="-122"/>
                <a:cs typeface="Noto Sans" pitchFamily="34" charset="-120"/>
              </a:rPr>
              <a:t>• So sánh ~50 triển khai ANNS</a:t>
            </a:r>
            <a:endParaRPr lang="en-US" sz="1440" dirty="0"/>
          </a:p>
          <a:p>
            <a:pPr marL="0" indent="0">
              <a:lnSpc>
                <a:spcPct val="100000"/>
              </a:lnSpc>
              <a:spcBef>
                <a:spcPts val="375"/>
              </a:spcBef>
              <a:buNone/>
            </a:pPr>
            <a:r>
              <a:rPr lang="en-US" sz="1584" dirty="0">
                <a:solidFill>
                  <a:srgbClr val="00070F"/>
                </a:solidFill>
                <a:latin typeface="Noto Sans" pitchFamily="34" charset="0"/>
                <a:ea typeface="Noto Sans" pitchFamily="34" charset="-122"/>
                <a:cs typeface="Noto Sans" pitchFamily="34" charset="-120"/>
              </a:rPr>
              <a:t>• Faiss thường xuyên dẫn đầu</a:t>
            </a:r>
            <a:endParaRPr lang="en-US" sz="1440" dirty="0"/>
          </a:p>
        </p:txBody>
      </p:sp>
      <p:sp>
        <p:nvSpPr>
          <p:cNvPr id="13" name="Text 3"/>
          <p:cNvSpPr/>
          <p:nvPr/>
        </p:nvSpPr>
        <p:spPr>
          <a:xfrm>
            <a:off x="2808077" y="4343400"/>
            <a:ext cx="3769273" cy="420624"/>
          </a:xfrm>
          <a:prstGeom prst="rect">
            <a:avLst/>
          </a:prstGeom>
          <a:noFill/>
          <a:ln/>
        </p:spPr>
        <p:txBody>
          <a:bodyPr wrap="square" lIns="95250" tIns="95250" rIns="95250" bIns="95250" rtlCol="0" anchor="ctr"/>
          <a:lstStyle/>
          <a:p>
            <a:pPr marL="0" indent="0" algn="ctr">
              <a:lnSpc>
                <a:spcPct val="100000"/>
              </a:lnSpc>
              <a:spcBef>
                <a:spcPts val="375"/>
              </a:spcBef>
              <a:buNone/>
            </a:pPr>
            <a:r>
              <a:rPr lang="en-US" sz="1728" b="1" dirty="0">
                <a:solidFill>
                  <a:srgbClr val="FFFFFF"/>
                </a:solidFill>
                <a:latin typeface="Noto Sans" pitchFamily="34" charset="0"/>
                <a:ea typeface="Noto Sans" pitchFamily="34" charset="-122"/>
                <a:cs typeface="Noto Sans" pitchFamily="34" charset="-120"/>
              </a:rPr>
              <a:t>BigANN Challenge</a:t>
            </a:r>
            <a:endParaRPr lang="en-US" sz="1440" dirty="0"/>
          </a:p>
        </p:txBody>
      </p:sp>
      <p:sp>
        <p:nvSpPr>
          <p:cNvPr id="14" name="Text 4"/>
          <p:cNvSpPr/>
          <p:nvPr/>
        </p:nvSpPr>
        <p:spPr>
          <a:xfrm>
            <a:off x="3343936" y="3220333"/>
            <a:ext cx="5637981" cy="996696"/>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en-US" sz="1584" dirty="0">
                <a:solidFill>
                  <a:srgbClr val="00070F"/>
                </a:solidFill>
                <a:latin typeface="Noto Sans" pitchFamily="34" charset="0"/>
                <a:ea typeface="Noto Sans" pitchFamily="34" charset="-122"/>
                <a:cs typeface="Noto Sans" pitchFamily="34" charset="-120"/>
              </a:rPr>
              <a:t>• Quy mô: 6 tập dữ liệu x 1 tỷ vector</a:t>
            </a:r>
            <a:endParaRPr lang="en-US" sz="1440" dirty="0"/>
          </a:p>
          <a:p>
            <a:pPr marL="0" indent="0">
              <a:lnSpc>
                <a:spcPct val="100000"/>
              </a:lnSpc>
              <a:spcBef>
                <a:spcPts val="375"/>
              </a:spcBef>
              <a:buNone/>
            </a:pPr>
            <a:r>
              <a:rPr lang="en-US" sz="1584" dirty="0">
                <a:solidFill>
                  <a:srgbClr val="00070F"/>
                </a:solidFill>
                <a:latin typeface="Noto Sans" pitchFamily="34" charset="0"/>
                <a:ea typeface="Noto Sans" pitchFamily="34" charset="-122"/>
                <a:cs typeface="Noto Sans" pitchFamily="34" charset="-120"/>
              </a:rPr>
              <a:t>• Faiss: Baseline chính thức</a:t>
            </a:r>
            <a:endParaRPr lang="en-US" sz="1440" dirty="0"/>
          </a:p>
          <a:p>
            <a:pPr marL="0" indent="0">
              <a:lnSpc>
                <a:spcPct val="100000"/>
              </a:lnSpc>
              <a:spcBef>
                <a:spcPts val="375"/>
              </a:spcBef>
              <a:buNone/>
            </a:pPr>
            <a:r>
              <a:rPr lang="en-US" sz="1584" dirty="0">
                <a:solidFill>
                  <a:srgbClr val="00070F"/>
                </a:solidFill>
                <a:latin typeface="Noto Sans" pitchFamily="34" charset="0"/>
                <a:ea typeface="Noto Sans" pitchFamily="34" charset="-122"/>
                <a:cs typeface="Noto Sans" pitchFamily="34" charset="-120"/>
              </a:rPr>
              <a:t>• Phiên bản 2023: Track filtered search</a:t>
            </a:r>
            <a:endParaRPr lang="en-US" sz="144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19608" y="465191"/>
            <a:ext cx="3611050" cy="594360"/>
          </a:xfrm>
          <a:prstGeom prst="rect">
            <a:avLst/>
          </a:prstGeom>
          <a:noFill/>
          <a:ln/>
        </p:spPr>
        <p:txBody>
          <a:bodyPr wrap="square" lIns="95250" tIns="95250" rIns="95250" bIns="95250" rtlCol="0" anchor="t">
            <a:spAutoFit/>
          </a:bodyPr>
          <a:lstStyle/>
          <a:p>
            <a:pPr marL="0" indent="0">
              <a:lnSpc>
                <a:spcPct val="112500"/>
              </a:lnSpc>
              <a:spcBef>
                <a:spcPts val="375"/>
              </a:spcBef>
              <a:buNone/>
            </a:pPr>
            <a:r>
              <a:rPr lang="en-US" sz="2160" b="1" dirty="0">
                <a:solidFill>
                  <a:srgbClr val="193AB9"/>
                </a:solidFill>
                <a:latin typeface="Noto Sans" pitchFamily="34" charset="0"/>
                <a:ea typeface="Noto Sans" pitchFamily="34" charset="-122"/>
                <a:cs typeface="Noto Sans" pitchFamily="34" charset="-120"/>
              </a:rPr>
              <a:t>2.5. Các tập dữ liệu</a:t>
            </a:r>
            <a:endParaRPr lang="en-US" sz="144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71034" y="1175081"/>
          <a:ext cx="7620846" cy="3248692"/>
        </p:xfrm>
        <a:graphic>
          <a:graphicData uri="http://schemas.openxmlformats.org/drawingml/2006/table">
            <a:tbl>
              <a:tblPr/>
              <a:tblGrid>
                <a:gridCol w="2020824">
                  <a:extLst>
                    <a:ext uri="{9D8B030D-6E8A-4147-A177-3AD203B41FA5}">
                      <a16:colId xmlns:a16="http://schemas.microsoft.com/office/drawing/2014/main" val="20000"/>
                    </a:ext>
                  </a:extLst>
                </a:gridCol>
                <a:gridCol w="3044952">
                  <a:extLst>
                    <a:ext uri="{9D8B030D-6E8A-4147-A177-3AD203B41FA5}">
                      <a16:colId xmlns:a16="http://schemas.microsoft.com/office/drawing/2014/main" val="20001"/>
                    </a:ext>
                  </a:extLst>
                </a:gridCol>
                <a:gridCol w="2555070">
                  <a:extLst>
                    <a:ext uri="{9D8B030D-6E8A-4147-A177-3AD203B41FA5}">
                      <a16:colId xmlns:a16="http://schemas.microsoft.com/office/drawing/2014/main" val="20002"/>
                    </a:ext>
                  </a:extLst>
                </a:gridCol>
              </a:tblGrid>
              <a:tr h="812173">
                <a:tc>
                  <a:txBody>
                    <a:bodyPr/>
                    <a:lstStyle/>
                    <a:p>
                      <a:pPr marL="0" indent="0" algn="ctr">
                        <a:buNone/>
                      </a:pPr>
                      <a:r>
                        <a:rPr lang="en-US" sz="1728" b="1" u="none" dirty="0">
                          <a:solidFill>
                            <a:srgbClr val="00070F"/>
                          </a:solidFill>
                          <a:latin typeface="Noto Sans" pitchFamily="34" charset="0"/>
                          <a:ea typeface="Noto Sans" pitchFamily="34" charset="-122"/>
                          <a:cs typeface="Noto Sans" pitchFamily="34" charset="-120"/>
                        </a:rPr>
                        <a:t>Tập dữ liệu</a:t>
                      </a:r>
                      <a:endParaRPr lang="en-US" sz="1728" dirty="0">
                        <a:latin typeface="Noto Sans" charset="0"/>
                        <a:ea typeface="Noto Sans" charset="0"/>
                        <a:cs typeface="Noto Sans" charset="0"/>
                      </a:endParaRPr>
                    </a:p>
                  </a:txBody>
                  <a:tcPr anchor="ctr">
                    <a:lnL w="19050" cap="flat" cmpd="sng" algn="ctr">
                      <a:solidFill>
                        <a:srgbClr val="EEECE1"/>
                      </a:solidFill>
                      <a:prstDash val="solid"/>
                      <a:round/>
                      <a:headEnd type="none" w="med" len="med"/>
                      <a:tailEnd type="none" w="med" len="med"/>
                    </a:lnL>
                    <a:lnR w="19050" cap="flat" cmpd="sng" algn="ctr">
                      <a:solidFill>
                        <a:srgbClr val="EEECE1"/>
                      </a:solidFill>
                      <a:prstDash val="solid"/>
                      <a:round/>
                      <a:headEnd type="none" w="med" len="med"/>
                      <a:tailEnd type="none" w="med" len="med"/>
                    </a:lnR>
                    <a:lnT w="19050" cap="flat" cmpd="sng" algn="ctr">
                      <a:solidFill>
                        <a:srgbClr val="EEECE1"/>
                      </a:solidFill>
                      <a:prstDash val="solid"/>
                      <a:round/>
                      <a:headEnd type="none" w="med" len="med"/>
                      <a:tailEnd type="none" w="med" len="med"/>
                    </a:lnT>
                    <a:lnB w="19050" cap="flat" cmpd="sng" algn="ctr">
                      <a:solidFill>
                        <a:srgbClr val="EEECE1"/>
                      </a:solidFill>
                      <a:prstDash val="solid"/>
                      <a:round/>
                      <a:headEnd type="none" w="med" len="med"/>
                      <a:tailEnd type="none" w="med" len="med"/>
                    </a:lnB>
                    <a:solidFill>
                      <a:srgbClr val="2B76FD"/>
                    </a:solidFill>
                  </a:tcPr>
                </a:tc>
                <a:tc>
                  <a:txBody>
                    <a:bodyPr/>
                    <a:lstStyle/>
                    <a:p>
                      <a:pPr marL="0" indent="0" algn="ctr">
                        <a:buNone/>
                      </a:pPr>
                      <a:r>
                        <a:rPr lang="en-US" sz="1728" b="1" u="none" dirty="0">
                          <a:solidFill>
                            <a:srgbClr val="00070F"/>
                          </a:solidFill>
                          <a:latin typeface="Noto Sans" pitchFamily="34" charset="0"/>
                          <a:ea typeface="Noto Sans" pitchFamily="34" charset="-122"/>
                          <a:cs typeface="Noto Sans" pitchFamily="34" charset="-120"/>
                        </a:rPr>
                        <a:t>Đắc điểm</a:t>
                      </a:r>
                      <a:endParaRPr lang="en-US" sz="1728" dirty="0">
                        <a:latin typeface="Noto Sans" charset="0"/>
                        <a:ea typeface="Noto Sans" charset="0"/>
                        <a:cs typeface="Noto Sans" charset="0"/>
                      </a:endParaRPr>
                    </a:p>
                  </a:txBody>
                  <a:tcPr anchor="ctr">
                    <a:lnL w="19050" cap="flat" cmpd="sng" algn="ctr">
                      <a:solidFill>
                        <a:srgbClr val="EEECE1"/>
                      </a:solidFill>
                      <a:prstDash val="solid"/>
                      <a:round/>
                      <a:headEnd type="none" w="med" len="med"/>
                      <a:tailEnd type="none" w="med" len="med"/>
                    </a:lnL>
                    <a:lnR w="19050" cap="flat" cmpd="sng" algn="ctr">
                      <a:solidFill>
                        <a:srgbClr val="EEECE1"/>
                      </a:solidFill>
                      <a:prstDash val="solid"/>
                      <a:round/>
                      <a:headEnd type="none" w="med" len="med"/>
                      <a:tailEnd type="none" w="med" len="med"/>
                    </a:lnR>
                    <a:lnT w="19050" cap="flat" cmpd="sng" algn="ctr">
                      <a:solidFill>
                        <a:srgbClr val="EEECE1"/>
                      </a:solidFill>
                      <a:prstDash val="solid"/>
                      <a:round/>
                      <a:headEnd type="none" w="med" len="med"/>
                      <a:tailEnd type="none" w="med" len="med"/>
                    </a:lnT>
                    <a:lnB w="19050" cap="flat" cmpd="sng" algn="ctr">
                      <a:solidFill>
                        <a:srgbClr val="EEECE1"/>
                      </a:solidFill>
                      <a:prstDash val="solid"/>
                      <a:round/>
                      <a:headEnd type="none" w="med" len="med"/>
                      <a:tailEnd type="none" w="med" len="med"/>
                    </a:lnB>
                    <a:solidFill>
                      <a:srgbClr val="2B76FD"/>
                    </a:solidFill>
                  </a:tcPr>
                </a:tc>
                <a:tc>
                  <a:txBody>
                    <a:bodyPr/>
                    <a:lstStyle/>
                    <a:p>
                      <a:pPr marL="0" indent="0" algn="ctr">
                        <a:buNone/>
                      </a:pPr>
                      <a:r>
                        <a:rPr lang="en-US" sz="1728" b="1" u="none" dirty="0">
                          <a:solidFill>
                            <a:srgbClr val="00070F"/>
                          </a:solidFill>
                          <a:latin typeface="Noto Sans" pitchFamily="34" charset="0"/>
                          <a:ea typeface="Noto Sans" pitchFamily="34" charset="-122"/>
                          <a:cs typeface="Noto Sans" pitchFamily="34" charset="-120"/>
                        </a:rPr>
                        <a:t>Kích thước</a:t>
                      </a:r>
                      <a:endParaRPr lang="en-US" sz="1728" dirty="0">
                        <a:latin typeface="Noto Sans" charset="0"/>
                        <a:ea typeface="Noto Sans" charset="0"/>
                        <a:cs typeface="Noto Sans" charset="0"/>
                      </a:endParaRPr>
                    </a:p>
                  </a:txBody>
                  <a:tcPr anchor="ctr">
                    <a:lnL w="19050" cap="flat" cmpd="sng" algn="ctr">
                      <a:solidFill>
                        <a:srgbClr val="EEECE1"/>
                      </a:solidFill>
                      <a:prstDash val="solid"/>
                      <a:round/>
                      <a:headEnd type="none" w="med" len="med"/>
                      <a:tailEnd type="none" w="med" len="med"/>
                    </a:lnL>
                    <a:lnR w="19050" cap="flat" cmpd="sng" algn="ctr">
                      <a:solidFill>
                        <a:srgbClr val="EEECE1"/>
                      </a:solidFill>
                      <a:prstDash val="solid"/>
                      <a:round/>
                      <a:headEnd type="none" w="med" len="med"/>
                      <a:tailEnd type="none" w="med" len="med"/>
                    </a:lnR>
                    <a:lnT w="19050" cap="flat" cmpd="sng" algn="ctr">
                      <a:solidFill>
                        <a:srgbClr val="EEECE1"/>
                      </a:solidFill>
                      <a:prstDash val="solid"/>
                      <a:round/>
                      <a:headEnd type="none" w="med" len="med"/>
                      <a:tailEnd type="none" w="med" len="med"/>
                    </a:lnT>
                    <a:lnB w="19050" cap="flat" cmpd="sng" algn="ctr">
                      <a:solidFill>
                        <a:srgbClr val="EEECE1"/>
                      </a:solidFill>
                      <a:prstDash val="solid"/>
                      <a:round/>
                      <a:headEnd type="none" w="med" len="med"/>
                      <a:tailEnd type="none" w="med" len="med"/>
                    </a:lnB>
                    <a:solidFill>
                      <a:srgbClr val="2B76FD"/>
                    </a:solidFill>
                  </a:tcPr>
                </a:tc>
                <a:extLst>
                  <a:ext uri="{0D108BD9-81ED-4DB2-BD59-A6C34878D82A}">
                    <a16:rowId xmlns:a16="http://schemas.microsoft.com/office/drawing/2014/main" val="10000"/>
                  </a:ext>
                </a:extLst>
              </a:tr>
              <a:tr h="812173">
                <a:tc>
                  <a:txBody>
                    <a:bodyPr/>
                    <a:lstStyle/>
                    <a:p>
                      <a:pPr marL="0" indent="0" algn="l">
                        <a:buNone/>
                      </a:pPr>
                      <a:r>
                        <a:rPr lang="en-US" sz="1584" b="1" u="none" dirty="0">
                          <a:solidFill>
                            <a:srgbClr val="00070F"/>
                          </a:solidFill>
                          <a:latin typeface="Noto Sans" pitchFamily="34" charset="0"/>
                          <a:ea typeface="Noto Sans" pitchFamily="34" charset="-122"/>
                          <a:cs typeface="Noto Sans" pitchFamily="34" charset="-120"/>
                        </a:rPr>
                        <a:t>BIGANN</a:t>
                      </a:r>
                      <a:endParaRPr lang="en-US" sz="1584" dirty="0">
                        <a:latin typeface="Noto Sans" charset="0"/>
                        <a:ea typeface="Noto Sans" charset="0"/>
                        <a:cs typeface="Noto Sans" charset="0"/>
                      </a:endParaRPr>
                    </a:p>
                  </a:txBody>
                  <a:tcPr anchor="ctr">
                    <a:lnL w="19050" cap="flat" cmpd="sng" algn="ctr">
                      <a:solidFill>
                        <a:srgbClr val="EEECE1"/>
                      </a:solidFill>
                      <a:prstDash val="solid"/>
                      <a:round/>
                      <a:headEnd type="none" w="med" len="med"/>
                      <a:tailEnd type="none" w="med" len="med"/>
                    </a:lnL>
                    <a:lnR w="19050" cap="flat" cmpd="sng" algn="ctr">
                      <a:solidFill>
                        <a:srgbClr val="EEECE1"/>
                      </a:solidFill>
                      <a:prstDash val="solid"/>
                      <a:round/>
                      <a:headEnd type="none" w="med" len="med"/>
                      <a:tailEnd type="none" w="med" len="med"/>
                    </a:lnR>
                    <a:lnT w="19050" cap="flat" cmpd="sng" algn="ctr">
                      <a:solidFill>
                        <a:srgbClr val="EEECE1"/>
                      </a:solidFill>
                      <a:prstDash val="solid"/>
                      <a:round/>
                      <a:headEnd type="none" w="med" len="med"/>
                      <a:tailEnd type="none" w="med" len="med"/>
                    </a:lnT>
                    <a:lnB w="19050" cap="flat" cmpd="sng" algn="ctr">
                      <a:solidFill>
                        <a:srgbClr val="EEECE1"/>
                      </a:solidFill>
                      <a:prstDash val="solid"/>
                      <a:round/>
                      <a:headEnd type="none" w="med" len="med"/>
                      <a:tailEnd type="none" w="med" len="med"/>
                    </a:lnB>
                    <a:solidFill>
                      <a:srgbClr val="BFD6FE"/>
                    </a:solidFill>
                  </a:tcPr>
                </a:tc>
                <a:tc>
                  <a:txBody>
                    <a:bodyPr/>
                    <a:lstStyle/>
                    <a:p>
                      <a:pPr marL="0" indent="0" algn="l">
                        <a:buNone/>
                      </a:pPr>
                      <a:r>
                        <a:rPr lang="en-US" sz="1584" u="none" dirty="0">
                          <a:solidFill>
                            <a:srgbClr val="00070F"/>
                          </a:solidFill>
                          <a:latin typeface="Noto Sans" pitchFamily="34" charset="0"/>
                          <a:ea typeface="Noto Sans" pitchFamily="34" charset="-122"/>
                          <a:cs typeface="Noto Sans" pitchFamily="34" charset="-120"/>
                        </a:rPr>
                        <a:t>SIFT features 128D</a:t>
                      </a:r>
                      <a:endParaRPr lang="en-US" sz="1584" dirty="0">
                        <a:latin typeface="Noto Sans" charset="0"/>
                        <a:ea typeface="Noto Sans" charset="0"/>
                        <a:cs typeface="Noto Sans" charset="0"/>
                      </a:endParaRPr>
                    </a:p>
                  </a:txBody>
                  <a:tcPr anchor="ctr">
                    <a:lnL w="19050" cap="flat" cmpd="sng" algn="ctr">
                      <a:solidFill>
                        <a:srgbClr val="EEECE1"/>
                      </a:solidFill>
                      <a:prstDash val="solid"/>
                      <a:round/>
                      <a:headEnd type="none" w="med" len="med"/>
                      <a:tailEnd type="none" w="med" len="med"/>
                    </a:lnL>
                    <a:lnR w="19050" cap="flat" cmpd="sng" algn="ctr">
                      <a:solidFill>
                        <a:srgbClr val="EEECE1"/>
                      </a:solidFill>
                      <a:prstDash val="solid"/>
                      <a:round/>
                      <a:headEnd type="none" w="med" len="med"/>
                      <a:tailEnd type="none" w="med" len="med"/>
                    </a:lnR>
                    <a:lnT w="19050" cap="flat" cmpd="sng" algn="ctr">
                      <a:solidFill>
                        <a:srgbClr val="EEECE1"/>
                      </a:solidFill>
                      <a:prstDash val="solid"/>
                      <a:round/>
                      <a:headEnd type="none" w="med" len="med"/>
                      <a:tailEnd type="none" w="med" len="med"/>
                    </a:lnT>
                    <a:lnB w="19050" cap="flat" cmpd="sng" algn="ctr">
                      <a:solidFill>
                        <a:srgbClr val="EEECE1"/>
                      </a:solidFill>
                      <a:prstDash val="solid"/>
                      <a:round/>
                      <a:headEnd type="none" w="med" len="med"/>
                      <a:tailEnd type="none" w="med" len="med"/>
                    </a:lnB>
                    <a:solidFill>
                      <a:srgbClr val="BFD6FE"/>
                    </a:solidFill>
                  </a:tcPr>
                </a:tc>
                <a:tc>
                  <a:txBody>
                    <a:bodyPr/>
                    <a:lstStyle/>
                    <a:p>
                      <a:pPr marL="0" indent="0" algn="l">
                        <a:buNone/>
                      </a:pPr>
                      <a:r>
                        <a:rPr lang="en-US" sz="1584" u="none" dirty="0">
                          <a:solidFill>
                            <a:srgbClr val="00070F"/>
                          </a:solidFill>
                          <a:latin typeface="Noto Sans" pitchFamily="34" charset="0"/>
                          <a:ea typeface="Noto Sans" pitchFamily="34" charset="-122"/>
                          <a:cs typeface="Noto Sans" pitchFamily="34" charset="-120"/>
                        </a:rPr>
                        <a:t>20M - 1B vectors</a:t>
                      </a:r>
                      <a:endParaRPr lang="en-US" sz="1584" dirty="0">
                        <a:latin typeface="Noto Sans" charset="0"/>
                        <a:ea typeface="Noto Sans" charset="0"/>
                        <a:cs typeface="Noto Sans" charset="0"/>
                      </a:endParaRPr>
                    </a:p>
                  </a:txBody>
                  <a:tcPr anchor="ctr">
                    <a:lnL w="19050" cap="flat" cmpd="sng" algn="ctr">
                      <a:solidFill>
                        <a:srgbClr val="EEECE1"/>
                      </a:solidFill>
                      <a:prstDash val="solid"/>
                      <a:round/>
                      <a:headEnd type="none" w="med" len="med"/>
                      <a:tailEnd type="none" w="med" len="med"/>
                    </a:lnL>
                    <a:lnR w="19050" cap="flat" cmpd="sng" algn="ctr">
                      <a:solidFill>
                        <a:srgbClr val="EEECE1"/>
                      </a:solidFill>
                      <a:prstDash val="solid"/>
                      <a:round/>
                      <a:headEnd type="none" w="med" len="med"/>
                      <a:tailEnd type="none" w="med" len="med"/>
                    </a:lnR>
                    <a:lnT w="19050" cap="flat" cmpd="sng" algn="ctr">
                      <a:solidFill>
                        <a:srgbClr val="EEECE1"/>
                      </a:solidFill>
                      <a:prstDash val="solid"/>
                      <a:round/>
                      <a:headEnd type="none" w="med" len="med"/>
                      <a:tailEnd type="none" w="med" len="med"/>
                    </a:lnT>
                    <a:lnB w="19050" cap="flat" cmpd="sng" algn="ctr">
                      <a:solidFill>
                        <a:srgbClr val="EEECE1"/>
                      </a:solidFill>
                      <a:prstDash val="solid"/>
                      <a:round/>
                      <a:headEnd type="none" w="med" len="med"/>
                      <a:tailEnd type="none" w="med" len="med"/>
                    </a:lnB>
                    <a:solidFill>
                      <a:srgbClr val="BFD6FE"/>
                    </a:solidFill>
                  </a:tcPr>
                </a:tc>
                <a:extLst>
                  <a:ext uri="{0D108BD9-81ED-4DB2-BD59-A6C34878D82A}">
                    <a16:rowId xmlns:a16="http://schemas.microsoft.com/office/drawing/2014/main" val="10001"/>
                  </a:ext>
                </a:extLst>
              </a:tr>
              <a:tr h="812173">
                <a:tc>
                  <a:txBody>
                    <a:bodyPr/>
                    <a:lstStyle/>
                    <a:p>
                      <a:pPr marL="0" indent="0" algn="l">
                        <a:buNone/>
                      </a:pPr>
                      <a:r>
                        <a:rPr lang="en-US" sz="1584" b="1" u="none" dirty="0">
                          <a:solidFill>
                            <a:srgbClr val="00070F"/>
                          </a:solidFill>
                          <a:latin typeface="Noto Sans" pitchFamily="34" charset="0"/>
                          <a:ea typeface="Noto Sans" pitchFamily="34" charset="-122"/>
                          <a:cs typeface="Noto Sans" pitchFamily="34" charset="-120"/>
                        </a:rPr>
                        <a:t>Deep1B</a:t>
                      </a:r>
                      <a:endParaRPr lang="en-US" sz="1584" dirty="0">
                        <a:latin typeface="Noto Sans" charset="0"/>
                        <a:ea typeface="Noto Sans" charset="0"/>
                        <a:cs typeface="Noto Sans" charset="0"/>
                      </a:endParaRPr>
                    </a:p>
                  </a:txBody>
                  <a:tcPr anchor="ctr">
                    <a:lnL w="19050" cap="flat" cmpd="sng" algn="ctr">
                      <a:solidFill>
                        <a:srgbClr val="EEECE1"/>
                      </a:solidFill>
                      <a:prstDash val="solid"/>
                      <a:round/>
                      <a:headEnd type="none" w="med" len="med"/>
                      <a:tailEnd type="none" w="med" len="med"/>
                    </a:lnL>
                    <a:lnR w="19050" cap="flat" cmpd="sng" algn="ctr">
                      <a:solidFill>
                        <a:srgbClr val="EEECE1"/>
                      </a:solidFill>
                      <a:prstDash val="solid"/>
                      <a:round/>
                      <a:headEnd type="none" w="med" len="med"/>
                      <a:tailEnd type="none" w="med" len="med"/>
                    </a:lnR>
                    <a:lnT w="19050" cap="flat" cmpd="sng" algn="ctr">
                      <a:solidFill>
                        <a:srgbClr val="EEECE1"/>
                      </a:solidFill>
                      <a:prstDash val="solid"/>
                      <a:round/>
                      <a:headEnd type="none" w="med" len="med"/>
                      <a:tailEnd type="none" w="med" len="med"/>
                    </a:lnT>
                    <a:lnB w="19050" cap="flat" cmpd="sng" algn="ctr">
                      <a:solidFill>
                        <a:srgbClr val="EEECE1"/>
                      </a:solidFill>
                      <a:prstDash val="solid"/>
                      <a:round/>
                      <a:headEnd type="none" w="med" len="med"/>
                      <a:tailEnd type="none" w="med" len="med"/>
                    </a:lnB>
                    <a:solidFill>
                      <a:srgbClr val="EAF1FF"/>
                    </a:solidFill>
                  </a:tcPr>
                </a:tc>
                <a:tc>
                  <a:txBody>
                    <a:bodyPr/>
                    <a:lstStyle/>
                    <a:p>
                      <a:pPr marL="0" indent="0" algn="l">
                        <a:buNone/>
                      </a:pPr>
                      <a:r>
                        <a:rPr lang="en-US" sz="1584" u="none" dirty="0">
                          <a:solidFill>
                            <a:srgbClr val="00070F"/>
                          </a:solidFill>
                          <a:latin typeface="Noto Sans" pitchFamily="34" charset="0"/>
                          <a:ea typeface="Noto Sans" pitchFamily="34" charset="-122"/>
                          <a:cs typeface="Noto Sans" pitchFamily="34" charset="-120"/>
                        </a:rPr>
                        <a:t>Deep learning features 96D</a:t>
                      </a:r>
                      <a:endParaRPr lang="en-US" sz="1584" dirty="0">
                        <a:latin typeface="Noto Sans" charset="0"/>
                        <a:ea typeface="Noto Sans" charset="0"/>
                        <a:cs typeface="Noto Sans" charset="0"/>
                      </a:endParaRPr>
                    </a:p>
                  </a:txBody>
                  <a:tcPr anchor="ctr">
                    <a:lnL w="19050" cap="flat" cmpd="sng" algn="ctr">
                      <a:solidFill>
                        <a:srgbClr val="EEECE1"/>
                      </a:solidFill>
                      <a:prstDash val="solid"/>
                      <a:round/>
                      <a:headEnd type="none" w="med" len="med"/>
                      <a:tailEnd type="none" w="med" len="med"/>
                    </a:lnL>
                    <a:lnR w="19050" cap="flat" cmpd="sng" algn="ctr">
                      <a:solidFill>
                        <a:srgbClr val="EEECE1"/>
                      </a:solidFill>
                      <a:prstDash val="solid"/>
                      <a:round/>
                      <a:headEnd type="none" w="med" len="med"/>
                      <a:tailEnd type="none" w="med" len="med"/>
                    </a:lnR>
                    <a:lnT w="19050" cap="flat" cmpd="sng" algn="ctr">
                      <a:solidFill>
                        <a:srgbClr val="EEECE1"/>
                      </a:solidFill>
                      <a:prstDash val="solid"/>
                      <a:round/>
                      <a:headEnd type="none" w="med" len="med"/>
                      <a:tailEnd type="none" w="med" len="med"/>
                    </a:lnT>
                    <a:lnB w="19050" cap="flat" cmpd="sng" algn="ctr">
                      <a:solidFill>
                        <a:srgbClr val="EEECE1"/>
                      </a:solidFill>
                      <a:prstDash val="solid"/>
                      <a:round/>
                      <a:headEnd type="none" w="med" len="med"/>
                      <a:tailEnd type="none" w="med" len="med"/>
                    </a:lnB>
                    <a:solidFill>
                      <a:srgbClr val="EAF1FF"/>
                    </a:solidFill>
                  </a:tcPr>
                </a:tc>
                <a:tc>
                  <a:txBody>
                    <a:bodyPr/>
                    <a:lstStyle/>
                    <a:p>
                      <a:pPr marL="0" indent="0" algn="l">
                        <a:buNone/>
                      </a:pPr>
                      <a:r>
                        <a:rPr lang="en-US" sz="1584" u="none" dirty="0">
                          <a:solidFill>
                            <a:srgbClr val="00070F"/>
                          </a:solidFill>
                          <a:latin typeface="Noto Sans" pitchFamily="34" charset="0"/>
                          <a:ea typeface="Noto Sans" pitchFamily="34" charset="-122"/>
                          <a:cs typeface="Noto Sans" pitchFamily="34" charset="-120"/>
                        </a:rPr>
                        <a:t>1B vectors</a:t>
                      </a:r>
                      <a:endParaRPr lang="en-US" sz="1584" dirty="0">
                        <a:latin typeface="Noto Sans" charset="0"/>
                        <a:ea typeface="Noto Sans" charset="0"/>
                        <a:cs typeface="Noto Sans" charset="0"/>
                      </a:endParaRPr>
                    </a:p>
                  </a:txBody>
                  <a:tcPr anchor="ctr">
                    <a:lnL w="19050" cap="flat" cmpd="sng" algn="ctr">
                      <a:solidFill>
                        <a:srgbClr val="EEECE1"/>
                      </a:solidFill>
                      <a:prstDash val="solid"/>
                      <a:round/>
                      <a:headEnd type="none" w="med" len="med"/>
                      <a:tailEnd type="none" w="med" len="med"/>
                    </a:lnL>
                    <a:lnR w="19050" cap="flat" cmpd="sng" algn="ctr">
                      <a:solidFill>
                        <a:srgbClr val="EEECE1"/>
                      </a:solidFill>
                      <a:prstDash val="solid"/>
                      <a:round/>
                      <a:headEnd type="none" w="med" len="med"/>
                      <a:tailEnd type="none" w="med" len="med"/>
                    </a:lnR>
                    <a:lnT w="19050" cap="flat" cmpd="sng" algn="ctr">
                      <a:solidFill>
                        <a:srgbClr val="EEECE1"/>
                      </a:solidFill>
                      <a:prstDash val="solid"/>
                      <a:round/>
                      <a:headEnd type="none" w="med" len="med"/>
                      <a:tailEnd type="none" w="med" len="med"/>
                    </a:lnT>
                    <a:lnB w="19050" cap="flat" cmpd="sng" algn="ctr">
                      <a:solidFill>
                        <a:srgbClr val="EEECE1"/>
                      </a:solidFill>
                      <a:prstDash val="solid"/>
                      <a:round/>
                      <a:headEnd type="none" w="med" len="med"/>
                      <a:tailEnd type="none" w="med" len="med"/>
                    </a:lnB>
                    <a:solidFill>
                      <a:srgbClr val="EAF1FF"/>
                    </a:solidFill>
                  </a:tcPr>
                </a:tc>
                <a:extLst>
                  <a:ext uri="{0D108BD9-81ED-4DB2-BD59-A6C34878D82A}">
                    <a16:rowId xmlns:a16="http://schemas.microsoft.com/office/drawing/2014/main" val="10002"/>
                  </a:ext>
                </a:extLst>
              </a:tr>
              <a:tr h="812173">
                <a:tc>
                  <a:txBody>
                    <a:bodyPr/>
                    <a:lstStyle/>
                    <a:p>
                      <a:pPr marL="0" indent="0" algn="l">
                        <a:buNone/>
                      </a:pPr>
                      <a:r>
                        <a:rPr lang="en-US" sz="1584" b="1" u="none" dirty="0">
                          <a:solidFill>
                            <a:srgbClr val="00070F"/>
                          </a:solidFill>
                          <a:latin typeface="Noto Sans" pitchFamily="34" charset="0"/>
                          <a:ea typeface="Noto Sans" pitchFamily="34" charset="-122"/>
                          <a:cs typeface="Noto Sans" pitchFamily="34" charset="-120"/>
                        </a:rPr>
                        <a:t>Contriever</a:t>
                      </a:r>
                      <a:endParaRPr lang="en-US" sz="1584" dirty="0">
                        <a:latin typeface="Noto Sans" charset="0"/>
                        <a:ea typeface="Noto Sans" charset="0"/>
                        <a:cs typeface="Noto Sans" charset="0"/>
                      </a:endParaRPr>
                    </a:p>
                  </a:txBody>
                  <a:tcPr anchor="ctr">
                    <a:lnL w="19050" cap="flat" cmpd="sng" algn="ctr">
                      <a:solidFill>
                        <a:srgbClr val="EEECE1"/>
                      </a:solidFill>
                      <a:prstDash val="solid"/>
                      <a:round/>
                      <a:headEnd type="none" w="med" len="med"/>
                      <a:tailEnd type="none" w="med" len="med"/>
                    </a:lnL>
                    <a:lnR w="19050" cap="flat" cmpd="sng" algn="ctr">
                      <a:solidFill>
                        <a:srgbClr val="EEECE1"/>
                      </a:solidFill>
                      <a:prstDash val="solid"/>
                      <a:round/>
                      <a:headEnd type="none" w="med" len="med"/>
                      <a:tailEnd type="none" w="med" len="med"/>
                    </a:lnR>
                    <a:lnT w="19050" cap="flat" cmpd="sng" algn="ctr">
                      <a:solidFill>
                        <a:srgbClr val="EEECE1"/>
                      </a:solidFill>
                      <a:prstDash val="solid"/>
                      <a:round/>
                      <a:headEnd type="none" w="med" len="med"/>
                      <a:tailEnd type="none" w="med" len="med"/>
                    </a:lnT>
                    <a:lnB w="19050" cap="flat" cmpd="sng" algn="ctr">
                      <a:solidFill>
                        <a:srgbClr val="EEECE1"/>
                      </a:solidFill>
                      <a:prstDash val="solid"/>
                      <a:round/>
                      <a:headEnd type="none" w="med" len="med"/>
                      <a:tailEnd type="none" w="med" len="med"/>
                    </a:lnB>
                    <a:solidFill>
                      <a:srgbClr val="BFD6FE"/>
                    </a:solidFill>
                  </a:tcPr>
                </a:tc>
                <a:tc>
                  <a:txBody>
                    <a:bodyPr/>
                    <a:lstStyle/>
                    <a:p>
                      <a:pPr marL="0" indent="0" algn="l">
                        <a:buNone/>
                      </a:pPr>
                      <a:r>
                        <a:rPr lang="en-US" sz="1584" u="none" dirty="0">
                          <a:solidFill>
                            <a:srgbClr val="00070F"/>
                          </a:solidFill>
                          <a:latin typeface="Noto Sans" pitchFamily="34" charset="0"/>
                          <a:ea typeface="Noto Sans" pitchFamily="34" charset="-122"/>
                          <a:cs typeface="Noto Sans" pitchFamily="34" charset="-120"/>
                        </a:rPr>
                        <a:t>Text embeddings 768D</a:t>
                      </a:r>
                      <a:endParaRPr lang="en-US" sz="1584" dirty="0">
                        <a:latin typeface="Noto Sans" charset="0"/>
                        <a:ea typeface="Noto Sans" charset="0"/>
                        <a:cs typeface="Noto Sans" charset="0"/>
                      </a:endParaRPr>
                    </a:p>
                  </a:txBody>
                  <a:tcPr anchor="ctr">
                    <a:lnL w="19050" cap="flat" cmpd="sng" algn="ctr">
                      <a:solidFill>
                        <a:srgbClr val="EEECE1"/>
                      </a:solidFill>
                      <a:prstDash val="solid"/>
                      <a:round/>
                      <a:headEnd type="none" w="med" len="med"/>
                      <a:tailEnd type="none" w="med" len="med"/>
                    </a:lnL>
                    <a:lnR w="19050" cap="flat" cmpd="sng" algn="ctr">
                      <a:solidFill>
                        <a:srgbClr val="EEECE1"/>
                      </a:solidFill>
                      <a:prstDash val="solid"/>
                      <a:round/>
                      <a:headEnd type="none" w="med" len="med"/>
                      <a:tailEnd type="none" w="med" len="med"/>
                    </a:lnR>
                    <a:lnT w="19050" cap="flat" cmpd="sng" algn="ctr">
                      <a:solidFill>
                        <a:srgbClr val="EEECE1"/>
                      </a:solidFill>
                      <a:prstDash val="solid"/>
                      <a:round/>
                      <a:headEnd type="none" w="med" len="med"/>
                      <a:tailEnd type="none" w="med" len="med"/>
                    </a:lnT>
                    <a:lnB w="19050" cap="flat" cmpd="sng" algn="ctr">
                      <a:solidFill>
                        <a:srgbClr val="EEECE1"/>
                      </a:solidFill>
                      <a:prstDash val="solid"/>
                      <a:round/>
                      <a:headEnd type="none" w="med" len="med"/>
                      <a:tailEnd type="none" w="med" len="med"/>
                    </a:lnB>
                    <a:solidFill>
                      <a:srgbClr val="BFD6FE"/>
                    </a:solidFill>
                  </a:tcPr>
                </a:tc>
                <a:tc>
                  <a:txBody>
                    <a:bodyPr/>
                    <a:lstStyle/>
                    <a:p>
                      <a:pPr marL="0" indent="0" algn="l">
                        <a:buNone/>
                      </a:pPr>
                      <a:r>
                        <a:rPr lang="en-US" sz="1584" u="none" dirty="0">
                          <a:solidFill>
                            <a:srgbClr val="00070F"/>
                          </a:solidFill>
                          <a:latin typeface="Noto Sans" pitchFamily="34" charset="0"/>
                          <a:ea typeface="Noto Sans" pitchFamily="34" charset="-122"/>
                          <a:cs typeface="Noto Sans" pitchFamily="34" charset="-120"/>
                        </a:rPr>
                        <a:t>350M vectors</a:t>
                      </a:r>
                      <a:endParaRPr lang="en-US" sz="1584" dirty="0">
                        <a:latin typeface="Noto Sans" charset="0"/>
                        <a:ea typeface="Noto Sans" charset="0"/>
                        <a:cs typeface="Noto Sans" charset="0"/>
                      </a:endParaRPr>
                    </a:p>
                  </a:txBody>
                  <a:tcPr anchor="ctr">
                    <a:lnL w="19050" cap="flat" cmpd="sng" algn="ctr">
                      <a:solidFill>
                        <a:srgbClr val="EEECE1"/>
                      </a:solidFill>
                      <a:prstDash val="solid"/>
                      <a:round/>
                      <a:headEnd type="none" w="med" len="med"/>
                      <a:tailEnd type="none" w="med" len="med"/>
                    </a:lnL>
                    <a:lnR w="19050" cap="flat" cmpd="sng" algn="ctr">
                      <a:solidFill>
                        <a:srgbClr val="EEECE1"/>
                      </a:solidFill>
                      <a:prstDash val="solid"/>
                      <a:round/>
                      <a:headEnd type="none" w="med" len="med"/>
                      <a:tailEnd type="none" w="med" len="med"/>
                    </a:lnR>
                    <a:lnT w="19050" cap="flat" cmpd="sng" algn="ctr">
                      <a:solidFill>
                        <a:srgbClr val="EEECE1"/>
                      </a:solidFill>
                      <a:prstDash val="solid"/>
                      <a:round/>
                      <a:headEnd type="none" w="med" len="med"/>
                      <a:tailEnd type="none" w="med" len="med"/>
                    </a:lnT>
                    <a:lnB w="19050" cap="flat" cmpd="sng" algn="ctr">
                      <a:solidFill>
                        <a:srgbClr val="EEECE1"/>
                      </a:solidFill>
                      <a:prstDash val="solid"/>
                      <a:round/>
                      <a:headEnd type="none" w="med" len="med"/>
                      <a:tailEnd type="none" w="med" len="med"/>
                    </a:lnB>
                    <a:solidFill>
                      <a:srgbClr val="BFD6FE"/>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5769D60E-A66C-BC83-5C95-D0800244209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29DE1A6-ACFF-67EC-DBBC-EB78AC455342}"/>
              </a:ext>
            </a:extLst>
          </p:cNvPr>
          <p:cNvSpPr/>
          <p:nvPr/>
        </p:nvSpPr>
        <p:spPr>
          <a:xfrm>
            <a:off x="6623205" y="1041171"/>
            <a:ext cx="2140946" cy="1610313"/>
          </a:xfrm>
          <a:prstGeom prst="rect">
            <a:avLst/>
          </a:prstGeom>
          <a:noFill/>
          <a:ln/>
        </p:spPr>
        <p:txBody>
          <a:bodyPr wrap="square" lIns="95250" tIns="95250" rIns="95250" bIns="95250" rtlCol="0" anchor="t">
            <a:spAutoFit/>
          </a:bodyPr>
          <a:lstStyle/>
          <a:p>
            <a:pPr marL="0" indent="0" algn="ctr">
              <a:lnSpc>
                <a:spcPct val="112500"/>
              </a:lnSpc>
              <a:spcBef>
                <a:spcPts val="375"/>
              </a:spcBef>
              <a:buNone/>
            </a:pPr>
            <a:r>
              <a:rPr lang="en-US" sz="8640" b="1" dirty="0">
                <a:solidFill>
                  <a:srgbClr val="2B76FD">
                    <a:alpha val="60000"/>
                  </a:srgbClr>
                </a:solidFill>
                <a:latin typeface="Noto Sans" pitchFamily="34" charset="0"/>
                <a:ea typeface="Noto Sans" pitchFamily="34" charset="-122"/>
                <a:cs typeface="Noto Sans" pitchFamily="34" charset="-120"/>
              </a:rPr>
              <a:t>03</a:t>
            </a:r>
            <a:endParaRPr lang="en-US" sz="1440" dirty="0"/>
          </a:p>
        </p:txBody>
      </p:sp>
      <p:sp>
        <p:nvSpPr>
          <p:cNvPr id="3" name="Text 1">
            <a:extLst>
              <a:ext uri="{FF2B5EF4-FFF2-40B4-BE49-F238E27FC236}">
                <a16:creationId xmlns:a16="http://schemas.microsoft.com/office/drawing/2014/main" id="{85A18842-A152-0350-98DD-908BE9A27D3F}"/>
              </a:ext>
            </a:extLst>
          </p:cNvPr>
          <p:cNvSpPr/>
          <p:nvPr/>
        </p:nvSpPr>
        <p:spPr>
          <a:xfrm>
            <a:off x="4098516" y="2591079"/>
            <a:ext cx="4294798" cy="1521955"/>
          </a:xfrm>
          <a:prstGeom prst="rect">
            <a:avLst/>
          </a:prstGeom>
          <a:noFill/>
          <a:ln/>
        </p:spPr>
        <p:txBody>
          <a:bodyPr wrap="square" lIns="95250" tIns="95250" rIns="95250" bIns="95250" rtlCol="0" anchor="t">
            <a:spAutoFit/>
          </a:bodyPr>
          <a:lstStyle/>
          <a:p>
            <a:pPr marL="0" indent="0" algn="ctr">
              <a:lnSpc>
                <a:spcPct val="100000"/>
              </a:lnSpc>
              <a:spcBef>
                <a:spcPts val="375"/>
              </a:spcBef>
              <a:buNone/>
            </a:pPr>
            <a:r>
              <a:rPr lang="en-US" sz="2880" b="1" dirty="0">
                <a:solidFill>
                  <a:srgbClr val="2B76FD"/>
                </a:solidFill>
                <a:latin typeface="Noto Sans" pitchFamily="34" charset="0"/>
                <a:ea typeface="Noto Sans" pitchFamily="34" charset="-122"/>
                <a:cs typeface="Noto Sans" pitchFamily="34" charset="-120"/>
              </a:rPr>
              <a:t>TRỤC HIỆU NĂNG CỦA THƯ VIỆN TÌM KIẾM VECTOR</a:t>
            </a:r>
            <a:endParaRPr lang="en-US" sz="1440" dirty="0"/>
          </a:p>
        </p:txBody>
      </p:sp>
    </p:spTree>
    <p:extLst>
      <p:ext uri="{BB962C8B-B14F-4D97-AF65-F5344CB8AC3E}">
        <p14:creationId xmlns:p14="http://schemas.microsoft.com/office/powerpoint/2010/main" val="11960117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96558" y="328468"/>
            <a:ext cx="8396337" cy="546881"/>
          </a:xfrm>
          <a:prstGeom prst="rect">
            <a:avLst/>
          </a:prstGeom>
          <a:noFill/>
          <a:ln/>
        </p:spPr>
        <p:txBody>
          <a:bodyPr wrap="square" lIns="95250" tIns="95250" rIns="95250" bIns="95250" rtlCol="0" anchor="t">
            <a:spAutoFit/>
          </a:bodyPr>
          <a:lstStyle/>
          <a:p>
            <a:pPr marL="0" indent="0" algn="ctr">
              <a:lnSpc>
                <a:spcPct val="112500"/>
              </a:lnSpc>
              <a:spcBef>
                <a:spcPts val="375"/>
              </a:spcBef>
              <a:buNone/>
            </a:pPr>
            <a:r>
              <a:rPr lang="en-US" sz="2160" b="1" dirty="0">
                <a:solidFill>
                  <a:srgbClr val="193AB9"/>
                </a:solidFill>
                <a:latin typeface="Noto Sans" pitchFamily="34" charset="0"/>
                <a:ea typeface="Noto Sans" pitchFamily="34" charset="-122"/>
                <a:cs typeface="Noto Sans" pitchFamily="34" charset="-120"/>
              </a:rPr>
              <a:t>BA YẾU TỐ ẢNH HƯỞNG TỚI HIỆU NĂNG</a:t>
            </a:r>
            <a:endParaRPr lang="en-US" sz="1440" dirty="0"/>
          </a:p>
        </p:txBody>
      </p:sp>
      <p:sp>
        <p:nvSpPr>
          <p:cNvPr id="3" name="Shape 1"/>
          <p:cNvSpPr/>
          <p:nvPr/>
        </p:nvSpPr>
        <p:spPr>
          <a:xfrm>
            <a:off x="6639960" y="1921681"/>
            <a:ext cx="2241485" cy="593993"/>
          </a:xfrm>
          <a:custGeom>
            <a:avLst/>
            <a:gdLst/>
            <a:ahLst/>
            <a:cxnLst/>
            <a:rect l="l" t="t" r="r" b="b"/>
            <a:pathLst>
              <a:path w="2241485" h="593993">
                <a:moveTo>
                  <a:pt x="0" y="0"/>
                </a:moveTo>
                <a:moveTo>
                  <a:pt x="0" y="0"/>
                </a:moveTo>
                <a:lnTo>
                  <a:pt x="2241485" y="0"/>
                </a:lnTo>
                <a:lnTo>
                  <a:pt x="2241485" y="593993"/>
                </a:lnTo>
                <a:lnTo>
                  <a:pt x="0" y="593993"/>
                </a:lnTo>
                <a:close/>
              </a:path>
            </a:pathLst>
          </a:custGeom>
          <a:solidFill>
            <a:srgbClr val="379EFC"/>
          </a:solidFill>
          <a:ln/>
        </p:spPr>
        <p:txBody>
          <a:bodyPr/>
          <a:lstStyle/>
          <a:p>
            <a:endParaRPr lang="en-US"/>
          </a:p>
        </p:txBody>
      </p:sp>
      <p:sp>
        <p:nvSpPr>
          <p:cNvPr id="4" name="Shape 2"/>
          <p:cNvSpPr/>
          <p:nvPr/>
        </p:nvSpPr>
        <p:spPr>
          <a:xfrm>
            <a:off x="4515159" y="1624684"/>
            <a:ext cx="2241485" cy="593993"/>
          </a:xfrm>
          <a:custGeom>
            <a:avLst/>
            <a:gdLst/>
            <a:ahLst/>
            <a:cxnLst/>
            <a:rect l="l" t="t" r="r" b="b"/>
            <a:pathLst>
              <a:path w="2241485" h="593993">
                <a:moveTo>
                  <a:pt x="0" y="0"/>
                </a:moveTo>
                <a:moveTo>
                  <a:pt x="0" y="0"/>
                </a:moveTo>
                <a:lnTo>
                  <a:pt x="2241485" y="0"/>
                </a:lnTo>
                <a:lnTo>
                  <a:pt x="2241485" y="593993"/>
                </a:lnTo>
                <a:lnTo>
                  <a:pt x="0" y="593993"/>
                </a:lnTo>
                <a:close/>
              </a:path>
            </a:pathLst>
          </a:custGeom>
          <a:solidFill>
            <a:srgbClr val="2B76FD"/>
          </a:solidFill>
          <a:ln/>
        </p:spPr>
        <p:txBody>
          <a:bodyPr/>
          <a:lstStyle/>
          <a:p>
            <a:endParaRPr lang="en-US"/>
          </a:p>
        </p:txBody>
      </p:sp>
      <p:sp>
        <p:nvSpPr>
          <p:cNvPr id="5" name="Shape 3"/>
          <p:cNvSpPr/>
          <p:nvPr/>
        </p:nvSpPr>
        <p:spPr>
          <a:xfrm>
            <a:off x="2390357" y="1327687"/>
            <a:ext cx="2241485" cy="593993"/>
          </a:xfrm>
          <a:custGeom>
            <a:avLst/>
            <a:gdLst/>
            <a:ahLst/>
            <a:cxnLst/>
            <a:rect l="l" t="t" r="r" b="b"/>
            <a:pathLst>
              <a:path w="2241485" h="593993">
                <a:moveTo>
                  <a:pt x="0" y="0"/>
                </a:moveTo>
                <a:moveTo>
                  <a:pt x="0" y="0"/>
                </a:moveTo>
                <a:lnTo>
                  <a:pt x="2241485" y="0"/>
                </a:lnTo>
                <a:lnTo>
                  <a:pt x="2241485" y="593993"/>
                </a:lnTo>
                <a:lnTo>
                  <a:pt x="0" y="593993"/>
                </a:lnTo>
                <a:close/>
              </a:path>
            </a:pathLst>
          </a:custGeom>
          <a:solidFill>
            <a:srgbClr val="379EFC"/>
          </a:solidFill>
          <a:ln/>
        </p:spPr>
        <p:txBody>
          <a:bodyPr/>
          <a:lstStyle/>
          <a:p>
            <a:endParaRPr lang="en-US"/>
          </a:p>
        </p:txBody>
      </p:sp>
      <p:sp>
        <p:nvSpPr>
          <p:cNvPr id="6" name="Shape 4"/>
          <p:cNvSpPr/>
          <p:nvPr/>
        </p:nvSpPr>
        <p:spPr>
          <a:xfrm>
            <a:off x="262555" y="1097720"/>
            <a:ext cx="2241485" cy="593993"/>
          </a:xfrm>
          <a:custGeom>
            <a:avLst/>
            <a:gdLst/>
            <a:ahLst/>
            <a:cxnLst/>
            <a:rect l="l" t="t" r="r" b="b"/>
            <a:pathLst>
              <a:path w="2241485" h="593993">
                <a:moveTo>
                  <a:pt x="0" y="0"/>
                </a:moveTo>
                <a:moveTo>
                  <a:pt x="0" y="0"/>
                </a:moveTo>
                <a:lnTo>
                  <a:pt x="2241485" y="0"/>
                </a:lnTo>
                <a:lnTo>
                  <a:pt x="2241485" y="593993"/>
                </a:lnTo>
                <a:lnTo>
                  <a:pt x="0" y="593993"/>
                </a:lnTo>
                <a:close/>
              </a:path>
            </a:pathLst>
          </a:custGeom>
          <a:solidFill>
            <a:srgbClr val="2B76FD"/>
          </a:solidFill>
          <a:ln/>
        </p:spPr>
        <p:txBody>
          <a:bodyPr/>
          <a:lstStyle/>
          <a:p>
            <a:endParaRPr lang="en-US"/>
          </a:p>
        </p:txBody>
      </p:sp>
      <p:sp>
        <p:nvSpPr>
          <p:cNvPr id="7" name="Text 5"/>
          <p:cNvSpPr/>
          <p:nvPr/>
        </p:nvSpPr>
        <p:spPr>
          <a:xfrm>
            <a:off x="262555" y="1097720"/>
            <a:ext cx="851764" cy="566928"/>
          </a:xfrm>
          <a:prstGeom prst="rect">
            <a:avLst/>
          </a:prstGeom>
          <a:noFill/>
          <a:ln/>
        </p:spPr>
        <p:txBody>
          <a:bodyPr wrap="square" lIns="95250" tIns="95250" rIns="95250" bIns="95250" rtlCol="0" anchor="t">
            <a:spAutoFit/>
          </a:bodyPr>
          <a:lstStyle/>
          <a:p>
            <a:pPr marL="0" indent="0" algn="ctr">
              <a:lnSpc>
                <a:spcPct val="112500"/>
              </a:lnSpc>
              <a:spcBef>
                <a:spcPts val="375"/>
              </a:spcBef>
              <a:buNone/>
            </a:pPr>
            <a:r>
              <a:rPr lang="en-US" sz="2016" b="1" dirty="0">
                <a:solidFill>
                  <a:srgbClr val="FFFFFF"/>
                </a:solidFill>
                <a:latin typeface="Noto Sans" pitchFamily="34" charset="0"/>
                <a:ea typeface="Noto Sans" pitchFamily="34" charset="-122"/>
                <a:cs typeface="Noto Sans" pitchFamily="34" charset="-120"/>
              </a:rPr>
              <a:t>01</a:t>
            </a:r>
            <a:endParaRPr lang="en-US" sz="1440" dirty="0"/>
          </a:p>
        </p:txBody>
      </p:sp>
      <p:sp>
        <p:nvSpPr>
          <p:cNvPr id="8" name="Text 6"/>
          <p:cNvSpPr/>
          <p:nvPr/>
        </p:nvSpPr>
        <p:spPr>
          <a:xfrm>
            <a:off x="2507040" y="1327992"/>
            <a:ext cx="851764" cy="566928"/>
          </a:xfrm>
          <a:prstGeom prst="rect">
            <a:avLst/>
          </a:prstGeom>
          <a:noFill/>
          <a:ln/>
        </p:spPr>
        <p:txBody>
          <a:bodyPr wrap="square" lIns="95250" tIns="95250" rIns="95250" bIns="95250" rtlCol="0" anchor="t">
            <a:spAutoFit/>
          </a:bodyPr>
          <a:lstStyle/>
          <a:p>
            <a:pPr marL="0" indent="0" algn="ctr">
              <a:lnSpc>
                <a:spcPct val="112500"/>
              </a:lnSpc>
              <a:spcBef>
                <a:spcPts val="375"/>
              </a:spcBef>
              <a:buNone/>
            </a:pPr>
            <a:r>
              <a:rPr lang="en-US" sz="2016" b="1" dirty="0">
                <a:solidFill>
                  <a:srgbClr val="FFFFFF"/>
                </a:solidFill>
                <a:latin typeface="Noto Sans" pitchFamily="34" charset="0"/>
                <a:ea typeface="Noto Sans" pitchFamily="34" charset="-122"/>
                <a:cs typeface="Noto Sans" pitchFamily="34" charset="-120"/>
              </a:rPr>
              <a:t>02</a:t>
            </a:r>
            <a:endParaRPr lang="en-US" sz="1440" dirty="0"/>
          </a:p>
        </p:txBody>
      </p:sp>
      <p:sp>
        <p:nvSpPr>
          <p:cNvPr id="9" name="Text 7"/>
          <p:cNvSpPr/>
          <p:nvPr/>
        </p:nvSpPr>
        <p:spPr>
          <a:xfrm>
            <a:off x="4631841" y="1624836"/>
            <a:ext cx="851764" cy="566928"/>
          </a:xfrm>
          <a:prstGeom prst="rect">
            <a:avLst/>
          </a:prstGeom>
          <a:noFill/>
          <a:ln/>
        </p:spPr>
        <p:txBody>
          <a:bodyPr wrap="square" lIns="95250" tIns="95250" rIns="95250" bIns="95250" rtlCol="0" anchor="t">
            <a:spAutoFit/>
          </a:bodyPr>
          <a:lstStyle/>
          <a:p>
            <a:pPr marL="0" indent="0" algn="ctr">
              <a:lnSpc>
                <a:spcPct val="112500"/>
              </a:lnSpc>
              <a:spcBef>
                <a:spcPts val="375"/>
              </a:spcBef>
              <a:buNone/>
            </a:pPr>
            <a:r>
              <a:rPr lang="en-US" sz="2016" b="1" dirty="0">
                <a:solidFill>
                  <a:srgbClr val="FFFFFF"/>
                </a:solidFill>
                <a:latin typeface="Noto Sans" pitchFamily="34" charset="0"/>
                <a:ea typeface="Noto Sans" pitchFamily="34" charset="-122"/>
                <a:cs typeface="Noto Sans" pitchFamily="34" charset="-120"/>
              </a:rPr>
              <a:t>03</a:t>
            </a:r>
            <a:endParaRPr lang="en-US" sz="1440" dirty="0"/>
          </a:p>
        </p:txBody>
      </p:sp>
      <p:sp>
        <p:nvSpPr>
          <p:cNvPr id="10" name="Text 8"/>
          <p:cNvSpPr/>
          <p:nvPr/>
        </p:nvSpPr>
        <p:spPr>
          <a:xfrm>
            <a:off x="6756643" y="1921681"/>
            <a:ext cx="851764" cy="566928"/>
          </a:xfrm>
          <a:prstGeom prst="rect">
            <a:avLst/>
          </a:prstGeom>
          <a:noFill/>
          <a:ln/>
        </p:spPr>
        <p:txBody>
          <a:bodyPr wrap="square" lIns="95250" tIns="95250" rIns="95250" bIns="95250" rtlCol="0" anchor="t">
            <a:spAutoFit/>
          </a:bodyPr>
          <a:lstStyle/>
          <a:p>
            <a:pPr marL="0" indent="0" algn="ctr">
              <a:lnSpc>
                <a:spcPct val="112500"/>
              </a:lnSpc>
              <a:spcBef>
                <a:spcPts val="375"/>
              </a:spcBef>
              <a:buNone/>
            </a:pPr>
            <a:r>
              <a:rPr lang="en-US" sz="2016" b="1" dirty="0">
                <a:solidFill>
                  <a:srgbClr val="FFFFFF"/>
                </a:solidFill>
                <a:latin typeface="Noto Sans" pitchFamily="34" charset="0"/>
                <a:ea typeface="Noto Sans" pitchFamily="34" charset="-122"/>
                <a:cs typeface="Noto Sans" pitchFamily="34" charset="-120"/>
              </a:rPr>
              <a:t>04</a:t>
            </a:r>
            <a:endParaRPr lang="en-US" sz="1440" dirty="0"/>
          </a:p>
        </p:txBody>
      </p:sp>
      <p:sp>
        <p:nvSpPr>
          <p:cNvPr id="11" name="Text 9"/>
          <p:cNvSpPr/>
          <p:nvPr/>
        </p:nvSpPr>
        <p:spPr>
          <a:xfrm>
            <a:off x="262555" y="1682138"/>
            <a:ext cx="2127802" cy="391774"/>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en-US" sz="1296" b="1" dirty="0">
                <a:solidFill>
                  <a:srgbClr val="2B76FD"/>
                </a:solidFill>
                <a:latin typeface="Noto Sans" pitchFamily="34" charset="0"/>
                <a:ea typeface="Noto Sans" pitchFamily="34" charset="-122"/>
                <a:cs typeface="Noto Sans" pitchFamily="34" charset="-120"/>
              </a:rPr>
              <a:t>TỐC ĐỘ</a:t>
            </a:r>
            <a:endParaRPr lang="en-US" sz="1440" dirty="0"/>
          </a:p>
        </p:txBody>
      </p:sp>
      <p:sp>
        <p:nvSpPr>
          <p:cNvPr id="13" name="Text 11"/>
          <p:cNvSpPr/>
          <p:nvPr/>
        </p:nvSpPr>
        <p:spPr>
          <a:xfrm>
            <a:off x="2390357" y="1912105"/>
            <a:ext cx="2124802" cy="391774"/>
          </a:xfrm>
          <a:prstGeom prst="rect">
            <a:avLst/>
          </a:prstGeom>
          <a:noFill/>
          <a:ln/>
        </p:spPr>
        <p:txBody>
          <a:bodyPr wrap="square" lIns="95250" tIns="95250" rIns="95250" bIns="95250" rtlCol="0" anchor="t">
            <a:spAutoFit/>
          </a:bodyPr>
          <a:lstStyle/>
          <a:p>
            <a:pPr marL="0" indent="0">
              <a:lnSpc>
                <a:spcPct val="100000"/>
              </a:lnSpc>
              <a:buNone/>
            </a:pPr>
            <a:r>
              <a:rPr lang="en-US" sz="1296" b="1" dirty="0">
                <a:solidFill>
                  <a:srgbClr val="379EFC"/>
                </a:solidFill>
                <a:latin typeface="Noto Sans" pitchFamily="34" charset="0"/>
                <a:ea typeface="Noto Sans" pitchFamily="34" charset="-122"/>
                <a:cs typeface="Noto Sans" pitchFamily="34" charset="-120"/>
              </a:rPr>
              <a:t>ĐỘ CHÍNH XÁC</a:t>
            </a:r>
            <a:endParaRPr lang="en-US" sz="1440" dirty="0"/>
          </a:p>
        </p:txBody>
      </p:sp>
      <p:sp>
        <p:nvSpPr>
          <p:cNvPr id="15" name="Text 13"/>
          <p:cNvSpPr/>
          <p:nvPr/>
        </p:nvSpPr>
        <p:spPr>
          <a:xfrm>
            <a:off x="4515159" y="2189501"/>
            <a:ext cx="2124802" cy="391774"/>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en-US" sz="1296" b="1" dirty="0">
                <a:solidFill>
                  <a:srgbClr val="2B76FD"/>
                </a:solidFill>
                <a:latin typeface="Noto Sans" pitchFamily="34" charset="0"/>
                <a:ea typeface="Noto Sans" pitchFamily="34" charset="-122"/>
                <a:cs typeface="Noto Sans" pitchFamily="34" charset="-120"/>
              </a:rPr>
              <a:t>BỘ NHỚ SỬ DỤNG</a:t>
            </a:r>
            <a:endParaRPr lang="en-US" sz="1440" dirty="0"/>
          </a:p>
        </p:txBody>
      </p:sp>
      <p:sp>
        <p:nvSpPr>
          <p:cNvPr id="16" name="Text 14"/>
          <p:cNvSpPr/>
          <p:nvPr/>
        </p:nvSpPr>
        <p:spPr>
          <a:xfrm>
            <a:off x="4515159" y="2799269"/>
            <a:ext cx="2124802" cy="413959"/>
          </a:xfrm>
          <a:prstGeom prst="rect">
            <a:avLst/>
          </a:prstGeom>
          <a:noFill/>
          <a:ln/>
        </p:spPr>
        <p:txBody>
          <a:bodyPr wrap="square" lIns="95250" tIns="95250" rIns="95250" bIns="95250" rtlCol="0" anchor="t">
            <a:spAutoFit/>
          </a:bodyPr>
          <a:lstStyle/>
          <a:p>
            <a:pPr marL="0" indent="0">
              <a:lnSpc>
                <a:spcPct val="100000"/>
              </a:lnSpc>
              <a:spcBef>
                <a:spcPts val="375"/>
              </a:spcBef>
              <a:buNone/>
            </a:pPr>
            <a:endParaRPr lang="en-US" sz="1440" dirty="0"/>
          </a:p>
        </p:txBody>
      </p:sp>
      <p:sp>
        <p:nvSpPr>
          <p:cNvPr id="17" name="Text 15"/>
          <p:cNvSpPr/>
          <p:nvPr/>
        </p:nvSpPr>
        <p:spPr>
          <a:xfrm>
            <a:off x="6639960" y="2496523"/>
            <a:ext cx="2241485" cy="591187"/>
          </a:xfrm>
          <a:prstGeom prst="rect">
            <a:avLst/>
          </a:prstGeom>
          <a:noFill/>
          <a:ln/>
        </p:spPr>
        <p:txBody>
          <a:bodyPr wrap="square" lIns="95250" tIns="95250" rIns="95250" bIns="95250" rtlCol="0" anchor="t">
            <a:spAutoFit/>
          </a:bodyPr>
          <a:lstStyle/>
          <a:p>
            <a:pPr marL="0" indent="0" algn="ctr">
              <a:lnSpc>
                <a:spcPct val="100000"/>
              </a:lnSpc>
              <a:spcBef>
                <a:spcPts val="375"/>
              </a:spcBef>
              <a:buNone/>
            </a:pPr>
            <a:r>
              <a:rPr lang="en-US" sz="1296" b="1" dirty="0">
                <a:solidFill>
                  <a:srgbClr val="379EFC"/>
                </a:solidFill>
                <a:latin typeface="Noto Sans" pitchFamily="34" charset="0"/>
                <a:ea typeface="Noto Sans" pitchFamily="34" charset="-122"/>
                <a:cs typeface="Noto Sans" pitchFamily="34" charset="-120"/>
              </a:rPr>
              <a:t>PHƯƠNG PHÁP TÌM KIẾM</a:t>
            </a:r>
            <a:endParaRPr lang="en-US" sz="1440" dirty="0"/>
          </a:p>
        </p:txBody>
      </p:sp>
      <p:sp>
        <p:nvSpPr>
          <p:cNvPr id="18" name="Text 16"/>
          <p:cNvSpPr/>
          <p:nvPr/>
        </p:nvSpPr>
        <p:spPr>
          <a:xfrm>
            <a:off x="6639960" y="3105106"/>
            <a:ext cx="2241485" cy="1669688"/>
          </a:xfrm>
          <a:prstGeom prst="rect">
            <a:avLst/>
          </a:prstGeom>
          <a:noFill/>
          <a:ln/>
        </p:spPr>
        <p:txBody>
          <a:bodyPr wrap="square" lIns="95250" tIns="95250" rIns="95250" bIns="95250" rtlCol="0" anchor="t">
            <a:spAutoFit/>
          </a:bodyPr>
          <a:lstStyle/>
          <a:p>
            <a:r>
              <a:rPr lang="en-US" sz="1600" dirty="0">
                <a:solidFill>
                  <a:srgbClr val="00B0F0"/>
                </a:solidFill>
                <a:latin typeface="Times New Roman" panose="02020603050405020304" pitchFamily="18" charset="0"/>
                <a:cs typeface="Times New Roman" panose="02020603050405020304" pitchFamily="18" charset="0"/>
              </a:rPr>
              <a:t>Brute Force Search</a:t>
            </a:r>
          </a:p>
          <a:p>
            <a:r>
              <a:rPr lang="en-US" sz="1600" dirty="0">
                <a:solidFill>
                  <a:srgbClr val="00B0F0"/>
                </a:solidFill>
                <a:latin typeface="Times New Roman" panose="02020603050405020304" pitchFamily="18" charset="0"/>
                <a:cs typeface="Times New Roman" panose="02020603050405020304" pitchFamily="18" charset="0"/>
              </a:rPr>
              <a:t>T</a:t>
            </a:r>
            <a:r>
              <a:rPr lang="vi-VN" sz="1600" dirty="0">
                <a:solidFill>
                  <a:srgbClr val="00B0F0"/>
                </a:solidFill>
                <a:latin typeface="Times New Roman" panose="02020603050405020304" pitchFamily="18" charset="0"/>
                <a:cs typeface="Times New Roman" panose="02020603050405020304" pitchFamily="18" charset="0"/>
              </a:rPr>
              <a:t>ìm kiếm đầy đủ, rất chính xác nhưng chậm.</a:t>
            </a:r>
          </a:p>
          <a:p>
            <a:r>
              <a:rPr lang="vi-VN" sz="1600" dirty="0">
                <a:solidFill>
                  <a:srgbClr val="00B0F0"/>
                </a:solidFill>
                <a:latin typeface="Times New Roman" panose="02020603050405020304" pitchFamily="18" charset="0"/>
                <a:cs typeface="Times New Roman" panose="02020603050405020304" pitchFamily="18" charset="0"/>
              </a:rPr>
              <a:t>ANNS</a:t>
            </a:r>
            <a:endParaRPr lang="en-US" sz="1600" dirty="0">
              <a:solidFill>
                <a:srgbClr val="00B0F0"/>
              </a:solidFill>
              <a:latin typeface="Times New Roman" panose="02020603050405020304" pitchFamily="18" charset="0"/>
              <a:cs typeface="Times New Roman" panose="02020603050405020304" pitchFamily="18" charset="0"/>
            </a:endParaRPr>
          </a:p>
          <a:p>
            <a:r>
              <a:rPr lang="en-US" sz="1600" dirty="0">
                <a:solidFill>
                  <a:srgbClr val="00B0F0"/>
                </a:solidFill>
                <a:latin typeface="Times New Roman" panose="02020603050405020304" pitchFamily="18" charset="0"/>
                <a:cs typeface="Times New Roman" panose="02020603050405020304" pitchFamily="18" charset="0"/>
              </a:rPr>
              <a:t>C</a:t>
            </a:r>
            <a:r>
              <a:rPr lang="vi-VN" sz="1600" dirty="0">
                <a:solidFill>
                  <a:srgbClr val="00B0F0"/>
                </a:solidFill>
                <a:latin typeface="Times New Roman" panose="02020603050405020304" pitchFamily="18" charset="0"/>
                <a:cs typeface="Times New Roman" panose="02020603050405020304" pitchFamily="18" charset="0"/>
              </a:rPr>
              <a:t>ho phép sai số nhỏ để tăng tốc độ lớn.</a:t>
            </a:r>
          </a:p>
        </p:txBody>
      </p:sp>
      <p:sp>
        <p:nvSpPr>
          <p:cNvPr id="19" name="Text 16">
            <a:extLst>
              <a:ext uri="{FF2B5EF4-FFF2-40B4-BE49-F238E27FC236}">
                <a16:creationId xmlns:a16="http://schemas.microsoft.com/office/drawing/2014/main" id="{5BDC3B25-C0F9-EC24-FDDD-666AAF3E07EA}"/>
              </a:ext>
            </a:extLst>
          </p:cNvPr>
          <p:cNvSpPr/>
          <p:nvPr/>
        </p:nvSpPr>
        <p:spPr>
          <a:xfrm>
            <a:off x="265555" y="2422662"/>
            <a:ext cx="2241485" cy="438582"/>
          </a:xfrm>
          <a:prstGeom prst="rect">
            <a:avLst/>
          </a:prstGeom>
          <a:noFill/>
          <a:ln/>
        </p:spPr>
        <p:txBody>
          <a:bodyPr wrap="square" lIns="95250" tIns="95250" rIns="95250" bIns="95250" rtlCol="0" anchor="t">
            <a:spAutoFit/>
          </a:bodyPr>
          <a:lstStyle/>
          <a:p>
            <a:r>
              <a:rPr lang="en-US" sz="1600" dirty="0" err="1">
                <a:solidFill>
                  <a:srgbClr val="00B0F0"/>
                </a:solidFill>
                <a:latin typeface="Times New Roman" panose="02020603050405020304" pitchFamily="18" charset="0"/>
                <a:cs typeface="Times New Roman" panose="02020603050405020304" pitchFamily="18" charset="0"/>
              </a:rPr>
              <a:t>Tốc</a:t>
            </a:r>
            <a:r>
              <a:rPr lang="en-US" sz="1600" dirty="0">
                <a:solidFill>
                  <a:srgbClr val="00B0F0"/>
                </a:solidFill>
                <a:latin typeface="Times New Roman" panose="02020603050405020304" pitchFamily="18" charset="0"/>
                <a:cs typeface="Times New Roman" panose="02020603050405020304" pitchFamily="18" charset="0"/>
              </a:rPr>
              <a:t> </a:t>
            </a:r>
            <a:r>
              <a:rPr lang="en-US" sz="1600" dirty="0" err="1">
                <a:solidFill>
                  <a:srgbClr val="00B0F0"/>
                </a:solidFill>
                <a:latin typeface="Times New Roman" panose="02020603050405020304" pitchFamily="18" charset="0"/>
                <a:cs typeface="Times New Roman" panose="02020603050405020304" pitchFamily="18" charset="0"/>
              </a:rPr>
              <a:t>độ</a:t>
            </a:r>
            <a:r>
              <a:rPr lang="en-US" sz="1600" dirty="0">
                <a:solidFill>
                  <a:srgbClr val="00B0F0"/>
                </a:solidFill>
                <a:latin typeface="Times New Roman" panose="02020603050405020304" pitchFamily="18" charset="0"/>
                <a:cs typeface="Times New Roman" panose="02020603050405020304" pitchFamily="18" charset="0"/>
              </a:rPr>
              <a:t> </a:t>
            </a:r>
            <a:r>
              <a:rPr lang="en-US" sz="1600" dirty="0" err="1">
                <a:solidFill>
                  <a:srgbClr val="00B0F0"/>
                </a:solidFill>
                <a:latin typeface="Times New Roman" panose="02020603050405020304" pitchFamily="18" charset="0"/>
                <a:cs typeface="Times New Roman" panose="02020603050405020304" pitchFamily="18" charset="0"/>
              </a:rPr>
              <a:t>nhanh</a:t>
            </a:r>
            <a:r>
              <a:rPr lang="en-US" sz="1600" dirty="0">
                <a:solidFill>
                  <a:srgbClr val="00B0F0"/>
                </a:solidFill>
                <a:latin typeface="Times New Roman" panose="02020603050405020304" pitchFamily="18" charset="0"/>
                <a:cs typeface="Times New Roman" panose="02020603050405020304" pitchFamily="18" charset="0"/>
              </a:rPr>
              <a:t> </a:t>
            </a:r>
            <a:r>
              <a:rPr lang="en-US" sz="1600" dirty="0" err="1">
                <a:solidFill>
                  <a:srgbClr val="00B0F0"/>
                </a:solidFill>
                <a:latin typeface="Times New Roman" panose="02020603050405020304" pitchFamily="18" charset="0"/>
                <a:cs typeface="Times New Roman" panose="02020603050405020304" pitchFamily="18" charset="0"/>
              </a:rPr>
              <a:t>nhất</a:t>
            </a:r>
            <a:endParaRPr lang="en-US" sz="1600" dirty="0">
              <a:solidFill>
                <a:srgbClr val="00B0F0"/>
              </a:solidFill>
              <a:latin typeface="Times New Roman" panose="02020603050405020304" pitchFamily="18" charset="0"/>
              <a:cs typeface="Times New Roman" panose="02020603050405020304" pitchFamily="18" charset="0"/>
            </a:endParaRPr>
          </a:p>
        </p:txBody>
      </p:sp>
      <p:sp>
        <p:nvSpPr>
          <p:cNvPr id="20" name="Text 16">
            <a:extLst>
              <a:ext uri="{FF2B5EF4-FFF2-40B4-BE49-F238E27FC236}">
                <a16:creationId xmlns:a16="http://schemas.microsoft.com/office/drawing/2014/main" id="{1CD889B9-4087-7437-48B1-7418DEFF2C30}"/>
              </a:ext>
            </a:extLst>
          </p:cNvPr>
          <p:cNvSpPr/>
          <p:nvPr/>
        </p:nvSpPr>
        <p:spPr>
          <a:xfrm>
            <a:off x="2330515" y="2525106"/>
            <a:ext cx="2241485" cy="684803"/>
          </a:xfrm>
          <a:prstGeom prst="rect">
            <a:avLst/>
          </a:prstGeom>
          <a:noFill/>
          <a:ln/>
        </p:spPr>
        <p:txBody>
          <a:bodyPr wrap="square" lIns="95250" tIns="95250" rIns="95250" bIns="95250" rtlCol="0" anchor="t">
            <a:spAutoFit/>
          </a:bodyPr>
          <a:lstStyle/>
          <a:p>
            <a:r>
              <a:rPr lang="en-US" sz="1600" dirty="0" err="1">
                <a:solidFill>
                  <a:srgbClr val="00B0F0"/>
                </a:solidFill>
                <a:latin typeface="Times New Roman" panose="02020603050405020304" pitchFamily="18" charset="0"/>
                <a:cs typeface="Times New Roman" panose="02020603050405020304" pitchFamily="18" charset="0"/>
              </a:rPr>
              <a:t>Độ</a:t>
            </a:r>
            <a:r>
              <a:rPr lang="en-US" sz="1600" dirty="0">
                <a:solidFill>
                  <a:srgbClr val="00B0F0"/>
                </a:solidFill>
                <a:latin typeface="Times New Roman" panose="02020603050405020304" pitchFamily="18" charset="0"/>
                <a:cs typeface="Times New Roman" panose="02020603050405020304" pitchFamily="18" charset="0"/>
              </a:rPr>
              <a:t> </a:t>
            </a:r>
            <a:r>
              <a:rPr lang="en-US" sz="1600" dirty="0" err="1">
                <a:solidFill>
                  <a:srgbClr val="00B0F0"/>
                </a:solidFill>
                <a:latin typeface="Times New Roman" panose="02020603050405020304" pitchFamily="18" charset="0"/>
                <a:cs typeface="Times New Roman" panose="02020603050405020304" pitchFamily="18" charset="0"/>
              </a:rPr>
              <a:t>chính</a:t>
            </a:r>
            <a:r>
              <a:rPr lang="en-US" sz="1600" dirty="0">
                <a:solidFill>
                  <a:srgbClr val="00B0F0"/>
                </a:solidFill>
                <a:latin typeface="Times New Roman" panose="02020603050405020304" pitchFamily="18" charset="0"/>
                <a:cs typeface="Times New Roman" panose="02020603050405020304" pitchFamily="18" charset="0"/>
              </a:rPr>
              <a:t> </a:t>
            </a:r>
            <a:r>
              <a:rPr lang="en-US" sz="1600" dirty="0" err="1">
                <a:solidFill>
                  <a:srgbClr val="00B0F0"/>
                </a:solidFill>
                <a:latin typeface="Times New Roman" panose="02020603050405020304" pitchFamily="18" charset="0"/>
                <a:cs typeface="Times New Roman" panose="02020603050405020304" pitchFamily="18" charset="0"/>
              </a:rPr>
              <a:t>xác</a:t>
            </a:r>
            <a:r>
              <a:rPr lang="en-US" sz="1600" dirty="0">
                <a:solidFill>
                  <a:srgbClr val="00B0F0"/>
                </a:solidFill>
                <a:latin typeface="Times New Roman" panose="02020603050405020304" pitchFamily="18" charset="0"/>
                <a:cs typeface="Times New Roman" panose="02020603050405020304" pitchFamily="18" charset="0"/>
              </a:rPr>
              <a:t> </a:t>
            </a:r>
            <a:r>
              <a:rPr lang="en-US" sz="1600" dirty="0" err="1">
                <a:solidFill>
                  <a:srgbClr val="00B0F0"/>
                </a:solidFill>
                <a:latin typeface="Times New Roman" panose="02020603050405020304" pitchFamily="18" charset="0"/>
                <a:cs typeface="Times New Roman" panose="02020603050405020304" pitchFamily="18" charset="0"/>
              </a:rPr>
              <a:t>phải</a:t>
            </a:r>
            <a:r>
              <a:rPr lang="en-US" sz="1600" dirty="0">
                <a:solidFill>
                  <a:srgbClr val="00B0F0"/>
                </a:solidFill>
                <a:latin typeface="Times New Roman" panose="02020603050405020304" pitchFamily="18" charset="0"/>
                <a:cs typeface="Times New Roman" panose="02020603050405020304" pitchFamily="18" charset="0"/>
              </a:rPr>
              <a:t> </a:t>
            </a:r>
            <a:r>
              <a:rPr lang="en-US" sz="1600" dirty="0" err="1">
                <a:solidFill>
                  <a:srgbClr val="00B0F0"/>
                </a:solidFill>
                <a:latin typeface="Times New Roman" panose="02020603050405020304" pitchFamily="18" charset="0"/>
                <a:cs typeface="Times New Roman" panose="02020603050405020304" pitchFamily="18" charset="0"/>
              </a:rPr>
              <a:t>cao</a:t>
            </a:r>
            <a:r>
              <a:rPr lang="en-US" sz="1600" dirty="0">
                <a:solidFill>
                  <a:srgbClr val="00B0F0"/>
                </a:solidFill>
                <a:latin typeface="Times New Roman" panose="02020603050405020304" pitchFamily="18" charset="0"/>
                <a:cs typeface="Times New Roman" panose="02020603050405020304" pitchFamily="18" charset="0"/>
              </a:rPr>
              <a:t> </a:t>
            </a:r>
            <a:r>
              <a:rPr lang="en-US" sz="1600" dirty="0" err="1">
                <a:solidFill>
                  <a:srgbClr val="00B0F0"/>
                </a:solidFill>
                <a:latin typeface="Times New Roman" panose="02020603050405020304" pitchFamily="18" charset="0"/>
                <a:cs typeface="Times New Roman" panose="02020603050405020304" pitchFamily="18" charset="0"/>
              </a:rPr>
              <a:t>nhất</a:t>
            </a:r>
            <a:endParaRPr lang="en-US" sz="1600" dirty="0">
              <a:solidFill>
                <a:srgbClr val="00B0F0"/>
              </a:solidFill>
              <a:latin typeface="Times New Roman" panose="02020603050405020304" pitchFamily="18" charset="0"/>
              <a:cs typeface="Times New Roman" panose="02020603050405020304" pitchFamily="18" charset="0"/>
            </a:endParaRPr>
          </a:p>
        </p:txBody>
      </p:sp>
      <p:sp>
        <p:nvSpPr>
          <p:cNvPr id="21" name="Text 16">
            <a:extLst>
              <a:ext uri="{FF2B5EF4-FFF2-40B4-BE49-F238E27FC236}">
                <a16:creationId xmlns:a16="http://schemas.microsoft.com/office/drawing/2014/main" id="{006B3230-6ACC-ED05-6AF5-45B4E484AD19}"/>
              </a:ext>
            </a:extLst>
          </p:cNvPr>
          <p:cNvSpPr/>
          <p:nvPr/>
        </p:nvSpPr>
        <p:spPr>
          <a:xfrm>
            <a:off x="4521375" y="2618118"/>
            <a:ext cx="2241485" cy="438582"/>
          </a:xfrm>
          <a:prstGeom prst="rect">
            <a:avLst/>
          </a:prstGeom>
          <a:noFill/>
          <a:ln/>
        </p:spPr>
        <p:txBody>
          <a:bodyPr wrap="square" lIns="95250" tIns="95250" rIns="95250" bIns="95250" rtlCol="0" anchor="t">
            <a:spAutoFit/>
          </a:bodyPr>
          <a:lstStyle/>
          <a:p>
            <a:r>
              <a:rPr lang="en-US" sz="1600" dirty="0" err="1">
                <a:solidFill>
                  <a:srgbClr val="00B0F0"/>
                </a:solidFill>
                <a:latin typeface="Times New Roman" panose="02020603050405020304" pitchFamily="18" charset="0"/>
                <a:cs typeface="Times New Roman" panose="02020603050405020304" pitchFamily="18" charset="0"/>
              </a:rPr>
              <a:t>Tiết</a:t>
            </a:r>
            <a:r>
              <a:rPr lang="en-US" sz="1600" dirty="0">
                <a:solidFill>
                  <a:srgbClr val="00B0F0"/>
                </a:solidFill>
                <a:latin typeface="Times New Roman" panose="02020603050405020304" pitchFamily="18" charset="0"/>
                <a:cs typeface="Times New Roman" panose="02020603050405020304" pitchFamily="18" charset="0"/>
              </a:rPr>
              <a:t> </a:t>
            </a:r>
            <a:r>
              <a:rPr lang="en-US" sz="1600" dirty="0" err="1">
                <a:solidFill>
                  <a:srgbClr val="00B0F0"/>
                </a:solidFill>
                <a:latin typeface="Times New Roman" panose="02020603050405020304" pitchFamily="18" charset="0"/>
                <a:cs typeface="Times New Roman" panose="02020603050405020304" pitchFamily="18" charset="0"/>
              </a:rPr>
              <a:t>kiệm</a:t>
            </a:r>
            <a:r>
              <a:rPr lang="en-US" sz="1600" dirty="0">
                <a:solidFill>
                  <a:srgbClr val="00B0F0"/>
                </a:solidFill>
                <a:latin typeface="Times New Roman" panose="02020603050405020304" pitchFamily="18" charset="0"/>
                <a:cs typeface="Times New Roman" panose="02020603050405020304" pitchFamily="18" charset="0"/>
              </a:rPr>
              <a:t> </a:t>
            </a:r>
            <a:r>
              <a:rPr lang="en-US" sz="1600" dirty="0" err="1">
                <a:solidFill>
                  <a:srgbClr val="00B0F0"/>
                </a:solidFill>
                <a:latin typeface="Times New Roman" panose="02020603050405020304" pitchFamily="18" charset="0"/>
                <a:cs typeface="Times New Roman" panose="02020603050405020304" pitchFamily="18" charset="0"/>
              </a:rPr>
              <a:t>bộ</a:t>
            </a:r>
            <a:r>
              <a:rPr lang="en-US" sz="1600" dirty="0">
                <a:solidFill>
                  <a:srgbClr val="00B0F0"/>
                </a:solidFill>
                <a:latin typeface="Times New Roman" panose="02020603050405020304" pitchFamily="18" charset="0"/>
                <a:cs typeface="Times New Roman" panose="02020603050405020304" pitchFamily="18" charset="0"/>
              </a:rPr>
              <a:t> </a:t>
            </a:r>
            <a:r>
              <a:rPr lang="en-US" sz="1600" dirty="0" err="1">
                <a:solidFill>
                  <a:srgbClr val="00B0F0"/>
                </a:solidFill>
                <a:latin typeface="Times New Roman" panose="02020603050405020304" pitchFamily="18" charset="0"/>
                <a:cs typeface="Times New Roman" panose="02020603050405020304" pitchFamily="18" charset="0"/>
              </a:rPr>
              <a:t>nhớ</a:t>
            </a:r>
            <a:r>
              <a:rPr lang="en-US" sz="1600" dirty="0">
                <a:solidFill>
                  <a:srgbClr val="00B0F0"/>
                </a:solidFill>
                <a:latin typeface="Times New Roman" panose="02020603050405020304" pitchFamily="18" charset="0"/>
                <a:cs typeface="Times New Roman" panose="02020603050405020304" pitchFamily="18" charset="0"/>
              </a:rPr>
              <a:t> </a:t>
            </a:r>
            <a:r>
              <a:rPr lang="en-US" sz="1600" dirty="0" err="1">
                <a:solidFill>
                  <a:srgbClr val="00B0F0"/>
                </a:solidFill>
                <a:latin typeface="Times New Roman" panose="02020603050405020304" pitchFamily="18" charset="0"/>
                <a:cs typeface="Times New Roman" panose="02020603050405020304" pitchFamily="18" charset="0"/>
              </a:rPr>
              <a:t>nhất</a:t>
            </a:r>
            <a:endParaRPr lang="en-US" sz="1600" dirty="0">
              <a:solidFill>
                <a:srgbClr val="00B0F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68C6ECD7-1375-7F0B-836B-01D644452FD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5E70879-416F-0CDB-389A-C6360A9F8497}"/>
              </a:ext>
            </a:extLst>
          </p:cNvPr>
          <p:cNvSpPr/>
          <p:nvPr/>
        </p:nvSpPr>
        <p:spPr>
          <a:xfrm>
            <a:off x="396558" y="328468"/>
            <a:ext cx="8396337" cy="546881"/>
          </a:xfrm>
          <a:prstGeom prst="rect">
            <a:avLst/>
          </a:prstGeom>
          <a:noFill/>
          <a:ln/>
        </p:spPr>
        <p:txBody>
          <a:bodyPr wrap="square" lIns="95250" tIns="95250" rIns="95250" bIns="95250" rtlCol="0" anchor="t">
            <a:spAutoFit/>
          </a:bodyPr>
          <a:lstStyle/>
          <a:p>
            <a:pPr marL="0" indent="0">
              <a:lnSpc>
                <a:spcPct val="112500"/>
              </a:lnSpc>
              <a:spcBef>
                <a:spcPts val="375"/>
              </a:spcBef>
              <a:buNone/>
            </a:pPr>
            <a:r>
              <a:rPr lang="en-US" sz="2160" b="1" dirty="0">
                <a:solidFill>
                  <a:srgbClr val="193AB9"/>
                </a:solidFill>
                <a:latin typeface="Noto Sans" pitchFamily="34" charset="0"/>
                <a:ea typeface="Noto Sans" pitchFamily="34" charset="-122"/>
                <a:cs typeface="Noto Sans" pitchFamily="34" charset="-120"/>
              </a:rPr>
              <a:t>3.1. PHƯƠNG PHÁP TÌM KIẾM</a:t>
            </a:r>
            <a:endParaRPr lang="en-US" sz="1440" dirty="0"/>
          </a:p>
        </p:txBody>
      </p:sp>
      <p:sp>
        <p:nvSpPr>
          <p:cNvPr id="3" name="Shape 1">
            <a:extLst>
              <a:ext uri="{FF2B5EF4-FFF2-40B4-BE49-F238E27FC236}">
                <a16:creationId xmlns:a16="http://schemas.microsoft.com/office/drawing/2014/main" id="{17246DD2-7498-9FB1-9806-BEE579E03199}"/>
              </a:ext>
            </a:extLst>
          </p:cNvPr>
          <p:cNvSpPr/>
          <p:nvPr/>
        </p:nvSpPr>
        <p:spPr>
          <a:xfrm>
            <a:off x="991910" y="988107"/>
            <a:ext cx="3535716" cy="3301782"/>
          </a:xfrm>
          <a:custGeom>
            <a:avLst/>
            <a:gdLst/>
            <a:ahLst/>
            <a:cxnLst/>
            <a:rect l="l" t="t" r="r" b="b"/>
            <a:pathLst>
              <a:path w="3535716" h="3301782">
                <a:moveTo>
                  <a:pt x="328378" y="0"/>
                </a:moveTo>
                <a:moveTo>
                  <a:pt x="328378" y="0"/>
                </a:moveTo>
                <a:lnTo>
                  <a:pt x="3207338" y="0"/>
                </a:lnTo>
                <a:quadBezTo>
                  <a:pt x="3535716" y="0"/>
                  <a:pt x="3535716" y="412723"/>
                </a:quadBezTo>
                <a:lnTo>
                  <a:pt x="3535716" y="2889059"/>
                </a:lnTo>
                <a:quadBezTo>
                  <a:pt x="3535716" y="3301782"/>
                  <a:pt x="3207338" y="3301782"/>
                </a:quadBezTo>
                <a:lnTo>
                  <a:pt x="328378" y="3301782"/>
                </a:lnTo>
                <a:quadBezTo>
                  <a:pt x="0" y="3301782"/>
                  <a:pt x="0" y="2889059"/>
                </a:quadBezTo>
                <a:lnTo>
                  <a:pt x="0" y="412723"/>
                </a:lnTo>
                <a:quadBezTo>
                  <a:pt x="0" y="0"/>
                  <a:pt x="328378" y="0"/>
                </a:quadBezTo>
                <a:close/>
              </a:path>
            </a:pathLst>
          </a:custGeom>
          <a:solidFill>
            <a:srgbClr val="2B76FD">
              <a:alpha val="0"/>
            </a:srgbClr>
          </a:solidFill>
          <a:ln w="19050">
            <a:solidFill>
              <a:srgbClr val="2B76FD"/>
            </a:solidFill>
            <a:prstDash val="solid"/>
          </a:ln>
        </p:spPr>
        <p:txBody>
          <a:bodyPr/>
          <a:lstStyle/>
          <a:p>
            <a:endParaRPr lang="en-US"/>
          </a:p>
        </p:txBody>
      </p:sp>
      <p:sp>
        <p:nvSpPr>
          <p:cNvPr id="4" name="Shape 2">
            <a:extLst>
              <a:ext uri="{FF2B5EF4-FFF2-40B4-BE49-F238E27FC236}">
                <a16:creationId xmlns:a16="http://schemas.microsoft.com/office/drawing/2014/main" id="{F304DF85-99D8-1431-07C8-F3F56F719D87}"/>
              </a:ext>
            </a:extLst>
          </p:cNvPr>
          <p:cNvSpPr/>
          <p:nvPr/>
        </p:nvSpPr>
        <p:spPr>
          <a:xfrm>
            <a:off x="436897" y="3884168"/>
            <a:ext cx="2744447" cy="241698"/>
          </a:xfrm>
          <a:custGeom>
            <a:avLst/>
            <a:gdLst/>
            <a:ahLst/>
            <a:cxnLst/>
            <a:rect l="l" t="t" r="r" b="b"/>
            <a:pathLst>
              <a:path w="2744447" h="241698">
                <a:moveTo>
                  <a:pt x="0" y="0"/>
                </a:moveTo>
                <a:moveTo>
                  <a:pt x="0" y="0"/>
                </a:moveTo>
                <a:lnTo>
                  <a:pt x="2744447" y="0"/>
                </a:lnTo>
                <a:lnTo>
                  <a:pt x="2744447" y="241698"/>
                </a:lnTo>
                <a:lnTo>
                  <a:pt x="0" y="241698"/>
                </a:lnTo>
                <a:close/>
              </a:path>
            </a:pathLst>
          </a:custGeom>
          <a:solidFill>
            <a:srgbClr val="2B76FD"/>
          </a:solidFill>
          <a:ln/>
        </p:spPr>
        <p:txBody>
          <a:bodyPr/>
          <a:lstStyle/>
          <a:p>
            <a:endParaRPr lang="en-US"/>
          </a:p>
        </p:txBody>
      </p:sp>
      <p:sp>
        <p:nvSpPr>
          <p:cNvPr id="5" name="Shape 3">
            <a:extLst>
              <a:ext uri="{FF2B5EF4-FFF2-40B4-BE49-F238E27FC236}">
                <a16:creationId xmlns:a16="http://schemas.microsoft.com/office/drawing/2014/main" id="{C13B8C9E-6F64-CF8A-A69A-C307BF82F55B}"/>
              </a:ext>
            </a:extLst>
          </p:cNvPr>
          <p:cNvSpPr/>
          <p:nvPr/>
        </p:nvSpPr>
        <p:spPr>
          <a:xfrm>
            <a:off x="4779772" y="979312"/>
            <a:ext cx="3535716" cy="3301782"/>
          </a:xfrm>
          <a:custGeom>
            <a:avLst/>
            <a:gdLst/>
            <a:ahLst/>
            <a:cxnLst/>
            <a:rect l="l" t="t" r="r" b="b"/>
            <a:pathLst>
              <a:path w="3535716" h="3301782">
                <a:moveTo>
                  <a:pt x="328378" y="0"/>
                </a:moveTo>
                <a:moveTo>
                  <a:pt x="328378" y="0"/>
                </a:moveTo>
                <a:lnTo>
                  <a:pt x="3207338" y="0"/>
                </a:lnTo>
                <a:quadBezTo>
                  <a:pt x="3535716" y="0"/>
                  <a:pt x="3535716" y="412723"/>
                </a:quadBezTo>
                <a:lnTo>
                  <a:pt x="3535716" y="2889059"/>
                </a:lnTo>
                <a:quadBezTo>
                  <a:pt x="3535716" y="3301782"/>
                  <a:pt x="3207338" y="3301782"/>
                </a:quadBezTo>
                <a:lnTo>
                  <a:pt x="328378" y="3301782"/>
                </a:lnTo>
                <a:quadBezTo>
                  <a:pt x="0" y="3301782"/>
                  <a:pt x="0" y="2889059"/>
                </a:quadBezTo>
                <a:lnTo>
                  <a:pt x="0" y="412723"/>
                </a:lnTo>
                <a:quadBezTo>
                  <a:pt x="0" y="0"/>
                  <a:pt x="328378" y="0"/>
                </a:quadBezTo>
                <a:close/>
              </a:path>
            </a:pathLst>
          </a:custGeom>
          <a:solidFill>
            <a:srgbClr val="2B76FD">
              <a:alpha val="0"/>
            </a:srgbClr>
          </a:solidFill>
          <a:ln w="19050">
            <a:solidFill>
              <a:srgbClr val="379EFC"/>
            </a:solidFill>
            <a:prstDash val="solid"/>
          </a:ln>
        </p:spPr>
        <p:txBody>
          <a:bodyPr/>
          <a:lstStyle/>
          <a:p>
            <a:endParaRPr lang="en-US"/>
          </a:p>
        </p:txBody>
      </p:sp>
      <p:sp>
        <p:nvSpPr>
          <p:cNvPr id="6" name="Shape 4">
            <a:extLst>
              <a:ext uri="{FF2B5EF4-FFF2-40B4-BE49-F238E27FC236}">
                <a16:creationId xmlns:a16="http://schemas.microsoft.com/office/drawing/2014/main" id="{9154F8A8-0B63-E738-EF14-A589BF3857C8}"/>
              </a:ext>
            </a:extLst>
          </p:cNvPr>
          <p:cNvSpPr/>
          <p:nvPr/>
        </p:nvSpPr>
        <p:spPr>
          <a:xfrm>
            <a:off x="5962655" y="3922490"/>
            <a:ext cx="2744447" cy="241698"/>
          </a:xfrm>
          <a:custGeom>
            <a:avLst/>
            <a:gdLst/>
            <a:ahLst/>
            <a:cxnLst/>
            <a:rect l="l" t="t" r="r" b="b"/>
            <a:pathLst>
              <a:path w="2744447" h="241698">
                <a:moveTo>
                  <a:pt x="0" y="0"/>
                </a:moveTo>
                <a:moveTo>
                  <a:pt x="0" y="0"/>
                </a:moveTo>
                <a:lnTo>
                  <a:pt x="2744447" y="0"/>
                </a:lnTo>
                <a:lnTo>
                  <a:pt x="2744447" y="241698"/>
                </a:lnTo>
                <a:lnTo>
                  <a:pt x="0" y="241698"/>
                </a:lnTo>
                <a:close/>
              </a:path>
            </a:pathLst>
          </a:custGeom>
          <a:solidFill>
            <a:srgbClr val="379EFC"/>
          </a:solidFill>
          <a:ln/>
        </p:spPr>
        <p:txBody>
          <a:bodyPr/>
          <a:lstStyle/>
          <a:p>
            <a:endParaRPr lang="en-US"/>
          </a:p>
        </p:txBody>
      </p:sp>
      <p:sp>
        <p:nvSpPr>
          <p:cNvPr id="7" name="Text 5">
            <a:extLst>
              <a:ext uri="{FF2B5EF4-FFF2-40B4-BE49-F238E27FC236}">
                <a16:creationId xmlns:a16="http://schemas.microsoft.com/office/drawing/2014/main" id="{4D3C67EB-D93C-00D4-A819-C12EA9DD7AF5}"/>
              </a:ext>
            </a:extLst>
          </p:cNvPr>
          <p:cNvSpPr/>
          <p:nvPr/>
        </p:nvSpPr>
        <p:spPr>
          <a:xfrm>
            <a:off x="1069878" y="1308624"/>
            <a:ext cx="3379781" cy="679930"/>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en-US" sz="1584" b="1" dirty="0">
                <a:solidFill>
                  <a:srgbClr val="2B76FD"/>
                </a:solidFill>
                <a:latin typeface="Noto Sans" pitchFamily="34" charset="0"/>
                <a:ea typeface="Noto Sans" pitchFamily="34" charset="-122"/>
                <a:cs typeface="Noto Sans" pitchFamily="34" charset="-120"/>
              </a:rPr>
              <a:t>TÌM KIẾM VÉT CẠN (BRUTE FORCE SEARCH)</a:t>
            </a:r>
            <a:endParaRPr lang="en-US" sz="1440" dirty="0"/>
          </a:p>
        </p:txBody>
      </p:sp>
      <p:sp>
        <p:nvSpPr>
          <p:cNvPr id="8" name="Text 6">
            <a:extLst>
              <a:ext uri="{FF2B5EF4-FFF2-40B4-BE49-F238E27FC236}">
                <a16:creationId xmlns:a16="http://schemas.microsoft.com/office/drawing/2014/main" id="{E6960C1E-2324-F4AB-5C64-32B6C54B5203}"/>
              </a:ext>
            </a:extLst>
          </p:cNvPr>
          <p:cNvSpPr/>
          <p:nvPr/>
        </p:nvSpPr>
        <p:spPr>
          <a:xfrm>
            <a:off x="1047261" y="1985280"/>
            <a:ext cx="3379781" cy="1669688"/>
          </a:xfrm>
          <a:prstGeom prst="rect">
            <a:avLst/>
          </a:prstGeom>
          <a:noFill/>
          <a:ln/>
        </p:spPr>
        <p:txBody>
          <a:bodyPr wrap="square" lIns="95250" tIns="95250" rIns="95250" bIns="95250" rtlCol="0" anchor="t">
            <a:spAutoFit/>
          </a:bodyPr>
          <a:lstStyle/>
          <a:p>
            <a:r>
              <a:rPr lang="vi-VN" sz="1600" dirty="0"/>
              <a:t>Tính khoảng cách giữa query và toàn bộ vector.</a:t>
            </a:r>
          </a:p>
          <a:p>
            <a:r>
              <a:rPr lang="vi-VN" sz="1600" dirty="0"/>
              <a:t>• Độ chính xác tuyệt đối.</a:t>
            </a:r>
          </a:p>
          <a:p>
            <a:r>
              <a:rPr lang="vi-VN" sz="1600" dirty="0"/>
              <a:t>• Không dùng được khi N lớn.</a:t>
            </a:r>
          </a:p>
          <a:p>
            <a:r>
              <a:rPr lang="vi-VN" sz="1600" dirty="0"/>
              <a:t>• FAISS dùng IndexFlat cho brute-force</a:t>
            </a:r>
            <a:endParaRPr lang="en-US" sz="1440" dirty="0"/>
          </a:p>
        </p:txBody>
      </p:sp>
      <p:sp>
        <p:nvSpPr>
          <p:cNvPr id="9" name="Text 7">
            <a:extLst>
              <a:ext uri="{FF2B5EF4-FFF2-40B4-BE49-F238E27FC236}">
                <a16:creationId xmlns:a16="http://schemas.microsoft.com/office/drawing/2014/main" id="{2456FEC2-049E-4DBA-56F4-5C2A4AEA2171}"/>
              </a:ext>
            </a:extLst>
          </p:cNvPr>
          <p:cNvSpPr/>
          <p:nvPr/>
        </p:nvSpPr>
        <p:spPr>
          <a:xfrm>
            <a:off x="5042642" y="1272048"/>
            <a:ext cx="3272847" cy="724173"/>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en-US" sz="1728" b="1" dirty="0" err="1">
                <a:solidFill>
                  <a:srgbClr val="2B76FD"/>
                </a:solidFill>
                <a:latin typeface="Noto Sans" pitchFamily="34" charset="0"/>
                <a:ea typeface="Noto Sans" pitchFamily="34" charset="-122"/>
                <a:cs typeface="Noto Sans" pitchFamily="34" charset="-120"/>
              </a:rPr>
              <a:t>Tìm</a:t>
            </a:r>
            <a:r>
              <a:rPr lang="en-US" sz="1728" b="1" dirty="0">
                <a:solidFill>
                  <a:srgbClr val="2B76FD"/>
                </a:solidFill>
                <a:latin typeface="Noto Sans" pitchFamily="34" charset="0"/>
                <a:ea typeface="Noto Sans" pitchFamily="34" charset="-122"/>
                <a:cs typeface="Noto Sans" pitchFamily="34" charset="-120"/>
              </a:rPr>
              <a:t> </a:t>
            </a:r>
            <a:r>
              <a:rPr lang="en-US" sz="1728" b="1" dirty="0" err="1">
                <a:solidFill>
                  <a:srgbClr val="2B76FD"/>
                </a:solidFill>
                <a:latin typeface="Noto Sans" pitchFamily="34" charset="0"/>
                <a:ea typeface="Noto Sans" pitchFamily="34" charset="-122"/>
                <a:cs typeface="Noto Sans" pitchFamily="34" charset="-120"/>
              </a:rPr>
              <a:t>kiếm</a:t>
            </a:r>
            <a:r>
              <a:rPr lang="en-US" sz="1728" b="1" dirty="0">
                <a:solidFill>
                  <a:srgbClr val="2B76FD"/>
                </a:solidFill>
                <a:latin typeface="Noto Sans" pitchFamily="34" charset="0"/>
                <a:ea typeface="Noto Sans" pitchFamily="34" charset="-122"/>
                <a:cs typeface="Noto Sans" pitchFamily="34" charset="-120"/>
              </a:rPr>
              <a:t> </a:t>
            </a:r>
            <a:r>
              <a:rPr lang="en-US" sz="1728" b="1" dirty="0" err="1">
                <a:solidFill>
                  <a:srgbClr val="2B76FD"/>
                </a:solidFill>
                <a:latin typeface="Noto Sans" pitchFamily="34" charset="0"/>
                <a:ea typeface="Noto Sans" pitchFamily="34" charset="-122"/>
                <a:cs typeface="Noto Sans" pitchFamily="34" charset="-120"/>
              </a:rPr>
              <a:t>xấp</a:t>
            </a:r>
            <a:r>
              <a:rPr lang="en-US" sz="1728" b="1" dirty="0">
                <a:solidFill>
                  <a:srgbClr val="2B76FD"/>
                </a:solidFill>
                <a:latin typeface="Noto Sans" pitchFamily="34" charset="0"/>
                <a:ea typeface="Noto Sans" pitchFamily="34" charset="-122"/>
                <a:cs typeface="Noto Sans" pitchFamily="34" charset="-120"/>
              </a:rPr>
              <a:t> </a:t>
            </a:r>
            <a:r>
              <a:rPr lang="en-US" sz="1728" b="1" dirty="0" err="1">
                <a:solidFill>
                  <a:srgbClr val="2B76FD"/>
                </a:solidFill>
                <a:latin typeface="Noto Sans" pitchFamily="34" charset="0"/>
                <a:ea typeface="Noto Sans" pitchFamily="34" charset="-122"/>
                <a:cs typeface="Noto Sans" pitchFamily="34" charset="-120"/>
              </a:rPr>
              <a:t>xỉ</a:t>
            </a:r>
            <a:r>
              <a:rPr lang="en-US" sz="1728" b="1" dirty="0">
                <a:solidFill>
                  <a:srgbClr val="2B76FD"/>
                </a:solidFill>
                <a:latin typeface="Noto Sans" pitchFamily="34" charset="0"/>
                <a:ea typeface="Noto Sans" pitchFamily="34" charset="-122"/>
                <a:cs typeface="Noto Sans" pitchFamily="34" charset="-120"/>
              </a:rPr>
              <a:t> ANNS VÀ CHỈ SỐ ĐÁNH GIÁ</a:t>
            </a:r>
            <a:endParaRPr lang="en-US" sz="1440" dirty="0"/>
          </a:p>
        </p:txBody>
      </p:sp>
      <p:sp>
        <p:nvSpPr>
          <p:cNvPr id="10" name="Text 8">
            <a:extLst>
              <a:ext uri="{FF2B5EF4-FFF2-40B4-BE49-F238E27FC236}">
                <a16:creationId xmlns:a16="http://schemas.microsoft.com/office/drawing/2014/main" id="{62C71B46-037D-A5D4-319C-2E18F21990D2}"/>
              </a:ext>
            </a:extLst>
          </p:cNvPr>
          <p:cNvSpPr/>
          <p:nvPr/>
        </p:nvSpPr>
        <p:spPr>
          <a:xfrm>
            <a:off x="4982047" y="1844339"/>
            <a:ext cx="3333442" cy="2162130"/>
          </a:xfrm>
          <a:prstGeom prst="rect">
            <a:avLst/>
          </a:prstGeom>
          <a:noFill/>
          <a:ln/>
        </p:spPr>
        <p:txBody>
          <a:bodyPr wrap="square" lIns="95250" tIns="95250" rIns="95250" bIns="95250" rtlCol="0" anchor="t">
            <a:spAutoFit/>
          </a:bodyPr>
          <a:lstStyle/>
          <a:p>
            <a:r>
              <a:rPr lang="en-US" sz="1600" dirty="0"/>
              <a:t>ANNS </a:t>
            </a:r>
            <a:r>
              <a:rPr lang="en-US" sz="1600" dirty="0" err="1"/>
              <a:t>giúp</a:t>
            </a:r>
            <a:r>
              <a:rPr lang="en-US" sz="1600" dirty="0"/>
              <a:t> </a:t>
            </a:r>
            <a:r>
              <a:rPr lang="en-US" sz="1600" dirty="0" err="1"/>
              <a:t>tăng</a:t>
            </a:r>
            <a:r>
              <a:rPr lang="en-US" sz="1600" dirty="0"/>
              <a:t> </a:t>
            </a:r>
            <a:r>
              <a:rPr lang="en-US" sz="1600" dirty="0" err="1"/>
              <a:t>tốc</a:t>
            </a:r>
            <a:r>
              <a:rPr lang="en-US" sz="1600" dirty="0"/>
              <a:t> </a:t>
            </a:r>
            <a:r>
              <a:rPr lang="en-US" sz="1600" dirty="0" err="1"/>
              <a:t>lên</a:t>
            </a:r>
            <a:r>
              <a:rPr lang="en-US" sz="1600" dirty="0"/>
              <a:t> </a:t>
            </a:r>
            <a:r>
              <a:rPr lang="en-US" sz="1600" dirty="0" err="1"/>
              <a:t>hàng</a:t>
            </a:r>
            <a:r>
              <a:rPr lang="en-US" sz="1600" dirty="0"/>
              <a:t> </a:t>
            </a:r>
            <a:r>
              <a:rPr lang="en-US" sz="1600" dirty="0" err="1"/>
              <a:t>trăm</a:t>
            </a:r>
            <a:r>
              <a:rPr lang="en-US" sz="1600" dirty="0"/>
              <a:t> </a:t>
            </a:r>
            <a:r>
              <a:rPr lang="en-US" sz="1600" dirty="0" err="1"/>
              <a:t>lần</a:t>
            </a:r>
            <a:r>
              <a:rPr lang="en-US" sz="1600" dirty="0"/>
              <a:t>.</a:t>
            </a:r>
          </a:p>
          <a:p>
            <a:r>
              <a:rPr lang="en-US" sz="1600" dirty="0"/>
              <a:t>• </a:t>
            </a:r>
            <a:r>
              <a:rPr lang="en-US" sz="1600" dirty="0" err="1"/>
              <a:t>recall@k</a:t>
            </a:r>
            <a:r>
              <a:rPr lang="en-US" sz="1600" dirty="0"/>
              <a:t>: bao </a:t>
            </a:r>
            <a:r>
              <a:rPr lang="en-US" sz="1600" dirty="0" err="1"/>
              <a:t>nhiêu</a:t>
            </a:r>
            <a:r>
              <a:rPr lang="en-US" sz="1600" dirty="0"/>
              <a:t> </a:t>
            </a:r>
            <a:r>
              <a:rPr lang="en-US" sz="1600" dirty="0" err="1"/>
              <a:t>kết</a:t>
            </a:r>
            <a:r>
              <a:rPr lang="en-US" sz="1600" dirty="0"/>
              <a:t> </a:t>
            </a:r>
            <a:r>
              <a:rPr lang="en-US" sz="1600" dirty="0" err="1"/>
              <a:t>quả</a:t>
            </a:r>
            <a:r>
              <a:rPr lang="en-US" sz="1600" dirty="0"/>
              <a:t> </a:t>
            </a:r>
            <a:r>
              <a:rPr lang="en-US" sz="1600" dirty="0" err="1"/>
              <a:t>đúng</a:t>
            </a:r>
            <a:r>
              <a:rPr lang="en-US" sz="1600" dirty="0"/>
              <a:t> </a:t>
            </a:r>
            <a:r>
              <a:rPr lang="en-US" sz="1600" dirty="0" err="1"/>
              <a:t>nằm</a:t>
            </a:r>
            <a:r>
              <a:rPr lang="en-US" sz="1600" dirty="0"/>
              <a:t> </a:t>
            </a:r>
            <a:r>
              <a:rPr lang="en-US" sz="1600" dirty="0" err="1"/>
              <a:t>trong</a:t>
            </a:r>
            <a:r>
              <a:rPr lang="en-US" sz="1600" dirty="0"/>
              <a:t> k </a:t>
            </a:r>
            <a:r>
              <a:rPr lang="en-US" sz="1600" dirty="0" err="1"/>
              <a:t>kết</a:t>
            </a:r>
            <a:r>
              <a:rPr lang="en-US" sz="1600" dirty="0"/>
              <a:t> </a:t>
            </a:r>
            <a:r>
              <a:rPr lang="en-US" sz="1600" dirty="0" err="1"/>
              <a:t>quả</a:t>
            </a:r>
            <a:r>
              <a:rPr lang="en-US" sz="1600" dirty="0"/>
              <a:t> </a:t>
            </a:r>
            <a:r>
              <a:rPr lang="en-US" sz="1600" dirty="0" err="1"/>
              <a:t>đầu</a:t>
            </a:r>
            <a:r>
              <a:rPr lang="en-US" sz="1600" dirty="0"/>
              <a:t>.</a:t>
            </a:r>
          </a:p>
          <a:p>
            <a:r>
              <a:rPr lang="en-US" sz="1600" dirty="0"/>
              <a:t>• precision–recall </a:t>
            </a:r>
            <a:r>
              <a:rPr lang="en-US" sz="1600" dirty="0" err="1"/>
              <a:t>dùng</a:t>
            </a:r>
            <a:r>
              <a:rPr lang="en-US" sz="1600" dirty="0"/>
              <a:t> </a:t>
            </a:r>
            <a:r>
              <a:rPr lang="en-US" sz="1600" dirty="0" err="1"/>
              <a:t>cho</a:t>
            </a:r>
            <a:r>
              <a:rPr lang="en-US" sz="1600" dirty="0"/>
              <a:t> range search.</a:t>
            </a:r>
          </a:p>
          <a:p>
            <a:r>
              <a:rPr lang="en-US" sz="1600" dirty="0"/>
              <a:t>• MSE </a:t>
            </a:r>
            <a:r>
              <a:rPr lang="en-US" sz="1600" dirty="0" err="1"/>
              <a:t>dùng</a:t>
            </a:r>
            <a:r>
              <a:rPr lang="en-US" sz="1600" dirty="0"/>
              <a:t> </a:t>
            </a:r>
            <a:r>
              <a:rPr lang="en-US" sz="1600" dirty="0" err="1"/>
              <a:t>cho</a:t>
            </a:r>
            <a:r>
              <a:rPr lang="en-US" sz="1600" dirty="0"/>
              <a:t> </a:t>
            </a:r>
            <a:r>
              <a:rPr lang="en-US" sz="1600" dirty="0" err="1"/>
              <a:t>đánh</a:t>
            </a:r>
            <a:r>
              <a:rPr lang="en-US" sz="1600" dirty="0"/>
              <a:t> </a:t>
            </a:r>
            <a:r>
              <a:rPr lang="en-US" sz="1600" dirty="0" err="1"/>
              <a:t>giá</a:t>
            </a:r>
            <a:r>
              <a:rPr lang="en-US" sz="1600" dirty="0"/>
              <a:t> </a:t>
            </a:r>
            <a:r>
              <a:rPr lang="en-US" sz="1600" dirty="0" err="1"/>
              <a:t>nén</a:t>
            </a:r>
            <a:r>
              <a:rPr lang="en-US" sz="1600" dirty="0"/>
              <a:t> vector.</a:t>
            </a:r>
          </a:p>
          <a:p>
            <a:r>
              <a:rPr lang="en-US" sz="1600" dirty="0"/>
              <a:t>• Hyperparameter (</a:t>
            </a:r>
            <a:r>
              <a:rPr lang="en-US" sz="1600" dirty="0" err="1"/>
              <a:t>nprobe</a:t>
            </a:r>
            <a:r>
              <a:rPr lang="en-US" sz="1600" dirty="0"/>
              <a:t>, beam-size...) </a:t>
            </a:r>
            <a:r>
              <a:rPr lang="en-US" sz="1600" dirty="0" err="1"/>
              <a:t>tạo</a:t>
            </a:r>
            <a:r>
              <a:rPr lang="en-US" sz="1600" dirty="0"/>
              <a:t> </a:t>
            </a:r>
            <a:r>
              <a:rPr lang="en-US" sz="1600" dirty="0" err="1"/>
              <a:t>ra</a:t>
            </a:r>
            <a:r>
              <a:rPr lang="en-US" sz="1600" dirty="0"/>
              <a:t> trade-off.</a:t>
            </a:r>
          </a:p>
        </p:txBody>
      </p:sp>
    </p:spTree>
    <p:extLst>
      <p:ext uri="{BB962C8B-B14F-4D97-AF65-F5344CB8AC3E}">
        <p14:creationId xmlns:p14="http://schemas.microsoft.com/office/powerpoint/2010/main" val="35304277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8F1CF54C-6CDA-0849-964A-30609922F76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8D5535A-D057-EE92-A6D5-643E52319A67}"/>
              </a:ext>
            </a:extLst>
          </p:cNvPr>
          <p:cNvSpPr/>
          <p:nvPr/>
        </p:nvSpPr>
        <p:spPr>
          <a:xfrm>
            <a:off x="396558" y="328468"/>
            <a:ext cx="8396337" cy="546881"/>
          </a:xfrm>
          <a:prstGeom prst="rect">
            <a:avLst/>
          </a:prstGeom>
          <a:noFill/>
          <a:ln/>
        </p:spPr>
        <p:txBody>
          <a:bodyPr wrap="square" lIns="95250" tIns="95250" rIns="95250" bIns="95250" rtlCol="0" anchor="t">
            <a:spAutoFit/>
          </a:bodyPr>
          <a:lstStyle/>
          <a:p>
            <a:pPr marL="0" indent="0" algn="ctr">
              <a:lnSpc>
                <a:spcPct val="112500"/>
              </a:lnSpc>
              <a:spcBef>
                <a:spcPts val="375"/>
              </a:spcBef>
              <a:buNone/>
            </a:pPr>
            <a:r>
              <a:rPr lang="en-US" sz="2160" b="1" dirty="0">
                <a:solidFill>
                  <a:srgbClr val="193AB9"/>
                </a:solidFill>
                <a:latin typeface="Noto Sans" pitchFamily="34" charset="0"/>
                <a:ea typeface="Noto Sans" pitchFamily="34" charset="-122"/>
                <a:cs typeface="Noto Sans" pitchFamily="34" charset="-120"/>
              </a:rPr>
              <a:t>BIÊN PARETO (PARETO FRONTIER)</a:t>
            </a:r>
            <a:endParaRPr lang="en-US" sz="1440" dirty="0"/>
          </a:p>
        </p:txBody>
      </p:sp>
      <p:sp>
        <p:nvSpPr>
          <p:cNvPr id="6" name="Shape 1">
            <a:extLst>
              <a:ext uri="{FF2B5EF4-FFF2-40B4-BE49-F238E27FC236}">
                <a16:creationId xmlns:a16="http://schemas.microsoft.com/office/drawing/2014/main" id="{7F9248FE-CFD6-B5DA-8BCC-C092EFE8467A}"/>
              </a:ext>
            </a:extLst>
          </p:cNvPr>
          <p:cNvSpPr/>
          <p:nvPr/>
        </p:nvSpPr>
        <p:spPr>
          <a:xfrm>
            <a:off x="267858" y="1834291"/>
            <a:ext cx="8608283" cy="0"/>
          </a:xfrm>
          <a:custGeom>
            <a:avLst/>
            <a:gdLst/>
            <a:ahLst/>
            <a:cxnLst/>
            <a:rect l="l" t="t" r="r" b="b"/>
            <a:pathLst>
              <a:path w="8608283">
                <a:moveTo>
                  <a:pt x="0" y="0"/>
                </a:moveTo>
                <a:moveTo>
                  <a:pt x="0" y="0"/>
                </a:moveTo>
                <a:lnTo>
                  <a:pt x="8608283" y="0"/>
                </a:lnTo>
              </a:path>
            </a:pathLst>
          </a:custGeom>
          <a:noFill/>
          <a:ln w="9525">
            <a:solidFill>
              <a:srgbClr val="2B76FD"/>
            </a:solidFill>
            <a:prstDash val="dash"/>
            <a:headEnd type="none"/>
            <a:tailEnd type="none"/>
          </a:ln>
        </p:spPr>
        <p:txBody>
          <a:bodyPr/>
          <a:lstStyle/>
          <a:p>
            <a:endParaRPr lang="en-US"/>
          </a:p>
        </p:txBody>
      </p:sp>
      <p:sp>
        <p:nvSpPr>
          <p:cNvPr id="7" name="Shape 2">
            <a:extLst>
              <a:ext uri="{FF2B5EF4-FFF2-40B4-BE49-F238E27FC236}">
                <a16:creationId xmlns:a16="http://schemas.microsoft.com/office/drawing/2014/main" id="{BB935533-0037-40C3-E4A0-AF835A436029}"/>
              </a:ext>
            </a:extLst>
          </p:cNvPr>
          <p:cNvSpPr/>
          <p:nvPr/>
        </p:nvSpPr>
        <p:spPr>
          <a:xfrm>
            <a:off x="980414" y="1008402"/>
            <a:ext cx="1503887" cy="491749"/>
          </a:xfrm>
          <a:custGeom>
            <a:avLst/>
            <a:gdLst/>
            <a:ahLst/>
            <a:cxnLst/>
            <a:rect l="l" t="t" r="r" b="b"/>
            <a:pathLst>
              <a:path w="1503887" h="491749">
                <a:moveTo>
                  <a:pt x="245875" y="0"/>
                </a:moveTo>
                <a:moveTo>
                  <a:pt x="245875" y="0"/>
                </a:moveTo>
                <a:lnTo>
                  <a:pt x="1258012" y="0"/>
                </a:lnTo>
                <a:quadBezTo>
                  <a:pt x="1503887" y="0"/>
                  <a:pt x="1503887" y="245875"/>
                </a:quadBezTo>
                <a:lnTo>
                  <a:pt x="1503887" y="245875"/>
                </a:lnTo>
                <a:quadBezTo>
                  <a:pt x="1503887" y="491749"/>
                  <a:pt x="1258012" y="491749"/>
                </a:quadBezTo>
                <a:lnTo>
                  <a:pt x="245875" y="491749"/>
                </a:lnTo>
                <a:quadBezTo>
                  <a:pt x="0" y="491749"/>
                  <a:pt x="0" y="245875"/>
                </a:quadBezTo>
                <a:lnTo>
                  <a:pt x="0" y="245875"/>
                </a:lnTo>
                <a:quadBezTo>
                  <a:pt x="0" y="0"/>
                  <a:pt x="245875" y="0"/>
                </a:quadBezTo>
                <a:close/>
              </a:path>
            </a:pathLst>
          </a:custGeom>
          <a:solidFill>
            <a:srgbClr val="2B76FD"/>
          </a:solidFill>
          <a:ln/>
        </p:spPr>
        <p:txBody>
          <a:bodyPr/>
          <a:lstStyle/>
          <a:p>
            <a:endParaRPr lang="en-US"/>
          </a:p>
        </p:txBody>
      </p:sp>
      <p:sp>
        <p:nvSpPr>
          <p:cNvPr id="8" name="Text 3">
            <a:extLst>
              <a:ext uri="{FF2B5EF4-FFF2-40B4-BE49-F238E27FC236}">
                <a16:creationId xmlns:a16="http://schemas.microsoft.com/office/drawing/2014/main" id="{CAF7EBBB-ECB1-792D-CEA5-F9895DCB1310}"/>
              </a:ext>
            </a:extLst>
          </p:cNvPr>
          <p:cNvSpPr/>
          <p:nvPr/>
        </p:nvSpPr>
        <p:spPr>
          <a:xfrm>
            <a:off x="1436577" y="978736"/>
            <a:ext cx="624656" cy="594360"/>
          </a:xfrm>
          <a:prstGeom prst="rect">
            <a:avLst/>
          </a:prstGeom>
          <a:noFill/>
          <a:ln/>
        </p:spPr>
        <p:txBody>
          <a:bodyPr wrap="square" lIns="95250" tIns="95250" rIns="95250" bIns="95250" rtlCol="0" anchor="t">
            <a:spAutoFit/>
          </a:bodyPr>
          <a:lstStyle/>
          <a:p>
            <a:pPr marL="0" indent="0" algn="ctr">
              <a:lnSpc>
                <a:spcPct val="112500"/>
              </a:lnSpc>
              <a:spcBef>
                <a:spcPts val="375"/>
              </a:spcBef>
              <a:buNone/>
            </a:pPr>
            <a:r>
              <a:rPr lang="en-US" sz="2160" b="1" dirty="0">
                <a:solidFill>
                  <a:srgbClr val="FFFFFF"/>
                </a:solidFill>
                <a:latin typeface="Noto Sans" pitchFamily="34" charset="0"/>
                <a:ea typeface="Noto Sans" pitchFamily="34" charset="-122"/>
                <a:cs typeface="Noto Sans" pitchFamily="34" charset="-120"/>
              </a:rPr>
              <a:t>01</a:t>
            </a:r>
            <a:endParaRPr lang="en-US" sz="1440" dirty="0"/>
          </a:p>
        </p:txBody>
      </p:sp>
      <p:sp>
        <p:nvSpPr>
          <p:cNvPr id="9" name="Shape 4">
            <a:extLst>
              <a:ext uri="{FF2B5EF4-FFF2-40B4-BE49-F238E27FC236}">
                <a16:creationId xmlns:a16="http://schemas.microsoft.com/office/drawing/2014/main" id="{969EA60A-228D-D21E-0F81-BE1A2BE07A25}"/>
              </a:ext>
            </a:extLst>
          </p:cNvPr>
          <p:cNvSpPr/>
          <p:nvPr/>
        </p:nvSpPr>
        <p:spPr>
          <a:xfrm>
            <a:off x="1640917" y="1649580"/>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2B76FD"/>
          </a:solidFill>
          <a:ln/>
        </p:spPr>
        <p:txBody>
          <a:bodyPr/>
          <a:lstStyle/>
          <a:p>
            <a:endParaRPr lang="en-US"/>
          </a:p>
        </p:txBody>
      </p:sp>
      <p:sp>
        <p:nvSpPr>
          <p:cNvPr id="10" name="Shape 5">
            <a:extLst>
              <a:ext uri="{FF2B5EF4-FFF2-40B4-BE49-F238E27FC236}">
                <a16:creationId xmlns:a16="http://schemas.microsoft.com/office/drawing/2014/main" id="{3926A4BF-BB7A-8683-1BA3-B34755968171}"/>
              </a:ext>
            </a:extLst>
          </p:cNvPr>
          <p:cNvSpPr/>
          <p:nvPr/>
        </p:nvSpPr>
        <p:spPr>
          <a:xfrm>
            <a:off x="3811783" y="982162"/>
            <a:ext cx="1503887" cy="491749"/>
          </a:xfrm>
          <a:custGeom>
            <a:avLst/>
            <a:gdLst/>
            <a:ahLst/>
            <a:cxnLst/>
            <a:rect l="l" t="t" r="r" b="b"/>
            <a:pathLst>
              <a:path w="1503887" h="491749">
                <a:moveTo>
                  <a:pt x="245875" y="0"/>
                </a:moveTo>
                <a:moveTo>
                  <a:pt x="245875" y="0"/>
                </a:moveTo>
                <a:lnTo>
                  <a:pt x="1258012" y="0"/>
                </a:lnTo>
                <a:quadBezTo>
                  <a:pt x="1503887" y="0"/>
                  <a:pt x="1503887" y="245875"/>
                </a:quadBezTo>
                <a:lnTo>
                  <a:pt x="1503887" y="245875"/>
                </a:lnTo>
                <a:quadBezTo>
                  <a:pt x="1503887" y="491749"/>
                  <a:pt x="1258012" y="491749"/>
                </a:quadBezTo>
                <a:lnTo>
                  <a:pt x="245875" y="491749"/>
                </a:lnTo>
                <a:quadBezTo>
                  <a:pt x="0" y="491749"/>
                  <a:pt x="0" y="245875"/>
                </a:quadBezTo>
                <a:lnTo>
                  <a:pt x="0" y="245875"/>
                </a:lnTo>
                <a:quadBezTo>
                  <a:pt x="0" y="0"/>
                  <a:pt x="245875" y="0"/>
                </a:quadBezTo>
                <a:close/>
              </a:path>
            </a:pathLst>
          </a:custGeom>
          <a:solidFill>
            <a:srgbClr val="2B76FD"/>
          </a:solidFill>
          <a:ln/>
        </p:spPr>
        <p:txBody>
          <a:bodyPr/>
          <a:lstStyle/>
          <a:p>
            <a:endParaRPr lang="en-US"/>
          </a:p>
        </p:txBody>
      </p:sp>
      <p:sp>
        <p:nvSpPr>
          <p:cNvPr id="11" name="Text 6">
            <a:extLst>
              <a:ext uri="{FF2B5EF4-FFF2-40B4-BE49-F238E27FC236}">
                <a16:creationId xmlns:a16="http://schemas.microsoft.com/office/drawing/2014/main" id="{E9D5F527-2368-ED65-BC5A-082D508C7610}"/>
              </a:ext>
            </a:extLst>
          </p:cNvPr>
          <p:cNvSpPr/>
          <p:nvPr/>
        </p:nvSpPr>
        <p:spPr>
          <a:xfrm>
            <a:off x="4251398" y="930856"/>
            <a:ext cx="624656" cy="594360"/>
          </a:xfrm>
          <a:prstGeom prst="rect">
            <a:avLst/>
          </a:prstGeom>
          <a:noFill/>
          <a:ln/>
        </p:spPr>
        <p:txBody>
          <a:bodyPr wrap="square" lIns="95250" tIns="95250" rIns="95250" bIns="95250" rtlCol="0" anchor="t">
            <a:spAutoFit/>
          </a:bodyPr>
          <a:lstStyle/>
          <a:p>
            <a:pPr marL="0" indent="0" algn="ctr">
              <a:lnSpc>
                <a:spcPct val="112500"/>
              </a:lnSpc>
              <a:spcBef>
                <a:spcPts val="375"/>
              </a:spcBef>
              <a:buNone/>
            </a:pPr>
            <a:r>
              <a:rPr lang="en-US" sz="2160" b="1" dirty="0">
                <a:solidFill>
                  <a:srgbClr val="FFFFFF"/>
                </a:solidFill>
                <a:latin typeface="Noto Sans" pitchFamily="34" charset="0"/>
                <a:ea typeface="Noto Sans" pitchFamily="34" charset="-122"/>
                <a:cs typeface="Noto Sans" pitchFamily="34" charset="-120"/>
              </a:rPr>
              <a:t>02</a:t>
            </a:r>
            <a:endParaRPr lang="en-US" sz="1440" dirty="0"/>
          </a:p>
        </p:txBody>
      </p:sp>
      <p:sp>
        <p:nvSpPr>
          <p:cNvPr id="12" name="Shape 7">
            <a:extLst>
              <a:ext uri="{FF2B5EF4-FFF2-40B4-BE49-F238E27FC236}">
                <a16:creationId xmlns:a16="http://schemas.microsoft.com/office/drawing/2014/main" id="{474AD2AB-23C2-2E3B-FAFD-28B3E3DE16DF}"/>
              </a:ext>
            </a:extLst>
          </p:cNvPr>
          <p:cNvSpPr/>
          <p:nvPr/>
        </p:nvSpPr>
        <p:spPr>
          <a:xfrm>
            <a:off x="4411846" y="1762124"/>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2B76FD"/>
          </a:solidFill>
          <a:ln/>
        </p:spPr>
        <p:txBody>
          <a:bodyPr/>
          <a:lstStyle/>
          <a:p>
            <a:endParaRPr lang="en-US"/>
          </a:p>
        </p:txBody>
      </p:sp>
      <p:sp>
        <p:nvSpPr>
          <p:cNvPr id="13" name="Shape 8">
            <a:extLst>
              <a:ext uri="{FF2B5EF4-FFF2-40B4-BE49-F238E27FC236}">
                <a16:creationId xmlns:a16="http://schemas.microsoft.com/office/drawing/2014/main" id="{B5B40919-C446-4DC8-97BB-BF64332DA7B0}"/>
              </a:ext>
            </a:extLst>
          </p:cNvPr>
          <p:cNvSpPr/>
          <p:nvPr/>
        </p:nvSpPr>
        <p:spPr>
          <a:xfrm>
            <a:off x="6643151" y="982162"/>
            <a:ext cx="1503887" cy="491749"/>
          </a:xfrm>
          <a:custGeom>
            <a:avLst/>
            <a:gdLst/>
            <a:ahLst/>
            <a:cxnLst/>
            <a:rect l="l" t="t" r="r" b="b"/>
            <a:pathLst>
              <a:path w="1503887" h="491749">
                <a:moveTo>
                  <a:pt x="245875" y="0"/>
                </a:moveTo>
                <a:moveTo>
                  <a:pt x="245875" y="0"/>
                </a:moveTo>
                <a:lnTo>
                  <a:pt x="1258012" y="0"/>
                </a:lnTo>
                <a:quadBezTo>
                  <a:pt x="1503887" y="0"/>
                  <a:pt x="1503887" y="245875"/>
                </a:quadBezTo>
                <a:lnTo>
                  <a:pt x="1503887" y="245875"/>
                </a:lnTo>
                <a:quadBezTo>
                  <a:pt x="1503887" y="491749"/>
                  <a:pt x="1258012" y="491749"/>
                </a:quadBezTo>
                <a:lnTo>
                  <a:pt x="245875" y="491749"/>
                </a:lnTo>
                <a:quadBezTo>
                  <a:pt x="0" y="491749"/>
                  <a:pt x="0" y="245875"/>
                </a:quadBezTo>
                <a:lnTo>
                  <a:pt x="0" y="245875"/>
                </a:lnTo>
                <a:quadBezTo>
                  <a:pt x="0" y="0"/>
                  <a:pt x="245875" y="0"/>
                </a:quadBezTo>
                <a:close/>
              </a:path>
            </a:pathLst>
          </a:custGeom>
          <a:solidFill>
            <a:srgbClr val="2B76FD"/>
          </a:solidFill>
          <a:ln/>
        </p:spPr>
        <p:txBody>
          <a:bodyPr/>
          <a:lstStyle/>
          <a:p>
            <a:endParaRPr lang="en-US"/>
          </a:p>
        </p:txBody>
      </p:sp>
      <p:sp>
        <p:nvSpPr>
          <p:cNvPr id="14" name="Text 9">
            <a:extLst>
              <a:ext uri="{FF2B5EF4-FFF2-40B4-BE49-F238E27FC236}">
                <a16:creationId xmlns:a16="http://schemas.microsoft.com/office/drawing/2014/main" id="{75E05438-99E6-4CE8-EAEB-71E8E9F05990}"/>
              </a:ext>
            </a:extLst>
          </p:cNvPr>
          <p:cNvSpPr/>
          <p:nvPr/>
        </p:nvSpPr>
        <p:spPr>
          <a:xfrm>
            <a:off x="7082767" y="930856"/>
            <a:ext cx="624656" cy="594360"/>
          </a:xfrm>
          <a:prstGeom prst="rect">
            <a:avLst/>
          </a:prstGeom>
          <a:noFill/>
          <a:ln/>
        </p:spPr>
        <p:txBody>
          <a:bodyPr wrap="square" lIns="95250" tIns="95250" rIns="95250" bIns="95250" rtlCol="0" anchor="t">
            <a:spAutoFit/>
          </a:bodyPr>
          <a:lstStyle/>
          <a:p>
            <a:pPr marL="0" indent="0" algn="ctr">
              <a:lnSpc>
                <a:spcPct val="112500"/>
              </a:lnSpc>
              <a:spcBef>
                <a:spcPts val="375"/>
              </a:spcBef>
              <a:buNone/>
            </a:pPr>
            <a:r>
              <a:rPr lang="en-US" sz="2160" b="1" dirty="0">
                <a:solidFill>
                  <a:srgbClr val="FFFFFF"/>
                </a:solidFill>
                <a:latin typeface="Noto Sans" pitchFamily="34" charset="0"/>
                <a:ea typeface="Noto Sans" pitchFamily="34" charset="-122"/>
                <a:cs typeface="Noto Sans" pitchFamily="34" charset="-120"/>
              </a:rPr>
              <a:t>03</a:t>
            </a:r>
            <a:endParaRPr lang="en-US" sz="1440" dirty="0"/>
          </a:p>
        </p:txBody>
      </p:sp>
      <p:sp>
        <p:nvSpPr>
          <p:cNvPr id="15" name="Shape 10">
            <a:extLst>
              <a:ext uri="{FF2B5EF4-FFF2-40B4-BE49-F238E27FC236}">
                <a16:creationId xmlns:a16="http://schemas.microsoft.com/office/drawing/2014/main" id="{EA71B630-2EA5-1AC6-EA1B-4C92E8CE9067}"/>
              </a:ext>
            </a:extLst>
          </p:cNvPr>
          <p:cNvSpPr/>
          <p:nvPr/>
        </p:nvSpPr>
        <p:spPr>
          <a:xfrm>
            <a:off x="7360402" y="1753437"/>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2B76FD"/>
          </a:solidFill>
          <a:ln/>
        </p:spPr>
        <p:txBody>
          <a:bodyPr/>
          <a:lstStyle/>
          <a:p>
            <a:endParaRPr lang="en-US"/>
          </a:p>
        </p:txBody>
      </p:sp>
      <p:sp>
        <p:nvSpPr>
          <p:cNvPr id="16" name="Text 11">
            <a:extLst>
              <a:ext uri="{FF2B5EF4-FFF2-40B4-BE49-F238E27FC236}">
                <a16:creationId xmlns:a16="http://schemas.microsoft.com/office/drawing/2014/main" id="{0C5931CE-74CB-4D0D-B9B2-69ED9D033D1D}"/>
              </a:ext>
            </a:extLst>
          </p:cNvPr>
          <p:cNvSpPr/>
          <p:nvPr/>
        </p:nvSpPr>
        <p:spPr>
          <a:xfrm>
            <a:off x="495490" y="1952711"/>
            <a:ext cx="2656613" cy="377647"/>
          </a:xfrm>
          <a:prstGeom prst="rect">
            <a:avLst/>
          </a:prstGeom>
          <a:noFill/>
          <a:ln/>
        </p:spPr>
        <p:txBody>
          <a:bodyPr wrap="square" lIns="95250" tIns="95250" rIns="95250" bIns="95250" rtlCol="0" anchor="ctr"/>
          <a:lstStyle/>
          <a:p>
            <a:pPr marL="0" indent="0">
              <a:lnSpc>
                <a:spcPct val="100000"/>
              </a:lnSpc>
              <a:spcBef>
                <a:spcPts val="375"/>
              </a:spcBef>
              <a:buNone/>
            </a:pPr>
            <a:r>
              <a:rPr lang="en-US" sz="1296" b="1" dirty="0">
                <a:solidFill>
                  <a:srgbClr val="2B76FD"/>
                </a:solidFill>
                <a:latin typeface="Noto Sans" pitchFamily="34" charset="0"/>
                <a:ea typeface="Noto Sans" pitchFamily="34" charset="-122"/>
                <a:cs typeface="Noto Sans" pitchFamily="34" charset="-120"/>
              </a:rPr>
              <a:t>NHANH HƠN, KÉM CHÍNH XÁC</a:t>
            </a:r>
            <a:endParaRPr lang="en-US" sz="1440" dirty="0"/>
          </a:p>
        </p:txBody>
      </p:sp>
      <p:sp>
        <p:nvSpPr>
          <p:cNvPr id="18" name="Text 13">
            <a:extLst>
              <a:ext uri="{FF2B5EF4-FFF2-40B4-BE49-F238E27FC236}">
                <a16:creationId xmlns:a16="http://schemas.microsoft.com/office/drawing/2014/main" id="{07A2ECF8-F7FA-151D-B575-43E6C00B15AC}"/>
              </a:ext>
            </a:extLst>
          </p:cNvPr>
          <p:cNvSpPr/>
          <p:nvPr/>
        </p:nvSpPr>
        <p:spPr>
          <a:xfrm>
            <a:off x="3225195" y="1953240"/>
            <a:ext cx="2677061" cy="377647"/>
          </a:xfrm>
          <a:prstGeom prst="rect">
            <a:avLst/>
          </a:prstGeom>
          <a:noFill/>
          <a:ln/>
        </p:spPr>
        <p:txBody>
          <a:bodyPr wrap="square" lIns="95250" tIns="95250" rIns="95250" bIns="95250" rtlCol="0" anchor="ctr"/>
          <a:lstStyle/>
          <a:p>
            <a:pPr marL="0" indent="0">
              <a:lnSpc>
                <a:spcPct val="100000"/>
              </a:lnSpc>
              <a:spcBef>
                <a:spcPts val="375"/>
              </a:spcBef>
              <a:buNone/>
            </a:pPr>
            <a:r>
              <a:rPr lang="en-US" sz="1296" b="1" dirty="0">
                <a:solidFill>
                  <a:srgbClr val="2B76FD"/>
                </a:solidFill>
                <a:latin typeface="Noto Sans" pitchFamily="34" charset="0"/>
                <a:ea typeface="Noto Sans" pitchFamily="34" charset="-122"/>
                <a:cs typeface="Noto Sans" pitchFamily="34" charset="-120"/>
              </a:rPr>
              <a:t>CHÍNH XÁC HƠN, KÉM NHANH</a:t>
            </a:r>
            <a:endParaRPr lang="en-US" sz="1440" dirty="0"/>
          </a:p>
        </p:txBody>
      </p:sp>
      <p:sp>
        <p:nvSpPr>
          <p:cNvPr id="20" name="Text 15">
            <a:extLst>
              <a:ext uri="{FF2B5EF4-FFF2-40B4-BE49-F238E27FC236}">
                <a16:creationId xmlns:a16="http://schemas.microsoft.com/office/drawing/2014/main" id="{2E894E54-6B32-ED59-CAA8-B8C40C290CB5}"/>
              </a:ext>
            </a:extLst>
          </p:cNvPr>
          <p:cNvSpPr/>
          <p:nvPr/>
        </p:nvSpPr>
        <p:spPr>
          <a:xfrm>
            <a:off x="6389340" y="2005848"/>
            <a:ext cx="2636166" cy="377647"/>
          </a:xfrm>
          <a:prstGeom prst="rect">
            <a:avLst/>
          </a:prstGeom>
          <a:noFill/>
          <a:ln/>
        </p:spPr>
        <p:txBody>
          <a:bodyPr wrap="square" lIns="95250" tIns="95250" rIns="95250" bIns="95250" rtlCol="0" anchor="ctr"/>
          <a:lstStyle/>
          <a:p>
            <a:pPr marL="0" indent="0">
              <a:lnSpc>
                <a:spcPct val="100000"/>
              </a:lnSpc>
              <a:spcBef>
                <a:spcPts val="375"/>
              </a:spcBef>
              <a:buNone/>
            </a:pPr>
            <a:r>
              <a:rPr lang="en-US" sz="1296" b="1" dirty="0">
                <a:solidFill>
                  <a:srgbClr val="2B76FD"/>
                </a:solidFill>
                <a:latin typeface="Noto Sans" pitchFamily="34" charset="0"/>
                <a:ea typeface="Noto Sans" pitchFamily="34" charset="-122"/>
                <a:cs typeface="Noto Sans" pitchFamily="34" charset="-120"/>
              </a:rPr>
              <a:t>TẬP HỢP CÁC CẤU HÌNH TỐI ƯU SPEED- ACCURAY</a:t>
            </a:r>
            <a:endParaRPr lang="en-US" sz="1440" dirty="0"/>
          </a:p>
        </p:txBody>
      </p:sp>
      <p:pic>
        <p:nvPicPr>
          <p:cNvPr id="23" name="Picture 22">
            <a:extLst>
              <a:ext uri="{FF2B5EF4-FFF2-40B4-BE49-F238E27FC236}">
                <a16:creationId xmlns:a16="http://schemas.microsoft.com/office/drawing/2014/main" id="{15168755-CFD8-0F7A-1AB0-193AE475A82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6911" y="2391511"/>
            <a:ext cx="8295983" cy="2801598"/>
          </a:xfrm>
          <a:prstGeom prst="rect">
            <a:avLst/>
          </a:prstGeom>
        </p:spPr>
      </p:pic>
    </p:spTree>
    <p:extLst>
      <p:ext uri="{BB962C8B-B14F-4D97-AF65-F5344CB8AC3E}">
        <p14:creationId xmlns:p14="http://schemas.microsoft.com/office/powerpoint/2010/main" val="1780652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E986C3B3-09DB-7A2B-8B7F-39590C87833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8172F50-E3C3-0CAA-4901-2A997C0F0886}"/>
              </a:ext>
            </a:extLst>
          </p:cNvPr>
          <p:cNvSpPr/>
          <p:nvPr/>
        </p:nvSpPr>
        <p:spPr>
          <a:xfrm>
            <a:off x="6623205" y="1041171"/>
            <a:ext cx="2140946" cy="1610313"/>
          </a:xfrm>
          <a:prstGeom prst="rect">
            <a:avLst/>
          </a:prstGeom>
          <a:noFill/>
          <a:ln/>
        </p:spPr>
        <p:txBody>
          <a:bodyPr wrap="square" lIns="95250" tIns="95250" rIns="95250" bIns="95250" rtlCol="0" anchor="t">
            <a:spAutoFit/>
          </a:bodyPr>
          <a:lstStyle/>
          <a:p>
            <a:pPr marL="0" indent="0" algn="ctr">
              <a:lnSpc>
                <a:spcPct val="112500"/>
              </a:lnSpc>
              <a:spcBef>
                <a:spcPts val="375"/>
              </a:spcBef>
              <a:buNone/>
            </a:pPr>
            <a:r>
              <a:rPr lang="en-US" sz="8640" b="1" dirty="0">
                <a:solidFill>
                  <a:srgbClr val="2B76FD">
                    <a:alpha val="60000"/>
                  </a:srgbClr>
                </a:solidFill>
                <a:latin typeface="Noto Sans" pitchFamily="34" charset="0"/>
                <a:ea typeface="Noto Sans" pitchFamily="34" charset="-122"/>
                <a:cs typeface="Noto Sans" pitchFamily="34" charset="-120"/>
              </a:rPr>
              <a:t>04</a:t>
            </a:r>
            <a:endParaRPr lang="en-US" sz="1440" dirty="0"/>
          </a:p>
        </p:txBody>
      </p:sp>
      <p:sp>
        <p:nvSpPr>
          <p:cNvPr id="3" name="Text 1">
            <a:extLst>
              <a:ext uri="{FF2B5EF4-FFF2-40B4-BE49-F238E27FC236}">
                <a16:creationId xmlns:a16="http://schemas.microsoft.com/office/drawing/2014/main" id="{D7C8DE05-F33A-21DF-0051-EF841D4D06D1}"/>
              </a:ext>
            </a:extLst>
          </p:cNvPr>
          <p:cNvSpPr/>
          <p:nvPr/>
        </p:nvSpPr>
        <p:spPr>
          <a:xfrm>
            <a:off x="4098516" y="2591079"/>
            <a:ext cx="4294798" cy="1130053"/>
          </a:xfrm>
          <a:prstGeom prst="rect">
            <a:avLst/>
          </a:prstGeom>
          <a:noFill/>
          <a:ln/>
        </p:spPr>
        <p:txBody>
          <a:bodyPr wrap="square" lIns="95250" tIns="95250" rIns="95250" bIns="95250" rtlCol="0" anchor="t">
            <a:spAutoFit/>
          </a:bodyPr>
          <a:lstStyle/>
          <a:p>
            <a:pPr marL="0" indent="0" algn="ctr">
              <a:lnSpc>
                <a:spcPct val="100000"/>
              </a:lnSpc>
              <a:spcBef>
                <a:spcPts val="375"/>
              </a:spcBef>
              <a:buNone/>
            </a:pPr>
            <a:r>
              <a:rPr lang="fr-FR" sz="2880" b="1" dirty="0" err="1">
                <a:solidFill>
                  <a:srgbClr val="2B76FD"/>
                </a:solidFill>
                <a:latin typeface="Noto Sans" pitchFamily="34" charset="0"/>
                <a:ea typeface="Noto Sans" pitchFamily="34" charset="-122"/>
                <a:cs typeface="Noto Sans" pitchFamily="34" charset="-120"/>
              </a:rPr>
              <a:t>Các</a:t>
            </a:r>
            <a:r>
              <a:rPr lang="fr-FR" sz="2880" b="1" dirty="0">
                <a:solidFill>
                  <a:srgbClr val="2B76FD"/>
                </a:solidFill>
                <a:latin typeface="Noto Sans" pitchFamily="34" charset="0"/>
                <a:ea typeface="Noto Sans" pitchFamily="34" charset="-122"/>
                <a:cs typeface="Noto Sans" pitchFamily="34" charset="-120"/>
              </a:rPr>
              <a:t> </a:t>
            </a:r>
            <a:r>
              <a:rPr lang="fr-FR" sz="2880" b="1" dirty="0" err="1">
                <a:solidFill>
                  <a:srgbClr val="2B76FD"/>
                </a:solidFill>
                <a:latin typeface="Noto Sans" pitchFamily="34" charset="0"/>
                <a:ea typeface="Noto Sans" pitchFamily="34" charset="-122"/>
                <a:cs typeface="Noto Sans" pitchFamily="34" charset="-120"/>
              </a:rPr>
              <a:t>Mức</a:t>
            </a:r>
            <a:r>
              <a:rPr lang="fr-FR" sz="2880" b="1" dirty="0">
                <a:solidFill>
                  <a:srgbClr val="2B76FD"/>
                </a:solidFill>
                <a:latin typeface="Noto Sans" pitchFamily="34" charset="0"/>
                <a:ea typeface="Noto Sans" pitchFamily="34" charset="-122"/>
                <a:cs typeface="Noto Sans" pitchFamily="34" charset="-120"/>
              </a:rPr>
              <a:t> </a:t>
            </a:r>
            <a:r>
              <a:rPr lang="fr-FR" sz="2880" b="1" dirty="0" err="1">
                <a:solidFill>
                  <a:srgbClr val="2B76FD"/>
                </a:solidFill>
                <a:latin typeface="Noto Sans" pitchFamily="34" charset="0"/>
                <a:ea typeface="Noto Sans" pitchFamily="34" charset="-122"/>
                <a:cs typeface="Noto Sans" pitchFamily="34" charset="-120"/>
              </a:rPr>
              <a:t>Độ</a:t>
            </a:r>
            <a:r>
              <a:rPr lang="fr-FR" sz="2880" b="1" dirty="0">
                <a:solidFill>
                  <a:srgbClr val="2B76FD"/>
                </a:solidFill>
                <a:latin typeface="Noto Sans" pitchFamily="34" charset="0"/>
                <a:ea typeface="Noto Sans" pitchFamily="34" charset="-122"/>
                <a:cs typeface="Noto Sans" pitchFamily="34" charset="-120"/>
              </a:rPr>
              <a:t> </a:t>
            </a:r>
            <a:r>
              <a:rPr lang="fr-FR" sz="2880" b="1" dirty="0" err="1">
                <a:solidFill>
                  <a:srgbClr val="2B76FD"/>
                </a:solidFill>
                <a:latin typeface="Noto Sans" pitchFamily="34" charset="0"/>
                <a:ea typeface="Noto Sans" pitchFamily="34" charset="-122"/>
                <a:cs typeface="Noto Sans" pitchFamily="34" charset="-120"/>
              </a:rPr>
              <a:t>Nén</a:t>
            </a:r>
            <a:endParaRPr lang="fr-FR" sz="2880" b="1" dirty="0">
              <a:solidFill>
                <a:srgbClr val="2B76FD"/>
              </a:solidFill>
              <a:latin typeface="Noto Sans" pitchFamily="34" charset="0"/>
              <a:ea typeface="Noto Sans" pitchFamily="34" charset="-122"/>
              <a:cs typeface="Noto Sans" pitchFamily="34" charset="-120"/>
            </a:endParaRPr>
          </a:p>
          <a:p>
            <a:pPr marL="0" indent="0" algn="ctr">
              <a:lnSpc>
                <a:spcPct val="100000"/>
              </a:lnSpc>
              <a:spcBef>
                <a:spcPts val="375"/>
              </a:spcBef>
              <a:buNone/>
            </a:pPr>
            <a:r>
              <a:rPr lang="fr-FR" sz="2880" b="1" dirty="0">
                <a:solidFill>
                  <a:srgbClr val="2B76FD"/>
                </a:solidFill>
                <a:latin typeface="Noto Sans" pitchFamily="34" charset="0"/>
                <a:ea typeface="Noto Sans" pitchFamily="34" charset="-122"/>
                <a:cs typeface="Noto Sans" pitchFamily="34" charset="-120"/>
              </a:rPr>
              <a:t>(Compression Levels)</a:t>
            </a:r>
            <a:endParaRPr lang="en-US" sz="1440" dirty="0"/>
          </a:p>
        </p:txBody>
      </p:sp>
    </p:spTree>
    <p:extLst>
      <p:ext uri="{BB962C8B-B14F-4D97-AF65-F5344CB8AC3E}">
        <p14:creationId xmlns:p14="http://schemas.microsoft.com/office/powerpoint/2010/main" val="19879627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C3D952D2-6D29-6B76-182E-E91214C38E5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94F729C-9E80-1AA6-7D0E-33131A9A62C0}"/>
              </a:ext>
            </a:extLst>
          </p:cNvPr>
          <p:cNvSpPr/>
          <p:nvPr/>
        </p:nvSpPr>
        <p:spPr>
          <a:xfrm>
            <a:off x="396558" y="328468"/>
            <a:ext cx="8396337" cy="546881"/>
          </a:xfrm>
          <a:prstGeom prst="rect">
            <a:avLst/>
          </a:prstGeom>
          <a:noFill/>
          <a:ln/>
        </p:spPr>
        <p:txBody>
          <a:bodyPr wrap="square" lIns="95250" tIns="95250" rIns="95250" bIns="95250" rtlCol="0" anchor="t">
            <a:spAutoFit/>
          </a:bodyPr>
          <a:lstStyle/>
          <a:p>
            <a:pPr marL="0" indent="0">
              <a:lnSpc>
                <a:spcPct val="112500"/>
              </a:lnSpc>
              <a:spcBef>
                <a:spcPts val="375"/>
              </a:spcBef>
              <a:buNone/>
            </a:pPr>
            <a:r>
              <a:rPr lang="vi-VN" sz="2160" b="1" dirty="0">
                <a:solidFill>
                  <a:srgbClr val="193AB9"/>
                </a:solidFill>
                <a:latin typeface="Noto Sans" pitchFamily="34" charset="0"/>
                <a:ea typeface="Noto Sans" pitchFamily="34" charset="-122"/>
                <a:cs typeface="Noto Sans" pitchFamily="34" charset="-120"/>
              </a:rPr>
              <a:t>Khái niệm</a:t>
            </a:r>
            <a:r>
              <a:rPr lang="en-US" sz="2160" b="1" dirty="0">
                <a:solidFill>
                  <a:srgbClr val="193AB9"/>
                </a:solidFill>
                <a:latin typeface="Noto Sans" pitchFamily="34" charset="0"/>
                <a:ea typeface="Noto Sans" pitchFamily="34" charset="-122"/>
                <a:cs typeface="Noto Sans" pitchFamily="34" charset="-120"/>
              </a:rPr>
              <a:t> </a:t>
            </a:r>
            <a:r>
              <a:rPr lang="vi-VN" sz="2160" b="1" dirty="0">
                <a:solidFill>
                  <a:srgbClr val="193AB9"/>
                </a:solidFill>
                <a:latin typeface="Noto Sans" pitchFamily="34" charset="0"/>
                <a:ea typeface="Noto Sans" pitchFamily="34" charset="-122"/>
                <a:cs typeface="Noto Sans" pitchFamily="34" charset="-120"/>
              </a:rPr>
              <a:t>cơ bản</a:t>
            </a:r>
            <a:r>
              <a:rPr lang="en-US" sz="2160" b="1" dirty="0">
                <a:solidFill>
                  <a:srgbClr val="193AB9"/>
                </a:solidFill>
                <a:latin typeface="Noto Sans" pitchFamily="34" charset="0"/>
                <a:ea typeface="Noto Sans" pitchFamily="34" charset="-122"/>
                <a:cs typeface="Noto Sans" pitchFamily="34" charset="-120"/>
              </a:rPr>
              <a:t> </a:t>
            </a:r>
            <a:r>
              <a:rPr lang="vi-VN" sz="2160" b="1" dirty="0">
                <a:solidFill>
                  <a:srgbClr val="193AB9"/>
                </a:solidFill>
                <a:latin typeface="Noto Sans" pitchFamily="34" charset="0"/>
                <a:ea typeface="Noto Sans" pitchFamily="34" charset="-122"/>
                <a:cs typeface="Noto Sans" pitchFamily="34" charset="-120"/>
              </a:rPr>
              <a:t>và Phép</a:t>
            </a:r>
            <a:r>
              <a:rPr lang="en-US" sz="2160" b="1" dirty="0">
                <a:solidFill>
                  <a:srgbClr val="193AB9"/>
                </a:solidFill>
                <a:latin typeface="Noto Sans" pitchFamily="34" charset="0"/>
                <a:ea typeface="Noto Sans" pitchFamily="34" charset="-122"/>
                <a:cs typeface="Noto Sans" pitchFamily="34" charset="-120"/>
              </a:rPr>
              <a:t> </a:t>
            </a:r>
            <a:r>
              <a:rPr lang="vi-VN" sz="2160" b="1" dirty="0">
                <a:solidFill>
                  <a:srgbClr val="193AB9"/>
                </a:solidFill>
                <a:latin typeface="Noto Sans" pitchFamily="34" charset="0"/>
                <a:ea typeface="Noto Sans" pitchFamily="34" charset="-122"/>
                <a:cs typeface="Noto Sans" pitchFamily="34" charset="-120"/>
              </a:rPr>
              <a:t>tính</a:t>
            </a:r>
            <a:r>
              <a:rPr lang="en-US" sz="2160" b="1" dirty="0">
                <a:solidFill>
                  <a:srgbClr val="193AB9"/>
                </a:solidFill>
                <a:latin typeface="Noto Sans" pitchFamily="34" charset="0"/>
                <a:ea typeface="Noto Sans" pitchFamily="34" charset="-122"/>
                <a:cs typeface="Noto Sans" pitchFamily="34" charset="-120"/>
              </a:rPr>
              <a:t> </a:t>
            </a:r>
            <a:r>
              <a:rPr lang="vi-VN" sz="2160" b="1" dirty="0">
                <a:solidFill>
                  <a:srgbClr val="193AB9"/>
                </a:solidFill>
                <a:latin typeface="Noto Sans" pitchFamily="34" charset="0"/>
                <a:ea typeface="Noto Sans" pitchFamily="34" charset="-122"/>
                <a:cs typeface="Noto Sans" pitchFamily="34" charset="-120"/>
              </a:rPr>
              <a:t>khoảng</a:t>
            </a:r>
            <a:r>
              <a:rPr lang="en-US" sz="2160" b="1" dirty="0">
                <a:solidFill>
                  <a:srgbClr val="193AB9"/>
                </a:solidFill>
                <a:latin typeface="Noto Sans" pitchFamily="34" charset="0"/>
                <a:ea typeface="Noto Sans" pitchFamily="34" charset="-122"/>
                <a:cs typeface="Noto Sans" pitchFamily="34" charset="-120"/>
              </a:rPr>
              <a:t> </a:t>
            </a:r>
            <a:r>
              <a:rPr lang="vi-VN" sz="2160" b="1" dirty="0">
                <a:solidFill>
                  <a:srgbClr val="193AB9"/>
                </a:solidFill>
                <a:latin typeface="Noto Sans" pitchFamily="34" charset="0"/>
                <a:ea typeface="Noto Sans" pitchFamily="34" charset="-122"/>
                <a:cs typeface="Noto Sans" pitchFamily="34" charset="-120"/>
              </a:rPr>
              <a:t>cách​</a:t>
            </a:r>
            <a:endParaRPr lang="en-US" sz="1440" dirty="0"/>
          </a:p>
        </p:txBody>
      </p:sp>
      <p:sp>
        <p:nvSpPr>
          <p:cNvPr id="3" name="Shape 1">
            <a:extLst>
              <a:ext uri="{FF2B5EF4-FFF2-40B4-BE49-F238E27FC236}">
                <a16:creationId xmlns:a16="http://schemas.microsoft.com/office/drawing/2014/main" id="{D3108384-248B-BF7B-AEC8-8233FDB05379}"/>
              </a:ext>
            </a:extLst>
          </p:cNvPr>
          <p:cNvSpPr/>
          <p:nvPr/>
        </p:nvSpPr>
        <p:spPr>
          <a:xfrm>
            <a:off x="6639960" y="1921681"/>
            <a:ext cx="2241485" cy="593993"/>
          </a:xfrm>
          <a:custGeom>
            <a:avLst/>
            <a:gdLst/>
            <a:ahLst/>
            <a:cxnLst/>
            <a:rect l="l" t="t" r="r" b="b"/>
            <a:pathLst>
              <a:path w="2241485" h="593993">
                <a:moveTo>
                  <a:pt x="0" y="0"/>
                </a:moveTo>
                <a:moveTo>
                  <a:pt x="0" y="0"/>
                </a:moveTo>
                <a:lnTo>
                  <a:pt x="2241485" y="0"/>
                </a:lnTo>
                <a:lnTo>
                  <a:pt x="2241485" y="593993"/>
                </a:lnTo>
                <a:lnTo>
                  <a:pt x="0" y="593993"/>
                </a:lnTo>
                <a:close/>
              </a:path>
            </a:pathLst>
          </a:custGeom>
          <a:solidFill>
            <a:srgbClr val="379EFC"/>
          </a:solidFill>
          <a:ln/>
        </p:spPr>
        <p:txBody>
          <a:bodyPr/>
          <a:lstStyle/>
          <a:p>
            <a:endParaRPr lang="en-US"/>
          </a:p>
        </p:txBody>
      </p:sp>
      <p:sp>
        <p:nvSpPr>
          <p:cNvPr id="4" name="Shape 2">
            <a:extLst>
              <a:ext uri="{FF2B5EF4-FFF2-40B4-BE49-F238E27FC236}">
                <a16:creationId xmlns:a16="http://schemas.microsoft.com/office/drawing/2014/main" id="{E2AD7640-6865-ED25-8438-4934967DD049}"/>
              </a:ext>
            </a:extLst>
          </p:cNvPr>
          <p:cNvSpPr/>
          <p:nvPr/>
        </p:nvSpPr>
        <p:spPr>
          <a:xfrm>
            <a:off x="4515159" y="1624684"/>
            <a:ext cx="2241485" cy="593993"/>
          </a:xfrm>
          <a:custGeom>
            <a:avLst/>
            <a:gdLst/>
            <a:ahLst/>
            <a:cxnLst/>
            <a:rect l="l" t="t" r="r" b="b"/>
            <a:pathLst>
              <a:path w="2241485" h="593993">
                <a:moveTo>
                  <a:pt x="0" y="0"/>
                </a:moveTo>
                <a:moveTo>
                  <a:pt x="0" y="0"/>
                </a:moveTo>
                <a:lnTo>
                  <a:pt x="2241485" y="0"/>
                </a:lnTo>
                <a:lnTo>
                  <a:pt x="2241485" y="593993"/>
                </a:lnTo>
                <a:lnTo>
                  <a:pt x="0" y="593993"/>
                </a:lnTo>
                <a:close/>
              </a:path>
            </a:pathLst>
          </a:custGeom>
          <a:solidFill>
            <a:srgbClr val="2B76FD"/>
          </a:solidFill>
          <a:ln/>
        </p:spPr>
        <p:txBody>
          <a:bodyPr/>
          <a:lstStyle/>
          <a:p>
            <a:endParaRPr lang="en-US"/>
          </a:p>
        </p:txBody>
      </p:sp>
      <p:sp>
        <p:nvSpPr>
          <p:cNvPr id="5" name="Shape 3">
            <a:extLst>
              <a:ext uri="{FF2B5EF4-FFF2-40B4-BE49-F238E27FC236}">
                <a16:creationId xmlns:a16="http://schemas.microsoft.com/office/drawing/2014/main" id="{527D5398-156A-1B89-FBFE-BF4E0093EC0E}"/>
              </a:ext>
            </a:extLst>
          </p:cNvPr>
          <p:cNvSpPr/>
          <p:nvPr/>
        </p:nvSpPr>
        <p:spPr>
          <a:xfrm>
            <a:off x="2390357" y="1327687"/>
            <a:ext cx="2241485" cy="593993"/>
          </a:xfrm>
          <a:custGeom>
            <a:avLst/>
            <a:gdLst/>
            <a:ahLst/>
            <a:cxnLst/>
            <a:rect l="l" t="t" r="r" b="b"/>
            <a:pathLst>
              <a:path w="2241485" h="593993">
                <a:moveTo>
                  <a:pt x="0" y="0"/>
                </a:moveTo>
                <a:moveTo>
                  <a:pt x="0" y="0"/>
                </a:moveTo>
                <a:lnTo>
                  <a:pt x="2241485" y="0"/>
                </a:lnTo>
                <a:lnTo>
                  <a:pt x="2241485" y="593993"/>
                </a:lnTo>
                <a:lnTo>
                  <a:pt x="0" y="593993"/>
                </a:lnTo>
                <a:close/>
              </a:path>
            </a:pathLst>
          </a:custGeom>
          <a:solidFill>
            <a:srgbClr val="379EFC"/>
          </a:solidFill>
          <a:ln/>
        </p:spPr>
        <p:txBody>
          <a:bodyPr/>
          <a:lstStyle/>
          <a:p>
            <a:endParaRPr lang="en-US"/>
          </a:p>
        </p:txBody>
      </p:sp>
      <p:sp>
        <p:nvSpPr>
          <p:cNvPr id="6" name="Shape 4">
            <a:extLst>
              <a:ext uri="{FF2B5EF4-FFF2-40B4-BE49-F238E27FC236}">
                <a16:creationId xmlns:a16="http://schemas.microsoft.com/office/drawing/2014/main" id="{2CCD9C15-EF07-94F1-4CA3-9603828EFAE8}"/>
              </a:ext>
            </a:extLst>
          </p:cNvPr>
          <p:cNvSpPr/>
          <p:nvPr/>
        </p:nvSpPr>
        <p:spPr>
          <a:xfrm>
            <a:off x="262555" y="1097720"/>
            <a:ext cx="2241485" cy="593993"/>
          </a:xfrm>
          <a:custGeom>
            <a:avLst/>
            <a:gdLst/>
            <a:ahLst/>
            <a:cxnLst/>
            <a:rect l="l" t="t" r="r" b="b"/>
            <a:pathLst>
              <a:path w="2241485" h="593993">
                <a:moveTo>
                  <a:pt x="0" y="0"/>
                </a:moveTo>
                <a:moveTo>
                  <a:pt x="0" y="0"/>
                </a:moveTo>
                <a:lnTo>
                  <a:pt x="2241485" y="0"/>
                </a:lnTo>
                <a:lnTo>
                  <a:pt x="2241485" y="593993"/>
                </a:lnTo>
                <a:lnTo>
                  <a:pt x="0" y="593993"/>
                </a:lnTo>
                <a:close/>
              </a:path>
            </a:pathLst>
          </a:custGeom>
          <a:solidFill>
            <a:srgbClr val="2B76FD"/>
          </a:solidFill>
          <a:ln/>
        </p:spPr>
        <p:txBody>
          <a:bodyPr/>
          <a:lstStyle/>
          <a:p>
            <a:endParaRPr lang="en-US"/>
          </a:p>
        </p:txBody>
      </p:sp>
      <p:sp>
        <p:nvSpPr>
          <p:cNvPr id="7" name="Text 5">
            <a:extLst>
              <a:ext uri="{FF2B5EF4-FFF2-40B4-BE49-F238E27FC236}">
                <a16:creationId xmlns:a16="http://schemas.microsoft.com/office/drawing/2014/main" id="{F073B12B-6475-E03B-34A9-C5808B266896}"/>
              </a:ext>
            </a:extLst>
          </p:cNvPr>
          <p:cNvSpPr/>
          <p:nvPr/>
        </p:nvSpPr>
        <p:spPr>
          <a:xfrm>
            <a:off x="262555" y="1097720"/>
            <a:ext cx="851764" cy="566928"/>
          </a:xfrm>
          <a:prstGeom prst="rect">
            <a:avLst/>
          </a:prstGeom>
          <a:noFill/>
          <a:ln/>
        </p:spPr>
        <p:txBody>
          <a:bodyPr wrap="square" lIns="95250" tIns="95250" rIns="95250" bIns="95250" rtlCol="0" anchor="t">
            <a:spAutoFit/>
          </a:bodyPr>
          <a:lstStyle/>
          <a:p>
            <a:pPr marL="0" indent="0" algn="ctr">
              <a:lnSpc>
                <a:spcPct val="112500"/>
              </a:lnSpc>
              <a:spcBef>
                <a:spcPts val="375"/>
              </a:spcBef>
              <a:buNone/>
            </a:pPr>
            <a:r>
              <a:rPr lang="en-US" sz="2016" b="1" dirty="0">
                <a:solidFill>
                  <a:srgbClr val="FFFFFF"/>
                </a:solidFill>
                <a:latin typeface="Noto Sans" pitchFamily="34" charset="0"/>
                <a:ea typeface="Noto Sans" pitchFamily="34" charset="-122"/>
                <a:cs typeface="Noto Sans" pitchFamily="34" charset="-120"/>
              </a:rPr>
              <a:t>01</a:t>
            </a:r>
            <a:endParaRPr lang="en-US" sz="1440" dirty="0"/>
          </a:p>
        </p:txBody>
      </p:sp>
      <p:sp>
        <p:nvSpPr>
          <p:cNvPr id="8" name="Text 6">
            <a:extLst>
              <a:ext uri="{FF2B5EF4-FFF2-40B4-BE49-F238E27FC236}">
                <a16:creationId xmlns:a16="http://schemas.microsoft.com/office/drawing/2014/main" id="{8443F6E2-F809-76EC-DD49-86C3819BECA7}"/>
              </a:ext>
            </a:extLst>
          </p:cNvPr>
          <p:cNvSpPr/>
          <p:nvPr/>
        </p:nvSpPr>
        <p:spPr>
          <a:xfrm>
            <a:off x="2507040" y="1327992"/>
            <a:ext cx="851764" cy="566928"/>
          </a:xfrm>
          <a:prstGeom prst="rect">
            <a:avLst/>
          </a:prstGeom>
          <a:noFill/>
          <a:ln/>
        </p:spPr>
        <p:txBody>
          <a:bodyPr wrap="square" lIns="95250" tIns="95250" rIns="95250" bIns="95250" rtlCol="0" anchor="t">
            <a:spAutoFit/>
          </a:bodyPr>
          <a:lstStyle/>
          <a:p>
            <a:pPr marL="0" indent="0" algn="ctr">
              <a:lnSpc>
                <a:spcPct val="112500"/>
              </a:lnSpc>
              <a:spcBef>
                <a:spcPts val="375"/>
              </a:spcBef>
              <a:buNone/>
            </a:pPr>
            <a:r>
              <a:rPr lang="en-US" sz="2016" b="1" dirty="0">
                <a:solidFill>
                  <a:srgbClr val="FFFFFF"/>
                </a:solidFill>
                <a:latin typeface="Noto Sans" pitchFamily="34" charset="0"/>
                <a:ea typeface="Noto Sans" pitchFamily="34" charset="-122"/>
                <a:cs typeface="Noto Sans" pitchFamily="34" charset="-120"/>
              </a:rPr>
              <a:t>02</a:t>
            </a:r>
            <a:endParaRPr lang="en-US" sz="1440" dirty="0"/>
          </a:p>
        </p:txBody>
      </p:sp>
      <p:sp>
        <p:nvSpPr>
          <p:cNvPr id="9" name="Text 7">
            <a:extLst>
              <a:ext uri="{FF2B5EF4-FFF2-40B4-BE49-F238E27FC236}">
                <a16:creationId xmlns:a16="http://schemas.microsoft.com/office/drawing/2014/main" id="{F3781866-8AF1-A85A-3027-24321DC5E3BD}"/>
              </a:ext>
            </a:extLst>
          </p:cNvPr>
          <p:cNvSpPr/>
          <p:nvPr/>
        </p:nvSpPr>
        <p:spPr>
          <a:xfrm>
            <a:off x="4631841" y="1624836"/>
            <a:ext cx="851764" cy="566928"/>
          </a:xfrm>
          <a:prstGeom prst="rect">
            <a:avLst/>
          </a:prstGeom>
          <a:noFill/>
          <a:ln/>
        </p:spPr>
        <p:txBody>
          <a:bodyPr wrap="square" lIns="95250" tIns="95250" rIns="95250" bIns="95250" rtlCol="0" anchor="t">
            <a:spAutoFit/>
          </a:bodyPr>
          <a:lstStyle/>
          <a:p>
            <a:pPr marL="0" indent="0" algn="ctr">
              <a:lnSpc>
                <a:spcPct val="112500"/>
              </a:lnSpc>
              <a:spcBef>
                <a:spcPts val="375"/>
              </a:spcBef>
              <a:buNone/>
            </a:pPr>
            <a:r>
              <a:rPr lang="en-US" sz="2016" b="1" dirty="0">
                <a:solidFill>
                  <a:srgbClr val="FFFFFF"/>
                </a:solidFill>
                <a:latin typeface="Noto Sans" pitchFamily="34" charset="0"/>
                <a:ea typeface="Noto Sans" pitchFamily="34" charset="-122"/>
                <a:cs typeface="Noto Sans" pitchFamily="34" charset="-120"/>
              </a:rPr>
              <a:t>03</a:t>
            </a:r>
            <a:endParaRPr lang="en-US" sz="1440" dirty="0"/>
          </a:p>
        </p:txBody>
      </p:sp>
      <p:sp>
        <p:nvSpPr>
          <p:cNvPr id="10" name="Text 8">
            <a:extLst>
              <a:ext uri="{FF2B5EF4-FFF2-40B4-BE49-F238E27FC236}">
                <a16:creationId xmlns:a16="http://schemas.microsoft.com/office/drawing/2014/main" id="{C91FB4DA-56ED-FDB1-2958-C6BED19CE14A}"/>
              </a:ext>
            </a:extLst>
          </p:cNvPr>
          <p:cNvSpPr/>
          <p:nvPr/>
        </p:nvSpPr>
        <p:spPr>
          <a:xfrm>
            <a:off x="6756643" y="1921681"/>
            <a:ext cx="851764" cy="566928"/>
          </a:xfrm>
          <a:prstGeom prst="rect">
            <a:avLst/>
          </a:prstGeom>
          <a:noFill/>
          <a:ln/>
        </p:spPr>
        <p:txBody>
          <a:bodyPr wrap="square" lIns="95250" tIns="95250" rIns="95250" bIns="95250" rtlCol="0" anchor="t">
            <a:spAutoFit/>
          </a:bodyPr>
          <a:lstStyle/>
          <a:p>
            <a:pPr marL="0" indent="0" algn="ctr">
              <a:lnSpc>
                <a:spcPct val="112500"/>
              </a:lnSpc>
              <a:spcBef>
                <a:spcPts val="375"/>
              </a:spcBef>
              <a:buNone/>
            </a:pPr>
            <a:r>
              <a:rPr lang="en-US" sz="2016" b="1" dirty="0">
                <a:solidFill>
                  <a:srgbClr val="FFFFFF"/>
                </a:solidFill>
                <a:latin typeface="Noto Sans" pitchFamily="34" charset="0"/>
                <a:ea typeface="Noto Sans" pitchFamily="34" charset="-122"/>
                <a:cs typeface="Noto Sans" pitchFamily="34" charset="-120"/>
              </a:rPr>
              <a:t>04</a:t>
            </a:r>
            <a:endParaRPr lang="en-US" sz="1440" dirty="0"/>
          </a:p>
        </p:txBody>
      </p:sp>
      <p:sp>
        <p:nvSpPr>
          <p:cNvPr id="11" name="Text 9">
            <a:extLst>
              <a:ext uri="{FF2B5EF4-FFF2-40B4-BE49-F238E27FC236}">
                <a16:creationId xmlns:a16="http://schemas.microsoft.com/office/drawing/2014/main" id="{E7494ECA-BA67-EE5A-81A4-F816A686BF0F}"/>
              </a:ext>
            </a:extLst>
          </p:cNvPr>
          <p:cNvSpPr/>
          <p:nvPr/>
        </p:nvSpPr>
        <p:spPr>
          <a:xfrm>
            <a:off x="262555" y="1682138"/>
            <a:ext cx="2127802" cy="393192"/>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vi-VN" sz="1296" b="1" dirty="0">
                <a:solidFill>
                  <a:srgbClr val="2B76FD"/>
                </a:solidFill>
                <a:latin typeface="Noto Sans" pitchFamily="34" charset="0"/>
                <a:ea typeface="Noto Sans" pitchFamily="34" charset="-122"/>
                <a:cs typeface="Noto Sans" pitchFamily="34" charset="-120"/>
              </a:rPr>
              <a:t>Lượng tử hóa dữ liệu​</a:t>
            </a:r>
            <a:endParaRPr lang="en-US" sz="1440" dirty="0"/>
          </a:p>
        </p:txBody>
      </p:sp>
      <p:sp>
        <p:nvSpPr>
          <p:cNvPr id="12" name="Text 10">
            <a:extLst>
              <a:ext uri="{FF2B5EF4-FFF2-40B4-BE49-F238E27FC236}">
                <a16:creationId xmlns:a16="http://schemas.microsoft.com/office/drawing/2014/main" id="{484A33F3-C8C9-5B85-1543-BCE96380CF73}"/>
              </a:ext>
            </a:extLst>
          </p:cNvPr>
          <p:cNvSpPr/>
          <p:nvPr/>
        </p:nvSpPr>
        <p:spPr>
          <a:xfrm>
            <a:off x="262555" y="2282685"/>
            <a:ext cx="2079924" cy="967894"/>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vi-VN" sz="1008" dirty="0">
                <a:solidFill>
                  <a:srgbClr val="00070F"/>
                </a:solidFill>
                <a:latin typeface="Noto Sans" pitchFamily="34" charset="0"/>
                <a:ea typeface="Noto Sans" pitchFamily="34" charset="-122"/>
                <a:cs typeface="Noto Sans" pitchFamily="34" charset="-120"/>
              </a:rPr>
              <a:t>Lượng tử hóa chuyển đổi vector liên tục thành mã số nguyên để giảm thiểu bộ nhớ lưu trữ và xử lý dữ liệu hiệu quả.</a:t>
            </a:r>
            <a:endParaRPr lang="en-US" sz="1440" dirty="0"/>
          </a:p>
        </p:txBody>
      </p:sp>
      <p:sp>
        <p:nvSpPr>
          <p:cNvPr id="13" name="Text 11">
            <a:extLst>
              <a:ext uri="{FF2B5EF4-FFF2-40B4-BE49-F238E27FC236}">
                <a16:creationId xmlns:a16="http://schemas.microsoft.com/office/drawing/2014/main" id="{FE8392CC-8C3F-64B7-B255-740D80CA3775}"/>
              </a:ext>
            </a:extLst>
          </p:cNvPr>
          <p:cNvSpPr/>
          <p:nvPr/>
        </p:nvSpPr>
        <p:spPr>
          <a:xfrm>
            <a:off x="2390357" y="1912105"/>
            <a:ext cx="2124802" cy="591187"/>
          </a:xfrm>
          <a:prstGeom prst="rect">
            <a:avLst/>
          </a:prstGeom>
          <a:noFill/>
          <a:ln/>
        </p:spPr>
        <p:txBody>
          <a:bodyPr wrap="square" lIns="95250" tIns="95250" rIns="95250" bIns="95250" rtlCol="0" anchor="t">
            <a:spAutoFit/>
          </a:bodyPr>
          <a:lstStyle/>
          <a:p>
            <a:pPr marL="0" indent="0">
              <a:lnSpc>
                <a:spcPct val="100000"/>
              </a:lnSpc>
              <a:buNone/>
            </a:pPr>
            <a:r>
              <a:rPr lang="en-US" sz="1296" b="1" dirty="0" err="1">
                <a:solidFill>
                  <a:srgbClr val="379EFC"/>
                </a:solidFill>
                <a:latin typeface="Noto Sans" pitchFamily="34" charset="0"/>
                <a:ea typeface="Noto Sans" pitchFamily="34" charset="-122"/>
                <a:cs typeface="Noto Sans" pitchFamily="34" charset="-120"/>
              </a:rPr>
              <a:t>Phép</a:t>
            </a:r>
            <a:r>
              <a:rPr lang="en-US" sz="1296" b="1" dirty="0">
                <a:solidFill>
                  <a:srgbClr val="379EFC"/>
                </a:solidFill>
                <a:latin typeface="Noto Sans" pitchFamily="34" charset="0"/>
                <a:ea typeface="Noto Sans" pitchFamily="34" charset="-122"/>
                <a:cs typeface="Noto Sans" pitchFamily="34" charset="-120"/>
              </a:rPr>
              <a:t> </a:t>
            </a:r>
            <a:r>
              <a:rPr lang="en-US" sz="1296" b="1" dirty="0" err="1">
                <a:solidFill>
                  <a:srgbClr val="379EFC"/>
                </a:solidFill>
                <a:latin typeface="Noto Sans" pitchFamily="34" charset="0"/>
                <a:ea typeface="Noto Sans" pitchFamily="34" charset="-122"/>
                <a:cs typeface="Noto Sans" pitchFamily="34" charset="-120"/>
              </a:rPr>
              <a:t>tính</a:t>
            </a:r>
            <a:r>
              <a:rPr lang="en-US" sz="1296" b="1" dirty="0">
                <a:solidFill>
                  <a:srgbClr val="379EFC"/>
                </a:solidFill>
                <a:latin typeface="Noto Sans" pitchFamily="34" charset="0"/>
                <a:ea typeface="Noto Sans" pitchFamily="34" charset="-122"/>
                <a:cs typeface="Noto Sans" pitchFamily="34" charset="-120"/>
              </a:rPr>
              <a:t> </a:t>
            </a:r>
            <a:r>
              <a:rPr lang="en-US" sz="1296" b="1" dirty="0" err="1">
                <a:solidFill>
                  <a:srgbClr val="379EFC"/>
                </a:solidFill>
                <a:latin typeface="Noto Sans" pitchFamily="34" charset="0"/>
                <a:ea typeface="Noto Sans" pitchFamily="34" charset="-122"/>
                <a:cs typeface="Noto Sans" pitchFamily="34" charset="-120"/>
              </a:rPr>
              <a:t>khoảng</a:t>
            </a:r>
            <a:r>
              <a:rPr lang="en-US" sz="1296" b="1" dirty="0">
                <a:solidFill>
                  <a:srgbClr val="379EFC"/>
                </a:solidFill>
                <a:latin typeface="Noto Sans" pitchFamily="34" charset="0"/>
                <a:ea typeface="Noto Sans" pitchFamily="34" charset="-122"/>
                <a:cs typeface="Noto Sans" pitchFamily="34" charset="-120"/>
              </a:rPr>
              <a:t> </a:t>
            </a:r>
            <a:r>
              <a:rPr lang="en-US" sz="1296" b="1" dirty="0" err="1">
                <a:solidFill>
                  <a:srgbClr val="379EFC"/>
                </a:solidFill>
                <a:latin typeface="Noto Sans" pitchFamily="34" charset="0"/>
                <a:ea typeface="Noto Sans" pitchFamily="34" charset="-122"/>
                <a:cs typeface="Noto Sans" pitchFamily="34" charset="-120"/>
              </a:rPr>
              <a:t>cách</a:t>
            </a:r>
            <a:r>
              <a:rPr lang="en-US" sz="1296" b="1" dirty="0">
                <a:solidFill>
                  <a:srgbClr val="379EFC"/>
                </a:solidFill>
                <a:latin typeface="Noto Sans" pitchFamily="34" charset="0"/>
                <a:ea typeface="Noto Sans" pitchFamily="34" charset="-122"/>
                <a:cs typeface="Noto Sans" pitchFamily="34" charset="-120"/>
              </a:rPr>
              <a:t> </a:t>
            </a:r>
            <a:r>
              <a:rPr lang="en-US" sz="1296" b="1" dirty="0" err="1">
                <a:solidFill>
                  <a:srgbClr val="379EFC"/>
                </a:solidFill>
                <a:latin typeface="Noto Sans" pitchFamily="34" charset="0"/>
                <a:ea typeface="Noto Sans" pitchFamily="34" charset="-122"/>
                <a:cs typeface="Noto Sans" pitchFamily="34" charset="-120"/>
              </a:rPr>
              <a:t>bất</a:t>
            </a:r>
            <a:r>
              <a:rPr lang="en-US" sz="1296" b="1" dirty="0">
                <a:solidFill>
                  <a:srgbClr val="379EFC"/>
                </a:solidFill>
                <a:latin typeface="Noto Sans" pitchFamily="34" charset="0"/>
                <a:ea typeface="Noto Sans" pitchFamily="34" charset="-122"/>
                <a:cs typeface="Noto Sans" pitchFamily="34" charset="-120"/>
              </a:rPr>
              <a:t> </a:t>
            </a:r>
            <a:r>
              <a:rPr lang="en-US" sz="1296" b="1" dirty="0" err="1">
                <a:solidFill>
                  <a:srgbClr val="379EFC"/>
                </a:solidFill>
                <a:latin typeface="Noto Sans" pitchFamily="34" charset="0"/>
                <a:ea typeface="Noto Sans" pitchFamily="34" charset="-122"/>
                <a:cs typeface="Noto Sans" pitchFamily="34" charset="-120"/>
              </a:rPr>
              <a:t>đối</a:t>
            </a:r>
            <a:r>
              <a:rPr lang="en-US" sz="1296" b="1" dirty="0">
                <a:solidFill>
                  <a:srgbClr val="379EFC"/>
                </a:solidFill>
                <a:latin typeface="Noto Sans" pitchFamily="34" charset="0"/>
                <a:ea typeface="Noto Sans" pitchFamily="34" charset="-122"/>
                <a:cs typeface="Noto Sans" pitchFamily="34" charset="-120"/>
              </a:rPr>
              <a:t> </a:t>
            </a:r>
            <a:r>
              <a:rPr lang="en-US" sz="1296" b="1" dirty="0" err="1">
                <a:solidFill>
                  <a:srgbClr val="379EFC"/>
                </a:solidFill>
                <a:latin typeface="Noto Sans" pitchFamily="34" charset="0"/>
                <a:ea typeface="Noto Sans" pitchFamily="34" charset="-122"/>
                <a:cs typeface="Noto Sans" pitchFamily="34" charset="-120"/>
              </a:rPr>
              <a:t>xứng</a:t>
            </a:r>
            <a:r>
              <a:rPr lang="en-US" sz="1296" b="1" dirty="0">
                <a:solidFill>
                  <a:srgbClr val="379EFC"/>
                </a:solidFill>
                <a:latin typeface="Noto Sans" pitchFamily="34" charset="0"/>
                <a:ea typeface="Noto Sans" pitchFamily="34" charset="-122"/>
                <a:cs typeface="Noto Sans" pitchFamily="34" charset="-120"/>
              </a:rPr>
              <a:t> (ADC)​</a:t>
            </a:r>
            <a:endParaRPr lang="en-US" sz="1440" dirty="0"/>
          </a:p>
        </p:txBody>
      </p:sp>
      <p:sp>
        <p:nvSpPr>
          <p:cNvPr id="14" name="Text 12">
            <a:extLst>
              <a:ext uri="{FF2B5EF4-FFF2-40B4-BE49-F238E27FC236}">
                <a16:creationId xmlns:a16="http://schemas.microsoft.com/office/drawing/2014/main" id="{142A6875-5FF6-9ADB-8426-DD35D15AC552}"/>
              </a:ext>
            </a:extLst>
          </p:cNvPr>
          <p:cNvSpPr/>
          <p:nvPr/>
        </p:nvSpPr>
        <p:spPr>
          <a:xfrm>
            <a:off x="2390757" y="2512384"/>
            <a:ext cx="2124402" cy="967894"/>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vi-VN" sz="1008" dirty="0">
                <a:solidFill>
                  <a:srgbClr val="00070F"/>
                </a:solidFill>
                <a:latin typeface="Noto Sans" pitchFamily="34" charset="0"/>
                <a:ea typeface="Noto Sans" pitchFamily="34" charset="-122"/>
                <a:cs typeface="Noto Sans" pitchFamily="34" charset="-120"/>
              </a:rPr>
              <a:t>ADC chỉ nén vector cơ sở dữ liệu, giúp tăng độ chính xác khi tìm kiếm bằng cách so sánh trực tiếp với vector truy vấn không nén.</a:t>
            </a:r>
            <a:endParaRPr lang="en-US" sz="1440" dirty="0"/>
          </a:p>
        </p:txBody>
      </p:sp>
      <p:sp>
        <p:nvSpPr>
          <p:cNvPr id="15" name="Text 13">
            <a:extLst>
              <a:ext uri="{FF2B5EF4-FFF2-40B4-BE49-F238E27FC236}">
                <a16:creationId xmlns:a16="http://schemas.microsoft.com/office/drawing/2014/main" id="{FC930D5E-6D85-9580-E5D3-82CFCFCDFB4E}"/>
              </a:ext>
            </a:extLst>
          </p:cNvPr>
          <p:cNvSpPr/>
          <p:nvPr/>
        </p:nvSpPr>
        <p:spPr>
          <a:xfrm>
            <a:off x="4515159" y="2189501"/>
            <a:ext cx="2124802" cy="591187"/>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en-US" sz="1296" b="1" dirty="0" err="1">
                <a:solidFill>
                  <a:srgbClr val="2B76FD"/>
                </a:solidFill>
                <a:latin typeface="Noto Sans" pitchFamily="34" charset="0"/>
                <a:ea typeface="Noto Sans" pitchFamily="34" charset="-122"/>
                <a:cs typeface="Noto Sans" pitchFamily="34" charset="-120"/>
              </a:rPr>
              <a:t>Phép</a:t>
            </a:r>
            <a:r>
              <a:rPr lang="en-US" sz="1296" b="1" dirty="0">
                <a:solidFill>
                  <a:srgbClr val="2B76FD"/>
                </a:solidFill>
                <a:latin typeface="Noto Sans" pitchFamily="34" charset="0"/>
                <a:ea typeface="Noto Sans" pitchFamily="34" charset="-122"/>
                <a:cs typeface="Noto Sans" pitchFamily="34" charset="-120"/>
              </a:rPr>
              <a:t> </a:t>
            </a:r>
            <a:r>
              <a:rPr lang="en-US" sz="1296" b="1" dirty="0" err="1">
                <a:solidFill>
                  <a:srgbClr val="2B76FD"/>
                </a:solidFill>
                <a:latin typeface="Noto Sans" pitchFamily="34" charset="0"/>
                <a:ea typeface="Noto Sans" pitchFamily="34" charset="-122"/>
                <a:cs typeface="Noto Sans" pitchFamily="34" charset="-120"/>
              </a:rPr>
              <a:t>tính</a:t>
            </a:r>
            <a:r>
              <a:rPr lang="en-US" sz="1296" b="1" dirty="0">
                <a:solidFill>
                  <a:srgbClr val="2B76FD"/>
                </a:solidFill>
                <a:latin typeface="Noto Sans" pitchFamily="34" charset="0"/>
                <a:ea typeface="Noto Sans" pitchFamily="34" charset="-122"/>
                <a:cs typeface="Noto Sans" pitchFamily="34" charset="-120"/>
              </a:rPr>
              <a:t> </a:t>
            </a:r>
            <a:r>
              <a:rPr lang="en-US" sz="1296" b="1" dirty="0" err="1">
                <a:solidFill>
                  <a:srgbClr val="2B76FD"/>
                </a:solidFill>
                <a:latin typeface="Noto Sans" pitchFamily="34" charset="0"/>
                <a:ea typeface="Noto Sans" pitchFamily="34" charset="-122"/>
                <a:cs typeface="Noto Sans" pitchFamily="34" charset="-120"/>
              </a:rPr>
              <a:t>khoảng</a:t>
            </a:r>
            <a:r>
              <a:rPr lang="en-US" sz="1296" b="1" dirty="0">
                <a:solidFill>
                  <a:srgbClr val="2B76FD"/>
                </a:solidFill>
                <a:latin typeface="Noto Sans" pitchFamily="34" charset="0"/>
                <a:ea typeface="Noto Sans" pitchFamily="34" charset="-122"/>
                <a:cs typeface="Noto Sans" pitchFamily="34" charset="-120"/>
              </a:rPr>
              <a:t> </a:t>
            </a:r>
            <a:r>
              <a:rPr lang="en-US" sz="1296" b="1" dirty="0" err="1">
                <a:solidFill>
                  <a:srgbClr val="2B76FD"/>
                </a:solidFill>
                <a:latin typeface="Noto Sans" pitchFamily="34" charset="0"/>
                <a:ea typeface="Noto Sans" pitchFamily="34" charset="-122"/>
                <a:cs typeface="Noto Sans" pitchFamily="34" charset="-120"/>
              </a:rPr>
              <a:t>cách</a:t>
            </a:r>
            <a:r>
              <a:rPr lang="en-US" sz="1296" b="1" dirty="0">
                <a:solidFill>
                  <a:srgbClr val="2B76FD"/>
                </a:solidFill>
                <a:latin typeface="Noto Sans" pitchFamily="34" charset="0"/>
                <a:ea typeface="Noto Sans" pitchFamily="34" charset="-122"/>
                <a:cs typeface="Noto Sans" pitchFamily="34" charset="-120"/>
              </a:rPr>
              <a:t> </a:t>
            </a:r>
            <a:r>
              <a:rPr lang="en-US" sz="1296" b="1" dirty="0" err="1">
                <a:solidFill>
                  <a:srgbClr val="2B76FD"/>
                </a:solidFill>
                <a:latin typeface="Noto Sans" pitchFamily="34" charset="0"/>
                <a:ea typeface="Noto Sans" pitchFamily="34" charset="-122"/>
                <a:cs typeface="Noto Sans" pitchFamily="34" charset="-120"/>
              </a:rPr>
              <a:t>đối</a:t>
            </a:r>
            <a:r>
              <a:rPr lang="en-US" sz="1296" b="1" dirty="0">
                <a:solidFill>
                  <a:srgbClr val="2B76FD"/>
                </a:solidFill>
                <a:latin typeface="Noto Sans" pitchFamily="34" charset="0"/>
                <a:ea typeface="Noto Sans" pitchFamily="34" charset="-122"/>
                <a:cs typeface="Noto Sans" pitchFamily="34" charset="-120"/>
              </a:rPr>
              <a:t> </a:t>
            </a:r>
            <a:r>
              <a:rPr lang="en-US" sz="1296" b="1" dirty="0" err="1">
                <a:solidFill>
                  <a:srgbClr val="2B76FD"/>
                </a:solidFill>
                <a:latin typeface="Noto Sans" pitchFamily="34" charset="0"/>
                <a:ea typeface="Noto Sans" pitchFamily="34" charset="-122"/>
                <a:cs typeface="Noto Sans" pitchFamily="34" charset="-120"/>
              </a:rPr>
              <a:t>xứng</a:t>
            </a:r>
            <a:r>
              <a:rPr lang="en-US" sz="1296" b="1" dirty="0">
                <a:solidFill>
                  <a:srgbClr val="2B76FD"/>
                </a:solidFill>
                <a:latin typeface="Noto Sans" pitchFamily="34" charset="0"/>
                <a:ea typeface="Noto Sans" pitchFamily="34" charset="-122"/>
                <a:cs typeface="Noto Sans" pitchFamily="34" charset="-120"/>
              </a:rPr>
              <a:t> (SDC)​</a:t>
            </a:r>
            <a:endParaRPr lang="en-US" sz="1440" dirty="0"/>
          </a:p>
        </p:txBody>
      </p:sp>
      <p:sp>
        <p:nvSpPr>
          <p:cNvPr id="16" name="Text 14">
            <a:extLst>
              <a:ext uri="{FF2B5EF4-FFF2-40B4-BE49-F238E27FC236}">
                <a16:creationId xmlns:a16="http://schemas.microsoft.com/office/drawing/2014/main" id="{072077FD-3602-FFB7-66F1-E7D7E92784B5}"/>
              </a:ext>
            </a:extLst>
          </p:cNvPr>
          <p:cNvSpPr/>
          <p:nvPr/>
        </p:nvSpPr>
        <p:spPr>
          <a:xfrm>
            <a:off x="4515159" y="2799269"/>
            <a:ext cx="2124802" cy="812787"/>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vi-VN" sz="1008" dirty="0">
                <a:solidFill>
                  <a:srgbClr val="00070F"/>
                </a:solidFill>
                <a:latin typeface="Noto Sans" pitchFamily="34" charset="0"/>
                <a:ea typeface="Noto Sans" pitchFamily="34" charset="-122"/>
                <a:cs typeface="Noto Sans" pitchFamily="34" charset="-120"/>
              </a:rPr>
              <a:t>SDC nén cả vector truy vấn và vector cơ sở dữ liệu, tối ưu hóa quá trình so sánh bằng mã lượng tử hó</a:t>
            </a:r>
            <a:endParaRPr lang="en-US" sz="1440" dirty="0"/>
          </a:p>
        </p:txBody>
      </p:sp>
      <p:sp>
        <p:nvSpPr>
          <p:cNvPr id="17" name="Text 15">
            <a:extLst>
              <a:ext uri="{FF2B5EF4-FFF2-40B4-BE49-F238E27FC236}">
                <a16:creationId xmlns:a16="http://schemas.microsoft.com/office/drawing/2014/main" id="{486C18CC-CC30-3765-A62D-7CE7E06C7A29}"/>
              </a:ext>
            </a:extLst>
          </p:cNvPr>
          <p:cNvSpPr/>
          <p:nvPr/>
        </p:nvSpPr>
        <p:spPr>
          <a:xfrm>
            <a:off x="6639960" y="2496523"/>
            <a:ext cx="2241485" cy="591187"/>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vi-VN" sz="1296" b="1" dirty="0">
                <a:solidFill>
                  <a:srgbClr val="379EFC"/>
                </a:solidFill>
                <a:latin typeface="Noto Sans" pitchFamily="34" charset="0"/>
                <a:ea typeface="Noto Sans" pitchFamily="34" charset="-122"/>
                <a:cs typeface="Noto Sans" pitchFamily="34" charset="-120"/>
              </a:rPr>
              <a:t>Đánh giá chất lượng - MSE​</a:t>
            </a:r>
            <a:endParaRPr lang="en-US" sz="1440" dirty="0"/>
          </a:p>
        </p:txBody>
      </p:sp>
      <p:sp>
        <p:nvSpPr>
          <p:cNvPr id="18" name="Text 16">
            <a:extLst>
              <a:ext uri="{FF2B5EF4-FFF2-40B4-BE49-F238E27FC236}">
                <a16:creationId xmlns:a16="http://schemas.microsoft.com/office/drawing/2014/main" id="{BF22CA42-7434-15CA-09ED-2496DE8EF670}"/>
              </a:ext>
            </a:extLst>
          </p:cNvPr>
          <p:cNvSpPr/>
          <p:nvPr/>
        </p:nvSpPr>
        <p:spPr>
          <a:xfrm>
            <a:off x="6639960" y="3105106"/>
            <a:ext cx="2241485" cy="812787"/>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vi-VN" sz="1008" dirty="0">
                <a:solidFill>
                  <a:srgbClr val="00070F"/>
                </a:solidFill>
                <a:latin typeface="Noto Sans" pitchFamily="34" charset="0"/>
                <a:ea typeface="Noto Sans" pitchFamily="34" charset="-122"/>
                <a:cs typeface="Noto Sans" pitchFamily="34" charset="-120"/>
              </a:rPr>
              <a:t>Lỗi bình phương trung bình (MSE) đo lường chất lượng lượng tử hóa bằng kỳ vọng sai số tái tạo dữ liệu trên toàn bộ tập dữ liệu.</a:t>
            </a:r>
            <a:endParaRPr lang="en-US" sz="1440" dirty="0"/>
          </a:p>
        </p:txBody>
      </p:sp>
    </p:spTree>
    <p:extLst>
      <p:ext uri="{BB962C8B-B14F-4D97-AF65-F5344CB8AC3E}">
        <p14:creationId xmlns:p14="http://schemas.microsoft.com/office/powerpoint/2010/main" val="40573224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B2A9B3C4-E722-1AC0-5C31-0F363F3B0E5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7804A06-0054-4A5C-B1D3-D429358D4865}"/>
              </a:ext>
            </a:extLst>
          </p:cNvPr>
          <p:cNvSpPr/>
          <p:nvPr/>
        </p:nvSpPr>
        <p:spPr>
          <a:xfrm>
            <a:off x="396558" y="328468"/>
            <a:ext cx="8396337" cy="546881"/>
          </a:xfrm>
          <a:prstGeom prst="rect">
            <a:avLst/>
          </a:prstGeom>
          <a:noFill/>
          <a:ln/>
        </p:spPr>
        <p:txBody>
          <a:bodyPr wrap="square" lIns="95250" tIns="95250" rIns="95250" bIns="95250" rtlCol="0" anchor="t">
            <a:spAutoFit/>
          </a:bodyPr>
          <a:lstStyle/>
          <a:p>
            <a:pPr marL="0" indent="0">
              <a:lnSpc>
                <a:spcPct val="112500"/>
              </a:lnSpc>
              <a:spcBef>
                <a:spcPts val="375"/>
              </a:spcBef>
              <a:buNone/>
            </a:pPr>
            <a:r>
              <a:rPr lang="vi-VN" sz="2160" b="1" dirty="0">
                <a:solidFill>
                  <a:srgbClr val="193AB9"/>
                </a:solidFill>
                <a:latin typeface="Noto Sans" pitchFamily="34" charset="0"/>
                <a:ea typeface="Noto Sans" pitchFamily="34" charset="-122"/>
                <a:cs typeface="Noto Sans" pitchFamily="34" charset="-120"/>
              </a:rPr>
              <a:t>Các Bộ</a:t>
            </a:r>
            <a:r>
              <a:rPr lang="en-US" sz="2160" b="1" dirty="0">
                <a:solidFill>
                  <a:srgbClr val="193AB9"/>
                </a:solidFill>
                <a:latin typeface="Noto Sans" pitchFamily="34" charset="0"/>
                <a:ea typeface="Noto Sans" pitchFamily="34" charset="-122"/>
                <a:cs typeface="Noto Sans" pitchFamily="34" charset="-120"/>
              </a:rPr>
              <a:t> </a:t>
            </a:r>
            <a:r>
              <a:rPr lang="vi-VN" sz="2160" b="1" dirty="0">
                <a:solidFill>
                  <a:srgbClr val="193AB9"/>
                </a:solidFill>
                <a:latin typeface="Noto Sans" pitchFamily="34" charset="0"/>
                <a:ea typeface="Noto Sans" pitchFamily="34" charset="-122"/>
                <a:cs typeface="Noto Sans" pitchFamily="34" charset="-120"/>
              </a:rPr>
              <a:t>Mã hóa</a:t>
            </a:r>
            <a:r>
              <a:rPr lang="en-US" sz="2160" b="1" dirty="0">
                <a:solidFill>
                  <a:srgbClr val="193AB9"/>
                </a:solidFill>
                <a:latin typeface="Noto Sans" pitchFamily="34" charset="0"/>
                <a:ea typeface="Noto Sans" pitchFamily="34" charset="-122"/>
                <a:cs typeface="Noto Sans" pitchFamily="34" charset="-120"/>
              </a:rPr>
              <a:t> </a:t>
            </a:r>
            <a:r>
              <a:rPr lang="vi-VN" sz="2160" b="1" dirty="0">
                <a:solidFill>
                  <a:srgbClr val="193AB9"/>
                </a:solidFill>
                <a:latin typeface="Noto Sans" pitchFamily="34" charset="0"/>
                <a:ea typeface="Noto Sans" pitchFamily="34" charset="-122"/>
                <a:cs typeface="Noto Sans" pitchFamily="34" charset="-120"/>
              </a:rPr>
              <a:t>Vector​</a:t>
            </a:r>
            <a:endParaRPr lang="en-US" sz="1440" dirty="0"/>
          </a:p>
        </p:txBody>
      </p:sp>
      <p:sp>
        <p:nvSpPr>
          <p:cNvPr id="3" name="Shape 1">
            <a:extLst>
              <a:ext uri="{FF2B5EF4-FFF2-40B4-BE49-F238E27FC236}">
                <a16:creationId xmlns:a16="http://schemas.microsoft.com/office/drawing/2014/main" id="{C3557D62-5226-2250-A171-71D66C89F5BC}"/>
              </a:ext>
            </a:extLst>
          </p:cNvPr>
          <p:cNvSpPr/>
          <p:nvPr/>
        </p:nvSpPr>
        <p:spPr>
          <a:xfrm>
            <a:off x="6639960" y="1921681"/>
            <a:ext cx="2241485" cy="593993"/>
          </a:xfrm>
          <a:custGeom>
            <a:avLst/>
            <a:gdLst/>
            <a:ahLst/>
            <a:cxnLst/>
            <a:rect l="l" t="t" r="r" b="b"/>
            <a:pathLst>
              <a:path w="2241485" h="593993">
                <a:moveTo>
                  <a:pt x="0" y="0"/>
                </a:moveTo>
                <a:moveTo>
                  <a:pt x="0" y="0"/>
                </a:moveTo>
                <a:lnTo>
                  <a:pt x="2241485" y="0"/>
                </a:lnTo>
                <a:lnTo>
                  <a:pt x="2241485" y="593993"/>
                </a:lnTo>
                <a:lnTo>
                  <a:pt x="0" y="593993"/>
                </a:lnTo>
                <a:close/>
              </a:path>
            </a:pathLst>
          </a:custGeom>
          <a:solidFill>
            <a:srgbClr val="379EFC"/>
          </a:solidFill>
          <a:ln/>
        </p:spPr>
        <p:txBody>
          <a:bodyPr/>
          <a:lstStyle/>
          <a:p>
            <a:endParaRPr lang="en-US"/>
          </a:p>
        </p:txBody>
      </p:sp>
      <p:sp>
        <p:nvSpPr>
          <p:cNvPr id="4" name="Shape 2">
            <a:extLst>
              <a:ext uri="{FF2B5EF4-FFF2-40B4-BE49-F238E27FC236}">
                <a16:creationId xmlns:a16="http://schemas.microsoft.com/office/drawing/2014/main" id="{A0017828-8832-C5DC-5377-5E6AFE361043}"/>
              </a:ext>
            </a:extLst>
          </p:cNvPr>
          <p:cNvSpPr/>
          <p:nvPr/>
        </p:nvSpPr>
        <p:spPr>
          <a:xfrm>
            <a:off x="4515159" y="1624684"/>
            <a:ext cx="2241485" cy="593993"/>
          </a:xfrm>
          <a:custGeom>
            <a:avLst/>
            <a:gdLst/>
            <a:ahLst/>
            <a:cxnLst/>
            <a:rect l="l" t="t" r="r" b="b"/>
            <a:pathLst>
              <a:path w="2241485" h="593993">
                <a:moveTo>
                  <a:pt x="0" y="0"/>
                </a:moveTo>
                <a:moveTo>
                  <a:pt x="0" y="0"/>
                </a:moveTo>
                <a:lnTo>
                  <a:pt x="2241485" y="0"/>
                </a:lnTo>
                <a:lnTo>
                  <a:pt x="2241485" y="593993"/>
                </a:lnTo>
                <a:lnTo>
                  <a:pt x="0" y="593993"/>
                </a:lnTo>
                <a:close/>
              </a:path>
            </a:pathLst>
          </a:custGeom>
          <a:solidFill>
            <a:srgbClr val="2B76FD"/>
          </a:solidFill>
          <a:ln/>
        </p:spPr>
        <p:txBody>
          <a:bodyPr/>
          <a:lstStyle/>
          <a:p>
            <a:endParaRPr lang="en-US"/>
          </a:p>
        </p:txBody>
      </p:sp>
      <p:sp>
        <p:nvSpPr>
          <p:cNvPr id="5" name="Shape 3">
            <a:extLst>
              <a:ext uri="{FF2B5EF4-FFF2-40B4-BE49-F238E27FC236}">
                <a16:creationId xmlns:a16="http://schemas.microsoft.com/office/drawing/2014/main" id="{137C2A80-5401-6939-B0AA-87362FEAD750}"/>
              </a:ext>
            </a:extLst>
          </p:cNvPr>
          <p:cNvSpPr/>
          <p:nvPr/>
        </p:nvSpPr>
        <p:spPr>
          <a:xfrm>
            <a:off x="2390357" y="1327687"/>
            <a:ext cx="2241485" cy="593993"/>
          </a:xfrm>
          <a:custGeom>
            <a:avLst/>
            <a:gdLst/>
            <a:ahLst/>
            <a:cxnLst/>
            <a:rect l="l" t="t" r="r" b="b"/>
            <a:pathLst>
              <a:path w="2241485" h="593993">
                <a:moveTo>
                  <a:pt x="0" y="0"/>
                </a:moveTo>
                <a:moveTo>
                  <a:pt x="0" y="0"/>
                </a:moveTo>
                <a:lnTo>
                  <a:pt x="2241485" y="0"/>
                </a:lnTo>
                <a:lnTo>
                  <a:pt x="2241485" y="593993"/>
                </a:lnTo>
                <a:lnTo>
                  <a:pt x="0" y="593993"/>
                </a:lnTo>
                <a:close/>
              </a:path>
            </a:pathLst>
          </a:custGeom>
          <a:solidFill>
            <a:srgbClr val="379EFC"/>
          </a:solidFill>
          <a:ln/>
        </p:spPr>
        <p:txBody>
          <a:bodyPr/>
          <a:lstStyle/>
          <a:p>
            <a:endParaRPr lang="en-US"/>
          </a:p>
        </p:txBody>
      </p:sp>
      <p:sp>
        <p:nvSpPr>
          <p:cNvPr id="6" name="Shape 4">
            <a:extLst>
              <a:ext uri="{FF2B5EF4-FFF2-40B4-BE49-F238E27FC236}">
                <a16:creationId xmlns:a16="http://schemas.microsoft.com/office/drawing/2014/main" id="{C8EA7294-6A4F-EDF6-5FDE-B89A6D02CC2E}"/>
              </a:ext>
            </a:extLst>
          </p:cNvPr>
          <p:cNvSpPr/>
          <p:nvPr/>
        </p:nvSpPr>
        <p:spPr>
          <a:xfrm>
            <a:off x="262555" y="1097720"/>
            <a:ext cx="2241485" cy="593993"/>
          </a:xfrm>
          <a:custGeom>
            <a:avLst/>
            <a:gdLst/>
            <a:ahLst/>
            <a:cxnLst/>
            <a:rect l="l" t="t" r="r" b="b"/>
            <a:pathLst>
              <a:path w="2241485" h="593993">
                <a:moveTo>
                  <a:pt x="0" y="0"/>
                </a:moveTo>
                <a:moveTo>
                  <a:pt x="0" y="0"/>
                </a:moveTo>
                <a:lnTo>
                  <a:pt x="2241485" y="0"/>
                </a:lnTo>
                <a:lnTo>
                  <a:pt x="2241485" y="593993"/>
                </a:lnTo>
                <a:lnTo>
                  <a:pt x="0" y="593993"/>
                </a:lnTo>
                <a:close/>
              </a:path>
            </a:pathLst>
          </a:custGeom>
          <a:solidFill>
            <a:srgbClr val="2B76FD"/>
          </a:solidFill>
          <a:ln/>
        </p:spPr>
        <p:txBody>
          <a:bodyPr/>
          <a:lstStyle/>
          <a:p>
            <a:endParaRPr lang="en-US"/>
          </a:p>
        </p:txBody>
      </p:sp>
      <p:sp>
        <p:nvSpPr>
          <p:cNvPr id="7" name="Text 5">
            <a:extLst>
              <a:ext uri="{FF2B5EF4-FFF2-40B4-BE49-F238E27FC236}">
                <a16:creationId xmlns:a16="http://schemas.microsoft.com/office/drawing/2014/main" id="{C39FF0E8-8896-DC9B-106E-2735A7D498D8}"/>
              </a:ext>
            </a:extLst>
          </p:cNvPr>
          <p:cNvSpPr/>
          <p:nvPr/>
        </p:nvSpPr>
        <p:spPr>
          <a:xfrm>
            <a:off x="262555" y="1097720"/>
            <a:ext cx="851764" cy="566928"/>
          </a:xfrm>
          <a:prstGeom prst="rect">
            <a:avLst/>
          </a:prstGeom>
          <a:noFill/>
          <a:ln/>
        </p:spPr>
        <p:txBody>
          <a:bodyPr wrap="square" lIns="95250" tIns="95250" rIns="95250" bIns="95250" rtlCol="0" anchor="t">
            <a:spAutoFit/>
          </a:bodyPr>
          <a:lstStyle/>
          <a:p>
            <a:pPr marL="0" indent="0" algn="ctr">
              <a:lnSpc>
                <a:spcPct val="112500"/>
              </a:lnSpc>
              <a:spcBef>
                <a:spcPts val="375"/>
              </a:spcBef>
              <a:buNone/>
            </a:pPr>
            <a:r>
              <a:rPr lang="en-US" sz="2016" b="1" dirty="0">
                <a:solidFill>
                  <a:srgbClr val="FFFFFF"/>
                </a:solidFill>
                <a:latin typeface="Noto Sans" pitchFamily="34" charset="0"/>
                <a:ea typeface="Noto Sans" pitchFamily="34" charset="-122"/>
                <a:cs typeface="Noto Sans" pitchFamily="34" charset="-120"/>
              </a:rPr>
              <a:t>01</a:t>
            </a:r>
            <a:endParaRPr lang="en-US" sz="1440" dirty="0"/>
          </a:p>
        </p:txBody>
      </p:sp>
      <p:sp>
        <p:nvSpPr>
          <p:cNvPr id="8" name="Text 6">
            <a:extLst>
              <a:ext uri="{FF2B5EF4-FFF2-40B4-BE49-F238E27FC236}">
                <a16:creationId xmlns:a16="http://schemas.microsoft.com/office/drawing/2014/main" id="{259D561C-78C5-6DBD-3A54-22F504F8751F}"/>
              </a:ext>
            </a:extLst>
          </p:cNvPr>
          <p:cNvSpPr/>
          <p:nvPr/>
        </p:nvSpPr>
        <p:spPr>
          <a:xfrm>
            <a:off x="2507040" y="1327992"/>
            <a:ext cx="851764" cy="566928"/>
          </a:xfrm>
          <a:prstGeom prst="rect">
            <a:avLst/>
          </a:prstGeom>
          <a:noFill/>
          <a:ln/>
        </p:spPr>
        <p:txBody>
          <a:bodyPr wrap="square" lIns="95250" tIns="95250" rIns="95250" bIns="95250" rtlCol="0" anchor="t">
            <a:spAutoFit/>
          </a:bodyPr>
          <a:lstStyle/>
          <a:p>
            <a:pPr marL="0" indent="0" algn="ctr">
              <a:lnSpc>
                <a:spcPct val="112500"/>
              </a:lnSpc>
              <a:spcBef>
                <a:spcPts val="375"/>
              </a:spcBef>
              <a:buNone/>
            </a:pPr>
            <a:r>
              <a:rPr lang="en-US" sz="2016" b="1" dirty="0">
                <a:solidFill>
                  <a:srgbClr val="FFFFFF"/>
                </a:solidFill>
                <a:latin typeface="Noto Sans" pitchFamily="34" charset="0"/>
                <a:ea typeface="Noto Sans" pitchFamily="34" charset="-122"/>
                <a:cs typeface="Noto Sans" pitchFamily="34" charset="-120"/>
              </a:rPr>
              <a:t>02</a:t>
            </a:r>
            <a:endParaRPr lang="en-US" sz="1440" dirty="0"/>
          </a:p>
        </p:txBody>
      </p:sp>
      <p:sp>
        <p:nvSpPr>
          <p:cNvPr id="9" name="Text 7">
            <a:extLst>
              <a:ext uri="{FF2B5EF4-FFF2-40B4-BE49-F238E27FC236}">
                <a16:creationId xmlns:a16="http://schemas.microsoft.com/office/drawing/2014/main" id="{715C1C30-22A8-B1E0-112B-25D8CC7CBF0A}"/>
              </a:ext>
            </a:extLst>
          </p:cNvPr>
          <p:cNvSpPr/>
          <p:nvPr/>
        </p:nvSpPr>
        <p:spPr>
          <a:xfrm>
            <a:off x="4631841" y="1624836"/>
            <a:ext cx="851764" cy="566928"/>
          </a:xfrm>
          <a:prstGeom prst="rect">
            <a:avLst/>
          </a:prstGeom>
          <a:noFill/>
          <a:ln/>
        </p:spPr>
        <p:txBody>
          <a:bodyPr wrap="square" lIns="95250" tIns="95250" rIns="95250" bIns="95250" rtlCol="0" anchor="t">
            <a:spAutoFit/>
          </a:bodyPr>
          <a:lstStyle/>
          <a:p>
            <a:pPr marL="0" indent="0" algn="ctr">
              <a:lnSpc>
                <a:spcPct val="112500"/>
              </a:lnSpc>
              <a:spcBef>
                <a:spcPts val="375"/>
              </a:spcBef>
              <a:buNone/>
            </a:pPr>
            <a:r>
              <a:rPr lang="en-US" sz="2016" b="1" dirty="0">
                <a:solidFill>
                  <a:srgbClr val="FFFFFF"/>
                </a:solidFill>
                <a:latin typeface="Noto Sans" pitchFamily="34" charset="0"/>
                <a:ea typeface="Noto Sans" pitchFamily="34" charset="-122"/>
                <a:cs typeface="Noto Sans" pitchFamily="34" charset="-120"/>
              </a:rPr>
              <a:t>03</a:t>
            </a:r>
            <a:endParaRPr lang="en-US" sz="1440" dirty="0"/>
          </a:p>
        </p:txBody>
      </p:sp>
      <p:sp>
        <p:nvSpPr>
          <p:cNvPr id="10" name="Text 8">
            <a:extLst>
              <a:ext uri="{FF2B5EF4-FFF2-40B4-BE49-F238E27FC236}">
                <a16:creationId xmlns:a16="http://schemas.microsoft.com/office/drawing/2014/main" id="{DAAE66A9-5AFB-A0A7-A21A-C233C37BECDD}"/>
              </a:ext>
            </a:extLst>
          </p:cNvPr>
          <p:cNvSpPr/>
          <p:nvPr/>
        </p:nvSpPr>
        <p:spPr>
          <a:xfrm>
            <a:off x="6756643" y="1921681"/>
            <a:ext cx="851764" cy="566928"/>
          </a:xfrm>
          <a:prstGeom prst="rect">
            <a:avLst/>
          </a:prstGeom>
          <a:noFill/>
          <a:ln/>
        </p:spPr>
        <p:txBody>
          <a:bodyPr wrap="square" lIns="95250" tIns="95250" rIns="95250" bIns="95250" rtlCol="0" anchor="t">
            <a:spAutoFit/>
          </a:bodyPr>
          <a:lstStyle/>
          <a:p>
            <a:pPr marL="0" indent="0" algn="ctr">
              <a:lnSpc>
                <a:spcPct val="112500"/>
              </a:lnSpc>
              <a:spcBef>
                <a:spcPts val="375"/>
              </a:spcBef>
              <a:buNone/>
            </a:pPr>
            <a:r>
              <a:rPr lang="en-US" sz="2016" b="1" dirty="0">
                <a:solidFill>
                  <a:srgbClr val="FFFFFF"/>
                </a:solidFill>
                <a:latin typeface="Noto Sans" pitchFamily="34" charset="0"/>
                <a:ea typeface="Noto Sans" pitchFamily="34" charset="-122"/>
                <a:cs typeface="Noto Sans" pitchFamily="34" charset="-120"/>
              </a:rPr>
              <a:t>04</a:t>
            </a:r>
            <a:endParaRPr lang="en-US" sz="1440" dirty="0"/>
          </a:p>
        </p:txBody>
      </p:sp>
      <p:sp>
        <p:nvSpPr>
          <p:cNvPr id="11" name="Text 9">
            <a:extLst>
              <a:ext uri="{FF2B5EF4-FFF2-40B4-BE49-F238E27FC236}">
                <a16:creationId xmlns:a16="http://schemas.microsoft.com/office/drawing/2014/main" id="{D10F7B35-5F3F-F694-ACC9-ADC3D3EB3041}"/>
              </a:ext>
            </a:extLst>
          </p:cNvPr>
          <p:cNvSpPr/>
          <p:nvPr/>
        </p:nvSpPr>
        <p:spPr>
          <a:xfrm>
            <a:off x="262555" y="1682138"/>
            <a:ext cx="2127802" cy="591187"/>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vi-VN" sz="1296" b="1" dirty="0">
                <a:solidFill>
                  <a:srgbClr val="2B76FD"/>
                </a:solidFill>
                <a:latin typeface="Noto Sans" pitchFamily="34" charset="0"/>
                <a:ea typeface="Noto Sans" pitchFamily="34" charset="-122"/>
                <a:cs typeface="Noto Sans" pitchFamily="34" charset="-120"/>
              </a:rPr>
              <a:t>Lượng tử hóa vector k-means​</a:t>
            </a:r>
            <a:endParaRPr lang="en-US" sz="1440" dirty="0"/>
          </a:p>
        </p:txBody>
      </p:sp>
      <p:sp>
        <p:nvSpPr>
          <p:cNvPr id="12" name="Text 10">
            <a:extLst>
              <a:ext uri="{FF2B5EF4-FFF2-40B4-BE49-F238E27FC236}">
                <a16:creationId xmlns:a16="http://schemas.microsoft.com/office/drawing/2014/main" id="{C334A07A-4113-88E1-16E2-433BF591ED6D}"/>
              </a:ext>
            </a:extLst>
          </p:cNvPr>
          <p:cNvSpPr/>
          <p:nvPr/>
        </p:nvSpPr>
        <p:spPr>
          <a:xfrm>
            <a:off x="262555" y="2282685"/>
            <a:ext cx="2079924" cy="812787"/>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vi-VN" sz="1008" dirty="0">
                <a:solidFill>
                  <a:srgbClr val="00070F"/>
                </a:solidFill>
                <a:latin typeface="Noto Sans" pitchFamily="34" charset="0"/>
                <a:ea typeface="Noto Sans" pitchFamily="34" charset="-122"/>
                <a:cs typeface="Noto Sans" pitchFamily="34" charset="-120"/>
              </a:rPr>
              <a:t>K-means cung cấp độ chính xác cao nhưng tăng nhanh về bộ nhớ và độ phức tạp khi mã vượt quá 3 byte.​</a:t>
            </a:r>
            <a:endParaRPr lang="en-US" sz="1440" dirty="0"/>
          </a:p>
        </p:txBody>
      </p:sp>
      <p:sp>
        <p:nvSpPr>
          <p:cNvPr id="13" name="Text 11">
            <a:extLst>
              <a:ext uri="{FF2B5EF4-FFF2-40B4-BE49-F238E27FC236}">
                <a16:creationId xmlns:a16="http://schemas.microsoft.com/office/drawing/2014/main" id="{298A112B-65C5-891F-4665-6F44D67076E4}"/>
              </a:ext>
            </a:extLst>
          </p:cNvPr>
          <p:cNvSpPr/>
          <p:nvPr/>
        </p:nvSpPr>
        <p:spPr>
          <a:xfrm>
            <a:off x="2390357" y="1912105"/>
            <a:ext cx="2124802" cy="591187"/>
          </a:xfrm>
          <a:prstGeom prst="rect">
            <a:avLst/>
          </a:prstGeom>
          <a:noFill/>
          <a:ln/>
        </p:spPr>
        <p:txBody>
          <a:bodyPr wrap="square" lIns="95250" tIns="95250" rIns="95250" bIns="95250" rtlCol="0" anchor="t">
            <a:spAutoFit/>
          </a:bodyPr>
          <a:lstStyle/>
          <a:p>
            <a:pPr marL="0" indent="0">
              <a:lnSpc>
                <a:spcPct val="100000"/>
              </a:lnSpc>
              <a:buNone/>
            </a:pPr>
            <a:r>
              <a:rPr lang="en-US" sz="1296" b="1" dirty="0">
                <a:solidFill>
                  <a:srgbClr val="379EFC"/>
                </a:solidFill>
                <a:latin typeface="Noto Sans" pitchFamily="34" charset="0"/>
                <a:ea typeface="Noto Sans" pitchFamily="34" charset="-122"/>
                <a:cs typeface="Noto Sans" pitchFamily="34" charset="-120"/>
              </a:rPr>
              <a:t>​</a:t>
            </a:r>
            <a:r>
              <a:rPr lang="vi-VN" sz="1296" b="1" dirty="0">
                <a:solidFill>
                  <a:srgbClr val="379EFC"/>
                </a:solidFill>
                <a:latin typeface="Noto Sans" pitchFamily="34" charset="0"/>
                <a:ea typeface="Noto Sans" pitchFamily="34" charset="-122"/>
                <a:cs typeface="Noto Sans" pitchFamily="34" charset="-120"/>
              </a:rPr>
              <a:t>Lượng tử hóa vô hướng​</a:t>
            </a:r>
            <a:endParaRPr lang="en-US" sz="1440" dirty="0"/>
          </a:p>
        </p:txBody>
      </p:sp>
      <p:sp>
        <p:nvSpPr>
          <p:cNvPr id="14" name="Text 12">
            <a:extLst>
              <a:ext uri="{FF2B5EF4-FFF2-40B4-BE49-F238E27FC236}">
                <a16:creationId xmlns:a16="http://schemas.microsoft.com/office/drawing/2014/main" id="{198D862D-25BA-CE48-476B-DD346E679E4F}"/>
              </a:ext>
            </a:extLst>
          </p:cNvPr>
          <p:cNvSpPr/>
          <p:nvPr/>
        </p:nvSpPr>
        <p:spPr>
          <a:xfrm>
            <a:off x="2390757" y="2512384"/>
            <a:ext cx="2124402" cy="812787"/>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vi-VN" sz="1008" dirty="0">
                <a:solidFill>
                  <a:srgbClr val="00070F"/>
                </a:solidFill>
                <a:latin typeface="Noto Sans" pitchFamily="34" charset="0"/>
                <a:ea typeface="Noto Sans" pitchFamily="34" charset="-122"/>
                <a:cs typeface="Noto Sans" pitchFamily="34" charset="-120"/>
              </a:rPr>
              <a:t>Mã hóa từng chiều độc lập, sử dụng các mức lượng tử hóa đồng nhất như SQ8, SQ6, SQ4 và mã hóa 1 bit với IndexLSH.​</a:t>
            </a:r>
            <a:endParaRPr lang="en-US" sz="1440" dirty="0"/>
          </a:p>
        </p:txBody>
      </p:sp>
      <p:sp>
        <p:nvSpPr>
          <p:cNvPr id="15" name="Text 13">
            <a:extLst>
              <a:ext uri="{FF2B5EF4-FFF2-40B4-BE49-F238E27FC236}">
                <a16:creationId xmlns:a16="http://schemas.microsoft.com/office/drawing/2014/main" id="{D18F50D8-616F-862A-BC51-ED04351C2C3B}"/>
              </a:ext>
            </a:extLst>
          </p:cNvPr>
          <p:cNvSpPr/>
          <p:nvPr/>
        </p:nvSpPr>
        <p:spPr>
          <a:xfrm>
            <a:off x="4515159" y="2189501"/>
            <a:ext cx="2124802" cy="790601"/>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en-US" sz="1296" b="1" dirty="0">
                <a:solidFill>
                  <a:srgbClr val="2B76FD"/>
                </a:solidFill>
                <a:latin typeface="Noto Sans" pitchFamily="34" charset="0"/>
                <a:ea typeface="Noto Sans" pitchFamily="34" charset="-122"/>
                <a:cs typeface="Noto Sans" pitchFamily="34" charset="-120"/>
              </a:rPr>
              <a:t>​</a:t>
            </a:r>
            <a:r>
              <a:rPr lang="vi-VN" sz="1296" b="1" dirty="0">
                <a:solidFill>
                  <a:srgbClr val="2B76FD"/>
                </a:solidFill>
                <a:latin typeface="Noto Sans" pitchFamily="34" charset="0"/>
                <a:ea typeface="Noto Sans" pitchFamily="34" charset="-122"/>
                <a:cs typeface="Noto Sans" pitchFamily="34" charset="-120"/>
              </a:rPr>
              <a:t>Lượng tử hóa đa codebook và phương pháp mở rộng​</a:t>
            </a:r>
            <a:endParaRPr lang="en-US" sz="1440" dirty="0"/>
          </a:p>
        </p:txBody>
      </p:sp>
      <p:sp>
        <p:nvSpPr>
          <p:cNvPr id="16" name="Text 14">
            <a:extLst>
              <a:ext uri="{FF2B5EF4-FFF2-40B4-BE49-F238E27FC236}">
                <a16:creationId xmlns:a16="http://schemas.microsoft.com/office/drawing/2014/main" id="{17E5933F-D98C-FC5A-0D76-213BD9DD2BFC}"/>
              </a:ext>
            </a:extLst>
          </p:cNvPr>
          <p:cNvSpPr/>
          <p:nvPr/>
        </p:nvSpPr>
        <p:spPr>
          <a:xfrm>
            <a:off x="4515159" y="2858615"/>
            <a:ext cx="2124802" cy="967894"/>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vi-VN" sz="1008" dirty="0">
                <a:solidFill>
                  <a:srgbClr val="00070F"/>
                </a:solidFill>
                <a:latin typeface="Noto Sans" pitchFamily="34" charset="0"/>
                <a:ea typeface="Noto Sans" pitchFamily="34" charset="-122"/>
                <a:cs typeface="Noto Sans" pitchFamily="34" charset="-120"/>
              </a:rPr>
              <a:t>MCQ sử dụng nhiều bộ lượng tử hóa; PQ chia vector thành sub-vector; AQ và RQ cải thiện mã hóa bằng các tái tạo cộng dồn và phần dư.​</a:t>
            </a:r>
            <a:endParaRPr lang="en-US" sz="1440" dirty="0"/>
          </a:p>
        </p:txBody>
      </p:sp>
      <p:sp>
        <p:nvSpPr>
          <p:cNvPr id="17" name="Text 15">
            <a:extLst>
              <a:ext uri="{FF2B5EF4-FFF2-40B4-BE49-F238E27FC236}">
                <a16:creationId xmlns:a16="http://schemas.microsoft.com/office/drawing/2014/main" id="{D175AA07-8DAE-6FB5-DE88-FC032DD98F2F}"/>
              </a:ext>
            </a:extLst>
          </p:cNvPr>
          <p:cNvSpPr/>
          <p:nvPr/>
        </p:nvSpPr>
        <p:spPr>
          <a:xfrm>
            <a:off x="6639960" y="2496523"/>
            <a:ext cx="2241485" cy="591187"/>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vi-VN" sz="1296" b="1" dirty="0">
                <a:solidFill>
                  <a:srgbClr val="379EFC"/>
                </a:solidFill>
                <a:latin typeface="Noto Sans" pitchFamily="34" charset="0"/>
                <a:ea typeface="Noto Sans" pitchFamily="34" charset="-122"/>
                <a:cs typeface="Noto Sans" pitchFamily="34" charset="-120"/>
              </a:rPr>
              <a:t>Tối ưu hóa và lựa chọn mã hóa​</a:t>
            </a:r>
            <a:endParaRPr lang="en-US" sz="1440" dirty="0"/>
          </a:p>
        </p:txBody>
      </p:sp>
      <p:sp>
        <p:nvSpPr>
          <p:cNvPr id="18" name="Text 16">
            <a:extLst>
              <a:ext uri="{FF2B5EF4-FFF2-40B4-BE49-F238E27FC236}">
                <a16:creationId xmlns:a16="http://schemas.microsoft.com/office/drawing/2014/main" id="{1B984C5B-072C-40BF-9BF4-65D4FBBB42A5}"/>
              </a:ext>
            </a:extLst>
          </p:cNvPr>
          <p:cNvSpPr/>
          <p:nvPr/>
        </p:nvSpPr>
        <p:spPr>
          <a:xfrm>
            <a:off x="6639960" y="3105106"/>
            <a:ext cx="2241485" cy="967894"/>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vi-VN" sz="1008" dirty="0">
                <a:solidFill>
                  <a:srgbClr val="00070F"/>
                </a:solidFill>
                <a:latin typeface="Noto Sans" pitchFamily="34" charset="0"/>
                <a:ea typeface="Noto Sans" pitchFamily="34" charset="-122"/>
                <a:cs typeface="Noto Sans" pitchFamily="34" charset="-120"/>
              </a:rPr>
              <a:t>LSQ tinh chỉnh qua tối ưu simulated annealing; PRQ kết hợp ưu điểm PQ và AQ; lựa chọn phụ thuộc độ chính xác, tốc độ và bộ nhớ.</a:t>
            </a:r>
            <a:endParaRPr lang="en-US" sz="1440" dirty="0"/>
          </a:p>
        </p:txBody>
      </p:sp>
    </p:spTree>
    <p:extLst>
      <p:ext uri="{BB962C8B-B14F-4D97-AF65-F5344CB8AC3E}">
        <p14:creationId xmlns:p14="http://schemas.microsoft.com/office/powerpoint/2010/main" val="25063424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55CF4FA2-150D-6A70-FE33-C037019EDD0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4FBF58C-4509-BBAA-6830-53C4BC49BC52}"/>
              </a:ext>
            </a:extLst>
          </p:cNvPr>
          <p:cNvSpPr/>
          <p:nvPr/>
        </p:nvSpPr>
        <p:spPr>
          <a:xfrm>
            <a:off x="396558" y="328468"/>
            <a:ext cx="8396337" cy="546881"/>
          </a:xfrm>
          <a:prstGeom prst="rect">
            <a:avLst/>
          </a:prstGeom>
          <a:noFill/>
          <a:ln/>
        </p:spPr>
        <p:txBody>
          <a:bodyPr wrap="square" lIns="95250" tIns="95250" rIns="95250" bIns="95250" rtlCol="0" anchor="t">
            <a:spAutoFit/>
          </a:bodyPr>
          <a:lstStyle/>
          <a:p>
            <a:pPr marL="0" indent="0">
              <a:lnSpc>
                <a:spcPct val="112500"/>
              </a:lnSpc>
              <a:spcBef>
                <a:spcPts val="375"/>
              </a:spcBef>
              <a:buNone/>
            </a:pPr>
            <a:r>
              <a:rPr lang="vi-VN" sz="2160" b="1" dirty="0">
                <a:solidFill>
                  <a:srgbClr val="193AB9"/>
                </a:solidFill>
                <a:latin typeface="Noto Sans" pitchFamily="34" charset="0"/>
                <a:ea typeface="Noto Sans" pitchFamily="34" charset="-122"/>
                <a:cs typeface="Noto Sans" pitchFamily="34" charset="-120"/>
              </a:rPr>
              <a:t>Xử lý</a:t>
            </a:r>
            <a:r>
              <a:rPr lang="en-US" sz="2160" b="1" dirty="0">
                <a:solidFill>
                  <a:srgbClr val="193AB9"/>
                </a:solidFill>
                <a:latin typeface="Noto Sans" pitchFamily="34" charset="0"/>
                <a:ea typeface="Noto Sans" pitchFamily="34" charset="-122"/>
                <a:cs typeface="Noto Sans" pitchFamily="34" charset="-120"/>
              </a:rPr>
              <a:t> </a:t>
            </a:r>
            <a:r>
              <a:rPr lang="vi-VN" sz="2160" b="1" dirty="0">
                <a:solidFill>
                  <a:srgbClr val="193AB9"/>
                </a:solidFill>
                <a:latin typeface="Noto Sans" pitchFamily="34" charset="0"/>
                <a:ea typeface="Noto Sans" pitchFamily="34" charset="-122"/>
                <a:cs typeface="Noto Sans" pitchFamily="34" charset="-120"/>
              </a:rPr>
              <a:t>trước</a:t>
            </a:r>
            <a:r>
              <a:rPr lang="en-US" sz="2160" b="1" dirty="0">
                <a:solidFill>
                  <a:srgbClr val="193AB9"/>
                </a:solidFill>
                <a:latin typeface="Noto Sans" pitchFamily="34" charset="0"/>
                <a:ea typeface="Noto Sans" pitchFamily="34" charset="-122"/>
                <a:cs typeface="Noto Sans" pitchFamily="34" charset="-120"/>
              </a:rPr>
              <a:t> </a:t>
            </a:r>
            <a:r>
              <a:rPr lang="vi-VN" sz="2160" b="1" dirty="0">
                <a:solidFill>
                  <a:srgbClr val="193AB9"/>
                </a:solidFill>
                <a:latin typeface="Noto Sans" pitchFamily="34" charset="0"/>
                <a:ea typeface="Noto Sans" pitchFamily="34" charset="-122"/>
                <a:cs typeface="Noto Sans" pitchFamily="34" charset="-120"/>
              </a:rPr>
              <a:t>Vector​</a:t>
            </a:r>
            <a:endParaRPr lang="en-US" sz="1440" dirty="0"/>
          </a:p>
        </p:txBody>
      </p:sp>
      <p:sp>
        <p:nvSpPr>
          <p:cNvPr id="3" name="Shape 1">
            <a:extLst>
              <a:ext uri="{FF2B5EF4-FFF2-40B4-BE49-F238E27FC236}">
                <a16:creationId xmlns:a16="http://schemas.microsoft.com/office/drawing/2014/main" id="{07AF3E4F-2016-8EA7-4818-8B6BD40D083A}"/>
              </a:ext>
            </a:extLst>
          </p:cNvPr>
          <p:cNvSpPr/>
          <p:nvPr/>
        </p:nvSpPr>
        <p:spPr>
          <a:xfrm>
            <a:off x="6639960" y="1921681"/>
            <a:ext cx="2241485" cy="593993"/>
          </a:xfrm>
          <a:custGeom>
            <a:avLst/>
            <a:gdLst/>
            <a:ahLst/>
            <a:cxnLst/>
            <a:rect l="l" t="t" r="r" b="b"/>
            <a:pathLst>
              <a:path w="2241485" h="593993">
                <a:moveTo>
                  <a:pt x="0" y="0"/>
                </a:moveTo>
                <a:moveTo>
                  <a:pt x="0" y="0"/>
                </a:moveTo>
                <a:lnTo>
                  <a:pt x="2241485" y="0"/>
                </a:lnTo>
                <a:lnTo>
                  <a:pt x="2241485" y="593993"/>
                </a:lnTo>
                <a:lnTo>
                  <a:pt x="0" y="593993"/>
                </a:lnTo>
                <a:close/>
              </a:path>
            </a:pathLst>
          </a:custGeom>
          <a:solidFill>
            <a:srgbClr val="379EFC"/>
          </a:solidFill>
          <a:ln/>
        </p:spPr>
        <p:txBody>
          <a:bodyPr/>
          <a:lstStyle/>
          <a:p>
            <a:endParaRPr lang="en-US"/>
          </a:p>
        </p:txBody>
      </p:sp>
      <p:sp>
        <p:nvSpPr>
          <p:cNvPr id="4" name="Shape 2">
            <a:extLst>
              <a:ext uri="{FF2B5EF4-FFF2-40B4-BE49-F238E27FC236}">
                <a16:creationId xmlns:a16="http://schemas.microsoft.com/office/drawing/2014/main" id="{965C6799-9F1F-7513-4B17-B2788C70C59E}"/>
              </a:ext>
            </a:extLst>
          </p:cNvPr>
          <p:cNvSpPr/>
          <p:nvPr/>
        </p:nvSpPr>
        <p:spPr>
          <a:xfrm>
            <a:off x="4515159" y="1624684"/>
            <a:ext cx="2241485" cy="593993"/>
          </a:xfrm>
          <a:custGeom>
            <a:avLst/>
            <a:gdLst/>
            <a:ahLst/>
            <a:cxnLst/>
            <a:rect l="l" t="t" r="r" b="b"/>
            <a:pathLst>
              <a:path w="2241485" h="593993">
                <a:moveTo>
                  <a:pt x="0" y="0"/>
                </a:moveTo>
                <a:moveTo>
                  <a:pt x="0" y="0"/>
                </a:moveTo>
                <a:lnTo>
                  <a:pt x="2241485" y="0"/>
                </a:lnTo>
                <a:lnTo>
                  <a:pt x="2241485" y="593993"/>
                </a:lnTo>
                <a:lnTo>
                  <a:pt x="0" y="593993"/>
                </a:lnTo>
                <a:close/>
              </a:path>
            </a:pathLst>
          </a:custGeom>
          <a:solidFill>
            <a:srgbClr val="2B76FD"/>
          </a:solidFill>
          <a:ln/>
        </p:spPr>
        <p:txBody>
          <a:bodyPr/>
          <a:lstStyle/>
          <a:p>
            <a:endParaRPr lang="en-US"/>
          </a:p>
        </p:txBody>
      </p:sp>
      <p:sp>
        <p:nvSpPr>
          <p:cNvPr id="5" name="Shape 3">
            <a:extLst>
              <a:ext uri="{FF2B5EF4-FFF2-40B4-BE49-F238E27FC236}">
                <a16:creationId xmlns:a16="http://schemas.microsoft.com/office/drawing/2014/main" id="{57971D55-9711-45F2-5C5C-B6D1A2B4C66D}"/>
              </a:ext>
            </a:extLst>
          </p:cNvPr>
          <p:cNvSpPr/>
          <p:nvPr/>
        </p:nvSpPr>
        <p:spPr>
          <a:xfrm>
            <a:off x="2390357" y="1327687"/>
            <a:ext cx="2241485" cy="593993"/>
          </a:xfrm>
          <a:custGeom>
            <a:avLst/>
            <a:gdLst/>
            <a:ahLst/>
            <a:cxnLst/>
            <a:rect l="l" t="t" r="r" b="b"/>
            <a:pathLst>
              <a:path w="2241485" h="593993">
                <a:moveTo>
                  <a:pt x="0" y="0"/>
                </a:moveTo>
                <a:moveTo>
                  <a:pt x="0" y="0"/>
                </a:moveTo>
                <a:lnTo>
                  <a:pt x="2241485" y="0"/>
                </a:lnTo>
                <a:lnTo>
                  <a:pt x="2241485" y="593993"/>
                </a:lnTo>
                <a:lnTo>
                  <a:pt x="0" y="593993"/>
                </a:lnTo>
                <a:close/>
              </a:path>
            </a:pathLst>
          </a:custGeom>
          <a:solidFill>
            <a:srgbClr val="379EFC"/>
          </a:solidFill>
          <a:ln/>
        </p:spPr>
        <p:txBody>
          <a:bodyPr/>
          <a:lstStyle/>
          <a:p>
            <a:endParaRPr lang="en-US"/>
          </a:p>
        </p:txBody>
      </p:sp>
      <p:sp>
        <p:nvSpPr>
          <p:cNvPr id="6" name="Shape 4">
            <a:extLst>
              <a:ext uri="{FF2B5EF4-FFF2-40B4-BE49-F238E27FC236}">
                <a16:creationId xmlns:a16="http://schemas.microsoft.com/office/drawing/2014/main" id="{69ACC7C2-34C8-1537-96E5-D7044C78689A}"/>
              </a:ext>
            </a:extLst>
          </p:cNvPr>
          <p:cNvSpPr/>
          <p:nvPr/>
        </p:nvSpPr>
        <p:spPr>
          <a:xfrm>
            <a:off x="262555" y="1097720"/>
            <a:ext cx="2241485" cy="593993"/>
          </a:xfrm>
          <a:custGeom>
            <a:avLst/>
            <a:gdLst/>
            <a:ahLst/>
            <a:cxnLst/>
            <a:rect l="l" t="t" r="r" b="b"/>
            <a:pathLst>
              <a:path w="2241485" h="593993">
                <a:moveTo>
                  <a:pt x="0" y="0"/>
                </a:moveTo>
                <a:moveTo>
                  <a:pt x="0" y="0"/>
                </a:moveTo>
                <a:lnTo>
                  <a:pt x="2241485" y="0"/>
                </a:lnTo>
                <a:lnTo>
                  <a:pt x="2241485" y="593993"/>
                </a:lnTo>
                <a:lnTo>
                  <a:pt x="0" y="593993"/>
                </a:lnTo>
                <a:close/>
              </a:path>
            </a:pathLst>
          </a:custGeom>
          <a:solidFill>
            <a:srgbClr val="2B76FD"/>
          </a:solidFill>
          <a:ln/>
        </p:spPr>
        <p:txBody>
          <a:bodyPr/>
          <a:lstStyle/>
          <a:p>
            <a:endParaRPr lang="en-US"/>
          </a:p>
        </p:txBody>
      </p:sp>
      <p:sp>
        <p:nvSpPr>
          <p:cNvPr id="7" name="Text 5">
            <a:extLst>
              <a:ext uri="{FF2B5EF4-FFF2-40B4-BE49-F238E27FC236}">
                <a16:creationId xmlns:a16="http://schemas.microsoft.com/office/drawing/2014/main" id="{6629B211-2572-5AF9-85DA-819AE0B6D434}"/>
              </a:ext>
            </a:extLst>
          </p:cNvPr>
          <p:cNvSpPr/>
          <p:nvPr/>
        </p:nvSpPr>
        <p:spPr>
          <a:xfrm>
            <a:off x="262555" y="1097720"/>
            <a:ext cx="851764" cy="566928"/>
          </a:xfrm>
          <a:prstGeom prst="rect">
            <a:avLst/>
          </a:prstGeom>
          <a:noFill/>
          <a:ln/>
        </p:spPr>
        <p:txBody>
          <a:bodyPr wrap="square" lIns="95250" tIns="95250" rIns="95250" bIns="95250" rtlCol="0" anchor="t">
            <a:spAutoFit/>
          </a:bodyPr>
          <a:lstStyle/>
          <a:p>
            <a:pPr marL="0" indent="0" algn="ctr">
              <a:lnSpc>
                <a:spcPct val="112500"/>
              </a:lnSpc>
              <a:spcBef>
                <a:spcPts val="375"/>
              </a:spcBef>
              <a:buNone/>
            </a:pPr>
            <a:r>
              <a:rPr lang="en-US" sz="2016" b="1" dirty="0">
                <a:solidFill>
                  <a:srgbClr val="FFFFFF"/>
                </a:solidFill>
                <a:latin typeface="Noto Sans" pitchFamily="34" charset="0"/>
                <a:ea typeface="Noto Sans" pitchFamily="34" charset="-122"/>
                <a:cs typeface="Noto Sans" pitchFamily="34" charset="-120"/>
              </a:rPr>
              <a:t>01</a:t>
            </a:r>
            <a:endParaRPr lang="en-US" sz="1440" dirty="0"/>
          </a:p>
        </p:txBody>
      </p:sp>
      <p:sp>
        <p:nvSpPr>
          <p:cNvPr id="8" name="Text 6">
            <a:extLst>
              <a:ext uri="{FF2B5EF4-FFF2-40B4-BE49-F238E27FC236}">
                <a16:creationId xmlns:a16="http://schemas.microsoft.com/office/drawing/2014/main" id="{C4DD0CC4-4FE1-4673-02AA-8DF3F0498E3C}"/>
              </a:ext>
            </a:extLst>
          </p:cNvPr>
          <p:cNvSpPr/>
          <p:nvPr/>
        </p:nvSpPr>
        <p:spPr>
          <a:xfrm>
            <a:off x="2507040" y="1327992"/>
            <a:ext cx="851764" cy="566928"/>
          </a:xfrm>
          <a:prstGeom prst="rect">
            <a:avLst/>
          </a:prstGeom>
          <a:noFill/>
          <a:ln/>
        </p:spPr>
        <p:txBody>
          <a:bodyPr wrap="square" lIns="95250" tIns="95250" rIns="95250" bIns="95250" rtlCol="0" anchor="t">
            <a:spAutoFit/>
          </a:bodyPr>
          <a:lstStyle/>
          <a:p>
            <a:pPr marL="0" indent="0" algn="ctr">
              <a:lnSpc>
                <a:spcPct val="112500"/>
              </a:lnSpc>
              <a:spcBef>
                <a:spcPts val="375"/>
              </a:spcBef>
              <a:buNone/>
            </a:pPr>
            <a:r>
              <a:rPr lang="en-US" sz="2016" b="1" dirty="0">
                <a:solidFill>
                  <a:srgbClr val="FFFFFF"/>
                </a:solidFill>
                <a:latin typeface="Noto Sans" pitchFamily="34" charset="0"/>
                <a:ea typeface="Noto Sans" pitchFamily="34" charset="-122"/>
                <a:cs typeface="Noto Sans" pitchFamily="34" charset="-120"/>
              </a:rPr>
              <a:t>02</a:t>
            </a:r>
            <a:endParaRPr lang="en-US" sz="1440" dirty="0"/>
          </a:p>
        </p:txBody>
      </p:sp>
      <p:sp>
        <p:nvSpPr>
          <p:cNvPr id="9" name="Text 7">
            <a:extLst>
              <a:ext uri="{FF2B5EF4-FFF2-40B4-BE49-F238E27FC236}">
                <a16:creationId xmlns:a16="http://schemas.microsoft.com/office/drawing/2014/main" id="{98320463-6A9E-BD07-A494-2B78026A74F5}"/>
              </a:ext>
            </a:extLst>
          </p:cNvPr>
          <p:cNvSpPr/>
          <p:nvPr/>
        </p:nvSpPr>
        <p:spPr>
          <a:xfrm>
            <a:off x="4631841" y="1624836"/>
            <a:ext cx="851764" cy="566928"/>
          </a:xfrm>
          <a:prstGeom prst="rect">
            <a:avLst/>
          </a:prstGeom>
          <a:noFill/>
          <a:ln/>
        </p:spPr>
        <p:txBody>
          <a:bodyPr wrap="square" lIns="95250" tIns="95250" rIns="95250" bIns="95250" rtlCol="0" anchor="t">
            <a:spAutoFit/>
          </a:bodyPr>
          <a:lstStyle/>
          <a:p>
            <a:pPr marL="0" indent="0" algn="ctr">
              <a:lnSpc>
                <a:spcPct val="112500"/>
              </a:lnSpc>
              <a:spcBef>
                <a:spcPts val="375"/>
              </a:spcBef>
              <a:buNone/>
            </a:pPr>
            <a:r>
              <a:rPr lang="en-US" sz="2016" b="1" dirty="0">
                <a:solidFill>
                  <a:srgbClr val="FFFFFF"/>
                </a:solidFill>
                <a:latin typeface="Noto Sans" pitchFamily="34" charset="0"/>
                <a:ea typeface="Noto Sans" pitchFamily="34" charset="-122"/>
                <a:cs typeface="Noto Sans" pitchFamily="34" charset="-120"/>
              </a:rPr>
              <a:t>03</a:t>
            </a:r>
            <a:endParaRPr lang="en-US" sz="1440" dirty="0"/>
          </a:p>
        </p:txBody>
      </p:sp>
      <p:sp>
        <p:nvSpPr>
          <p:cNvPr id="10" name="Text 8">
            <a:extLst>
              <a:ext uri="{FF2B5EF4-FFF2-40B4-BE49-F238E27FC236}">
                <a16:creationId xmlns:a16="http://schemas.microsoft.com/office/drawing/2014/main" id="{21EF179D-0BCC-82BF-DE07-4795FFB0505D}"/>
              </a:ext>
            </a:extLst>
          </p:cNvPr>
          <p:cNvSpPr/>
          <p:nvPr/>
        </p:nvSpPr>
        <p:spPr>
          <a:xfrm>
            <a:off x="6756643" y="1921681"/>
            <a:ext cx="851764" cy="566928"/>
          </a:xfrm>
          <a:prstGeom prst="rect">
            <a:avLst/>
          </a:prstGeom>
          <a:noFill/>
          <a:ln/>
        </p:spPr>
        <p:txBody>
          <a:bodyPr wrap="square" lIns="95250" tIns="95250" rIns="95250" bIns="95250" rtlCol="0" anchor="t">
            <a:spAutoFit/>
          </a:bodyPr>
          <a:lstStyle/>
          <a:p>
            <a:pPr marL="0" indent="0" algn="ctr">
              <a:lnSpc>
                <a:spcPct val="112500"/>
              </a:lnSpc>
              <a:spcBef>
                <a:spcPts val="375"/>
              </a:spcBef>
              <a:buNone/>
            </a:pPr>
            <a:r>
              <a:rPr lang="en-US" sz="2016" b="1" dirty="0">
                <a:solidFill>
                  <a:srgbClr val="FFFFFF"/>
                </a:solidFill>
                <a:latin typeface="Noto Sans" pitchFamily="34" charset="0"/>
                <a:ea typeface="Noto Sans" pitchFamily="34" charset="-122"/>
                <a:cs typeface="Noto Sans" pitchFamily="34" charset="-120"/>
              </a:rPr>
              <a:t>04</a:t>
            </a:r>
            <a:endParaRPr lang="en-US" sz="1440" dirty="0"/>
          </a:p>
        </p:txBody>
      </p:sp>
      <p:sp>
        <p:nvSpPr>
          <p:cNvPr id="11" name="Text 9">
            <a:extLst>
              <a:ext uri="{FF2B5EF4-FFF2-40B4-BE49-F238E27FC236}">
                <a16:creationId xmlns:a16="http://schemas.microsoft.com/office/drawing/2014/main" id="{45986BE4-ED53-7FCA-BD96-0849289D45CE}"/>
              </a:ext>
            </a:extLst>
          </p:cNvPr>
          <p:cNvSpPr/>
          <p:nvPr/>
        </p:nvSpPr>
        <p:spPr>
          <a:xfrm>
            <a:off x="262555" y="1682138"/>
            <a:ext cx="2127802" cy="591187"/>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vi-VN" sz="1296" b="1" dirty="0">
                <a:solidFill>
                  <a:srgbClr val="2B76FD"/>
                </a:solidFill>
                <a:latin typeface="Noto Sans" pitchFamily="34" charset="0"/>
                <a:ea typeface="Noto Sans" pitchFamily="34" charset="-122"/>
                <a:cs typeface="Noto Sans" pitchFamily="34" charset="-120"/>
              </a:rPr>
              <a:t>Random Rotation Matrix​</a:t>
            </a:r>
            <a:endParaRPr lang="en-US" sz="1440" dirty="0"/>
          </a:p>
        </p:txBody>
      </p:sp>
      <p:sp>
        <p:nvSpPr>
          <p:cNvPr id="12" name="Text 10">
            <a:extLst>
              <a:ext uri="{FF2B5EF4-FFF2-40B4-BE49-F238E27FC236}">
                <a16:creationId xmlns:a16="http://schemas.microsoft.com/office/drawing/2014/main" id="{90694CD4-34AF-C273-987C-4B25A25D72DE}"/>
              </a:ext>
            </a:extLst>
          </p:cNvPr>
          <p:cNvSpPr/>
          <p:nvPr/>
        </p:nvSpPr>
        <p:spPr>
          <a:xfrm>
            <a:off x="262555" y="2282685"/>
            <a:ext cx="2079924" cy="812787"/>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vi-VN" sz="1008" dirty="0">
                <a:solidFill>
                  <a:srgbClr val="00070F"/>
                </a:solidFill>
                <a:latin typeface="Noto Sans" pitchFamily="34" charset="0"/>
                <a:ea typeface="Noto Sans" pitchFamily="34" charset="-122"/>
                <a:cs typeface="Noto Sans" pitchFamily="34" charset="-120"/>
              </a:rPr>
              <a:t>Phép quay ngẫu nhiên phân tán phương sai đều, giúp dữ liệu trở nên đồng đều hơn trước khi lượng tử hóa.​</a:t>
            </a:r>
            <a:endParaRPr lang="en-US" sz="1440" dirty="0"/>
          </a:p>
        </p:txBody>
      </p:sp>
      <p:sp>
        <p:nvSpPr>
          <p:cNvPr id="13" name="Text 11">
            <a:extLst>
              <a:ext uri="{FF2B5EF4-FFF2-40B4-BE49-F238E27FC236}">
                <a16:creationId xmlns:a16="http://schemas.microsoft.com/office/drawing/2014/main" id="{050D842A-FB4F-FDBD-2C5F-4C8AF7D9BA9D}"/>
              </a:ext>
            </a:extLst>
          </p:cNvPr>
          <p:cNvSpPr/>
          <p:nvPr/>
        </p:nvSpPr>
        <p:spPr>
          <a:xfrm>
            <a:off x="2390357" y="1912105"/>
            <a:ext cx="2124802" cy="591187"/>
          </a:xfrm>
          <a:prstGeom prst="rect">
            <a:avLst/>
          </a:prstGeom>
          <a:noFill/>
          <a:ln/>
        </p:spPr>
        <p:txBody>
          <a:bodyPr wrap="square" lIns="95250" tIns="95250" rIns="95250" bIns="95250" rtlCol="0" anchor="t">
            <a:spAutoFit/>
          </a:bodyPr>
          <a:lstStyle/>
          <a:p>
            <a:pPr marL="0" indent="0">
              <a:lnSpc>
                <a:spcPct val="100000"/>
              </a:lnSpc>
              <a:buNone/>
            </a:pPr>
            <a:r>
              <a:rPr lang="en-US" sz="1296" b="1" dirty="0" err="1">
                <a:solidFill>
                  <a:srgbClr val="379EFC"/>
                </a:solidFill>
                <a:latin typeface="Noto Sans" pitchFamily="34" charset="0"/>
                <a:ea typeface="Noto Sans" pitchFamily="34" charset="-122"/>
                <a:cs typeface="Noto Sans" pitchFamily="34" charset="-120"/>
              </a:rPr>
              <a:t>Phân</a:t>
            </a:r>
            <a:r>
              <a:rPr lang="en-US" sz="1296" b="1" dirty="0">
                <a:solidFill>
                  <a:srgbClr val="379EFC"/>
                </a:solidFill>
                <a:latin typeface="Noto Sans" pitchFamily="34" charset="0"/>
                <a:ea typeface="Noto Sans" pitchFamily="34" charset="-122"/>
                <a:cs typeface="Noto Sans" pitchFamily="34" charset="-120"/>
              </a:rPr>
              <a:t> </a:t>
            </a:r>
            <a:r>
              <a:rPr lang="en-US" sz="1296" b="1" dirty="0" err="1">
                <a:solidFill>
                  <a:srgbClr val="379EFC"/>
                </a:solidFill>
                <a:latin typeface="Noto Sans" pitchFamily="34" charset="0"/>
                <a:ea typeface="Noto Sans" pitchFamily="34" charset="-122"/>
                <a:cs typeface="Noto Sans" pitchFamily="34" charset="-120"/>
              </a:rPr>
              <a:t>tích</a:t>
            </a:r>
            <a:r>
              <a:rPr lang="en-US" sz="1296" b="1" dirty="0">
                <a:solidFill>
                  <a:srgbClr val="379EFC"/>
                </a:solidFill>
                <a:latin typeface="Noto Sans" pitchFamily="34" charset="0"/>
                <a:ea typeface="Noto Sans" pitchFamily="34" charset="-122"/>
                <a:cs typeface="Noto Sans" pitchFamily="34" charset="-120"/>
              </a:rPr>
              <a:t> </a:t>
            </a:r>
            <a:r>
              <a:rPr lang="en-US" sz="1296" b="1" dirty="0" err="1">
                <a:solidFill>
                  <a:srgbClr val="379EFC"/>
                </a:solidFill>
                <a:latin typeface="Noto Sans" pitchFamily="34" charset="0"/>
                <a:ea typeface="Noto Sans" pitchFamily="34" charset="-122"/>
                <a:cs typeface="Noto Sans" pitchFamily="34" charset="-120"/>
              </a:rPr>
              <a:t>thành</a:t>
            </a:r>
            <a:r>
              <a:rPr lang="en-US" sz="1296" b="1" dirty="0">
                <a:solidFill>
                  <a:srgbClr val="379EFC"/>
                </a:solidFill>
                <a:latin typeface="Noto Sans" pitchFamily="34" charset="0"/>
                <a:ea typeface="Noto Sans" pitchFamily="34" charset="-122"/>
                <a:cs typeface="Noto Sans" pitchFamily="34" charset="-120"/>
              </a:rPr>
              <a:t> </a:t>
            </a:r>
            <a:r>
              <a:rPr lang="en-US" sz="1296" b="1" dirty="0" err="1">
                <a:solidFill>
                  <a:srgbClr val="379EFC"/>
                </a:solidFill>
                <a:latin typeface="Noto Sans" pitchFamily="34" charset="0"/>
                <a:ea typeface="Noto Sans" pitchFamily="34" charset="-122"/>
                <a:cs typeface="Noto Sans" pitchFamily="34" charset="-120"/>
              </a:rPr>
              <a:t>phần</a:t>
            </a:r>
            <a:r>
              <a:rPr lang="en-US" sz="1296" b="1" dirty="0">
                <a:solidFill>
                  <a:srgbClr val="379EFC"/>
                </a:solidFill>
                <a:latin typeface="Noto Sans" pitchFamily="34" charset="0"/>
                <a:ea typeface="Noto Sans" pitchFamily="34" charset="-122"/>
                <a:cs typeface="Noto Sans" pitchFamily="34" charset="-120"/>
              </a:rPr>
              <a:t> </a:t>
            </a:r>
            <a:r>
              <a:rPr lang="en-US" sz="1296" b="1" dirty="0" err="1">
                <a:solidFill>
                  <a:srgbClr val="379EFC"/>
                </a:solidFill>
                <a:latin typeface="Noto Sans" pitchFamily="34" charset="0"/>
                <a:ea typeface="Noto Sans" pitchFamily="34" charset="-122"/>
                <a:cs typeface="Noto Sans" pitchFamily="34" charset="-120"/>
              </a:rPr>
              <a:t>chính</a:t>
            </a:r>
            <a:r>
              <a:rPr lang="en-US" sz="1296" b="1" dirty="0">
                <a:solidFill>
                  <a:srgbClr val="379EFC"/>
                </a:solidFill>
                <a:latin typeface="Noto Sans" pitchFamily="34" charset="0"/>
                <a:ea typeface="Noto Sans" pitchFamily="34" charset="-122"/>
                <a:cs typeface="Noto Sans" pitchFamily="34" charset="-120"/>
              </a:rPr>
              <a:t> (PCA)​</a:t>
            </a:r>
            <a:endParaRPr lang="en-US" sz="1440" dirty="0"/>
          </a:p>
        </p:txBody>
      </p:sp>
      <p:sp>
        <p:nvSpPr>
          <p:cNvPr id="14" name="Text 12">
            <a:extLst>
              <a:ext uri="{FF2B5EF4-FFF2-40B4-BE49-F238E27FC236}">
                <a16:creationId xmlns:a16="http://schemas.microsoft.com/office/drawing/2014/main" id="{5DE151CA-0410-B98E-F08D-5CCD0F8585C3}"/>
              </a:ext>
            </a:extLst>
          </p:cNvPr>
          <p:cNvSpPr/>
          <p:nvPr/>
        </p:nvSpPr>
        <p:spPr>
          <a:xfrm>
            <a:off x="2390757" y="2512384"/>
            <a:ext cx="2124402" cy="657681"/>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vi-VN" sz="1008" dirty="0">
                <a:solidFill>
                  <a:srgbClr val="00070F"/>
                </a:solidFill>
                <a:latin typeface="Noto Sans" pitchFamily="34" charset="0"/>
                <a:ea typeface="Noto Sans" pitchFamily="34" charset="-122"/>
                <a:cs typeface="Noto Sans" pitchFamily="34" charset="-120"/>
              </a:rPr>
              <a:t>PCA giảm chiều dữ liệu từ d xuống d', bảo toàn phương sai và loại bỏ nhiễu hiệu quả.​</a:t>
            </a:r>
            <a:endParaRPr lang="en-US" sz="1440" dirty="0"/>
          </a:p>
        </p:txBody>
      </p:sp>
      <p:sp>
        <p:nvSpPr>
          <p:cNvPr id="15" name="Text 13">
            <a:extLst>
              <a:ext uri="{FF2B5EF4-FFF2-40B4-BE49-F238E27FC236}">
                <a16:creationId xmlns:a16="http://schemas.microsoft.com/office/drawing/2014/main" id="{4849E7C4-3D6A-44A0-5C7E-411FE7868D19}"/>
              </a:ext>
            </a:extLst>
          </p:cNvPr>
          <p:cNvSpPr/>
          <p:nvPr/>
        </p:nvSpPr>
        <p:spPr>
          <a:xfrm>
            <a:off x="4515159" y="2189501"/>
            <a:ext cx="2124802" cy="591187"/>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vi-VN" sz="1296" b="1" dirty="0">
                <a:solidFill>
                  <a:srgbClr val="2B76FD"/>
                </a:solidFill>
                <a:latin typeface="Noto Sans" pitchFamily="34" charset="0"/>
                <a:ea typeface="Noto Sans" pitchFamily="34" charset="-122"/>
                <a:cs typeface="Noto Sans" pitchFamily="34" charset="-120"/>
              </a:rPr>
              <a:t>Lượng tử hóa sản phẩm tối ưu (OPQ)​</a:t>
            </a:r>
            <a:endParaRPr lang="en-US" sz="1440" dirty="0"/>
          </a:p>
        </p:txBody>
      </p:sp>
      <p:sp>
        <p:nvSpPr>
          <p:cNvPr id="16" name="Text 14">
            <a:extLst>
              <a:ext uri="{FF2B5EF4-FFF2-40B4-BE49-F238E27FC236}">
                <a16:creationId xmlns:a16="http://schemas.microsoft.com/office/drawing/2014/main" id="{09AF7D18-F8BC-1A7B-B6DD-1EEE1ED828B0}"/>
              </a:ext>
            </a:extLst>
          </p:cNvPr>
          <p:cNvSpPr/>
          <p:nvPr/>
        </p:nvSpPr>
        <p:spPr>
          <a:xfrm>
            <a:off x="4515159" y="2858615"/>
            <a:ext cx="2124802" cy="812787"/>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vi-VN" sz="1008" dirty="0">
                <a:solidFill>
                  <a:srgbClr val="00070F"/>
                </a:solidFill>
                <a:latin typeface="Noto Sans" pitchFamily="34" charset="0"/>
                <a:ea typeface="Noto Sans" pitchFamily="34" charset="-122"/>
                <a:cs typeface="Noto Sans" pitchFamily="34" charset="-120"/>
              </a:rPr>
              <a:t>OPQ dùng phép quay để giảm tương quan giữa các sub-vector, cải thiện hiệu suất của PQ.​</a:t>
            </a:r>
            <a:endParaRPr lang="en-US" sz="1440" dirty="0"/>
          </a:p>
        </p:txBody>
      </p:sp>
      <p:sp>
        <p:nvSpPr>
          <p:cNvPr id="17" name="Text 15">
            <a:extLst>
              <a:ext uri="{FF2B5EF4-FFF2-40B4-BE49-F238E27FC236}">
                <a16:creationId xmlns:a16="http://schemas.microsoft.com/office/drawing/2014/main" id="{EEF0AA7D-A03C-21D4-AB8C-DBDB9DD1F814}"/>
              </a:ext>
            </a:extLst>
          </p:cNvPr>
          <p:cNvSpPr/>
          <p:nvPr/>
        </p:nvSpPr>
        <p:spPr>
          <a:xfrm>
            <a:off x="6639960" y="2496523"/>
            <a:ext cx="2241485" cy="391774"/>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vi-VN" sz="1296" b="1" dirty="0">
                <a:solidFill>
                  <a:srgbClr val="379EFC"/>
                </a:solidFill>
                <a:latin typeface="Noto Sans" pitchFamily="34" charset="0"/>
                <a:ea typeface="Noto Sans" pitchFamily="34" charset="-122"/>
                <a:cs typeface="Noto Sans" pitchFamily="34" charset="-120"/>
              </a:rPr>
              <a:t>Lượng tử hóa lặp (ITQ)​</a:t>
            </a:r>
            <a:endParaRPr lang="en-US" sz="1440" dirty="0"/>
          </a:p>
        </p:txBody>
      </p:sp>
      <p:sp>
        <p:nvSpPr>
          <p:cNvPr id="18" name="Text 16">
            <a:extLst>
              <a:ext uri="{FF2B5EF4-FFF2-40B4-BE49-F238E27FC236}">
                <a16:creationId xmlns:a16="http://schemas.microsoft.com/office/drawing/2014/main" id="{8494F92A-BF7A-D693-444E-449C01CBFA5E}"/>
              </a:ext>
            </a:extLst>
          </p:cNvPr>
          <p:cNvSpPr/>
          <p:nvPr/>
        </p:nvSpPr>
        <p:spPr>
          <a:xfrm>
            <a:off x="6639960" y="3105106"/>
            <a:ext cx="2241485" cy="812787"/>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vi-VN" sz="1008" dirty="0">
                <a:solidFill>
                  <a:srgbClr val="00070F"/>
                </a:solidFill>
                <a:latin typeface="Noto Sans" pitchFamily="34" charset="0"/>
                <a:ea typeface="Noto Sans" pitchFamily="34" charset="-122"/>
                <a:cs typeface="Noto Sans" pitchFamily="34" charset="-120"/>
              </a:rPr>
              <a:t>ITQ quay không gian trước khi nhị phân hóa để tối ưu hóa khoảng cách Hamming giữa mã nhị phân.​</a:t>
            </a:r>
            <a:endParaRPr lang="en-US" sz="1440" dirty="0"/>
          </a:p>
        </p:txBody>
      </p:sp>
    </p:spTree>
    <p:extLst>
      <p:ext uri="{BB962C8B-B14F-4D97-AF65-F5344CB8AC3E}">
        <p14:creationId xmlns:p14="http://schemas.microsoft.com/office/powerpoint/2010/main" val="19778909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51641060-9248-F6F0-99EB-019DC6781BC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1A7B297-7C0F-DF08-9A93-DAF305FBCCB1}"/>
              </a:ext>
            </a:extLst>
          </p:cNvPr>
          <p:cNvSpPr/>
          <p:nvPr/>
        </p:nvSpPr>
        <p:spPr>
          <a:xfrm>
            <a:off x="396558" y="328468"/>
            <a:ext cx="8396337" cy="546881"/>
          </a:xfrm>
          <a:prstGeom prst="rect">
            <a:avLst/>
          </a:prstGeom>
          <a:noFill/>
          <a:ln/>
        </p:spPr>
        <p:txBody>
          <a:bodyPr wrap="square" lIns="95250" tIns="95250" rIns="95250" bIns="95250" rtlCol="0" anchor="t">
            <a:spAutoFit/>
          </a:bodyPr>
          <a:lstStyle/>
          <a:p>
            <a:pPr marL="0" indent="0">
              <a:lnSpc>
                <a:spcPct val="112500"/>
              </a:lnSpc>
              <a:spcBef>
                <a:spcPts val="375"/>
              </a:spcBef>
              <a:buNone/>
            </a:pPr>
            <a:r>
              <a:rPr lang="vi-VN" sz="2160" b="1" dirty="0">
                <a:solidFill>
                  <a:srgbClr val="193AB9"/>
                </a:solidFill>
                <a:latin typeface="Noto Sans" pitchFamily="34" charset="0"/>
                <a:ea typeface="Noto Sans" pitchFamily="34" charset="-122"/>
                <a:cs typeface="Noto Sans" pitchFamily="34" charset="-120"/>
              </a:rPr>
              <a:t>Tìm kiếm</a:t>
            </a:r>
            <a:r>
              <a:rPr lang="en-US" sz="2160" b="1" dirty="0">
                <a:solidFill>
                  <a:srgbClr val="193AB9"/>
                </a:solidFill>
                <a:latin typeface="Noto Sans" pitchFamily="34" charset="0"/>
                <a:ea typeface="Noto Sans" pitchFamily="34" charset="-122"/>
                <a:cs typeface="Noto Sans" pitchFamily="34" charset="-120"/>
              </a:rPr>
              <a:t> </a:t>
            </a:r>
            <a:r>
              <a:rPr lang="vi-VN" sz="2160" b="1" dirty="0">
                <a:solidFill>
                  <a:srgbClr val="193AB9"/>
                </a:solidFill>
                <a:latin typeface="Noto Sans" pitchFamily="34" charset="0"/>
                <a:ea typeface="Noto Sans" pitchFamily="34" charset="-122"/>
                <a:cs typeface="Noto Sans" pitchFamily="34" charset="-120"/>
              </a:rPr>
              <a:t>trong</a:t>
            </a:r>
            <a:r>
              <a:rPr lang="en-US" sz="2160" b="1" dirty="0">
                <a:solidFill>
                  <a:srgbClr val="193AB9"/>
                </a:solidFill>
                <a:latin typeface="Noto Sans" pitchFamily="34" charset="0"/>
                <a:ea typeface="Noto Sans" pitchFamily="34" charset="-122"/>
                <a:cs typeface="Noto Sans" pitchFamily="34" charset="-120"/>
              </a:rPr>
              <a:t> </a:t>
            </a:r>
            <a:r>
              <a:rPr lang="vi-VN" sz="2160" b="1" dirty="0">
                <a:solidFill>
                  <a:srgbClr val="193AB9"/>
                </a:solidFill>
                <a:latin typeface="Noto Sans" pitchFamily="34" charset="0"/>
                <a:ea typeface="Noto Sans" pitchFamily="34" charset="-122"/>
                <a:cs typeface="Noto Sans" pitchFamily="34" charset="-120"/>
              </a:rPr>
              <a:t>Miền nén​</a:t>
            </a:r>
            <a:endParaRPr lang="en-US" sz="1440" dirty="0"/>
          </a:p>
        </p:txBody>
      </p:sp>
      <p:sp>
        <p:nvSpPr>
          <p:cNvPr id="3" name="Shape 1">
            <a:extLst>
              <a:ext uri="{FF2B5EF4-FFF2-40B4-BE49-F238E27FC236}">
                <a16:creationId xmlns:a16="http://schemas.microsoft.com/office/drawing/2014/main" id="{CF968350-4E3C-A9CF-5F0F-5EE90D7455B4}"/>
              </a:ext>
            </a:extLst>
          </p:cNvPr>
          <p:cNvSpPr/>
          <p:nvPr/>
        </p:nvSpPr>
        <p:spPr>
          <a:xfrm>
            <a:off x="6639960" y="1921681"/>
            <a:ext cx="2241485" cy="593993"/>
          </a:xfrm>
          <a:custGeom>
            <a:avLst/>
            <a:gdLst/>
            <a:ahLst/>
            <a:cxnLst/>
            <a:rect l="l" t="t" r="r" b="b"/>
            <a:pathLst>
              <a:path w="2241485" h="593993">
                <a:moveTo>
                  <a:pt x="0" y="0"/>
                </a:moveTo>
                <a:moveTo>
                  <a:pt x="0" y="0"/>
                </a:moveTo>
                <a:lnTo>
                  <a:pt x="2241485" y="0"/>
                </a:lnTo>
                <a:lnTo>
                  <a:pt x="2241485" y="593993"/>
                </a:lnTo>
                <a:lnTo>
                  <a:pt x="0" y="593993"/>
                </a:lnTo>
                <a:close/>
              </a:path>
            </a:pathLst>
          </a:custGeom>
          <a:solidFill>
            <a:srgbClr val="379EFC"/>
          </a:solidFill>
          <a:ln/>
        </p:spPr>
        <p:txBody>
          <a:bodyPr/>
          <a:lstStyle/>
          <a:p>
            <a:endParaRPr lang="en-US"/>
          </a:p>
        </p:txBody>
      </p:sp>
      <p:sp>
        <p:nvSpPr>
          <p:cNvPr id="4" name="Shape 2">
            <a:extLst>
              <a:ext uri="{FF2B5EF4-FFF2-40B4-BE49-F238E27FC236}">
                <a16:creationId xmlns:a16="http://schemas.microsoft.com/office/drawing/2014/main" id="{EA0736F5-85B0-E6F2-F2DE-33BE30526002}"/>
              </a:ext>
            </a:extLst>
          </p:cNvPr>
          <p:cNvSpPr/>
          <p:nvPr/>
        </p:nvSpPr>
        <p:spPr>
          <a:xfrm>
            <a:off x="4515159" y="1624684"/>
            <a:ext cx="2241485" cy="593993"/>
          </a:xfrm>
          <a:custGeom>
            <a:avLst/>
            <a:gdLst/>
            <a:ahLst/>
            <a:cxnLst/>
            <a:rect l="l" t="t" r="r" b="b"/>
            <a:pathLst>
              <a:path w="2241485" h="593993">
                <a:moveTo>
                  <a:pt x="0" y="0"/>
                </a:moveTo>
                <a:moveTo>
                  <a:pt x="0" y="0"/>
                </a:moveTo>
                <a:lnTo>
                  <a:pt x="2241485" y="0"/>
                </a:lnTo>
                <a:lnTo>
                  <a:pt x="2241485" y="593993"/>
                </a:lnTo>
                <a:lnTo>
                  <a:pt x="0" y="593993"/>
                </a:lnTo>
                <a:close/>
              </a:path>
            </a:pathLst>
          </a:custGeom>
          <a:solidFill>
            <a:srgbClr val="2B76FD"/>
          </a:solidFill>
          <a:ln/>
        </p:spPr>
        <p:txBody>
          <a:bodyPr/>
          <a:lstStyle/>
          <a:p>
            <a:endParaRPr lang="en-US"/>
          </a:p>
        </p:txBody>
      </p:sp>
      <p:sp>
        <p:nvSpPr>
          <p:cNvPr id="5" name="Shape 3">
            <a:extLst>
              <a:ext uri="{FF2B5EF4-FFF2-40B4-BE49-F238E27FC236}">
                <a16:creationId xmlns:a16="http://schemas.microsoft.com/office/drawing/2014/main" id="{010AFD12-1647-2D52-8034-AECDE21D6D81}"/>
              </a:ext>
            </a:extLst>
          </p:cNvPr>
          <p:cNvSpPr/>
          <p:nvPr/>
        </p:nvSpPr>
        <p:spPr>
          <a:xfrm>
            <a:off x="2390357" y="1327687"/>
            <a:ext cx="2241485" cy="593993"/>
          </a:xfrm>
          <a:custGeom>
            <a:avLst/>
            <a:gdLst/>
            <a:ahLst/>
            <a:cxnLst/>
            <a:rect l="l" t="t" r="r" b="b"/>
            <a:pathLst>
              <a:path w="2241485" h="593993">
                <a:moveTo>
                  <a:pt x="0" y="0"/>
                </a:moveTo>
                <a:moveTo>
                  <a:pt x="0" y="0"/>
                </a:moveTo>
                <a:lnTo>
                  <a:pt x="2241485" y="0"/>
                </a:lnTo>
                <a:lnTo>
                  <a:pt x="2241485" y="593993"/>
                </a:lnTo>
                <a:lnTo>
                  <a:pt x="0" y="593993"/>
                </a:lnTo>
                <a:close/>
              </a:path>
            </a:pathLst>
          </a:custGeom>
          <a:solidFill>
            <a:srgbClr val="379EFC"/>
          </a:solidFill>
          <a:ln/>
        </p:spPr>
        <p:txBody>
          <a:bodyPr/>
          <a:lstStyle/>
          <a:p>
            <a:endParaRPr lang="en-US"/>
          </a:p>
        </p:txBody>
      </p:sp>
      <p:sp>
        <p:nvSpPr>
          <p:cNvPr id="6" name="Shape 4">
            <a:extLst>
              <a:ext uri="{FF2B5EF4-FFF2-40B4-BE49-F238E27FC236}">
                <a16:creationId xmlns:a16="http://schemas.microsoft.com/office/drawing/2014/main" id="{726E7F3C-DD38-8144-3311-6674B77C5E3E}"/>
              </a:ext>
            </a:extLst>
          </p:cNvPr>
          <p:cNvSpPr/>
          <p:nvPr/>
        </p:nvSpPr>
        <p:spPr>
          <a:xfrm>
            <a:off x="262555" y="1097720"/>
            <a:ext cx="2241485" cy="593993"/>
          </a:xfrm>
          <a:custGeom>
            <a:avLst/>
            <a:gdLst/>
            <a:ahLst/>
            <a:cxnLst/>
            <a:rect l="l" t="t" r="r" b="b"/>
            <a:pathLst>
              <a:path w="2241485" h="593993">
                <a:moveTo>
                  <a:pt x="0" y="0"/>
                </a:moveTo>
                <a:moveTo>
                  <a:pt x="0" y="0"/>
                </a:moveTo>
                <a:lnTo>
                  <a:pt x="2241485" y="0"/>
                </a:lnTo>
                <a:lnTo>
                  <a:pt x="2241485" y="593993"/>
                </a:lnTo>
                <a:lnTo>
                  <a:pt x="0" y="593993"/>
                </a:lnTo>
                <a:close/>
              </a:path>
            </a:pathLst>
          </a:custGeom>
          <a:solidFill>
            <a:srgbClr val="2B76FD"/>
          </a:solidFill>
          <a:ln/>
        </p:spPr>
        <p:txBody>
          <a:bodyPr/>
          <a:lstStyle/>
          <a:p>
            <a:endParaRPr lang="en-US"/>
          </a:p>
        </p:txBody>
      </p:sp>
      <p:sp>
        <p:nvSpPr>
          <p:cNvPr id="7" name="Text 5">
            <a:extLst>
              <a:ext uri="{FF2B5EF4-FFF2-40B4-BE49-F238E27FC236}">
                <a16:creationId xmlns:a16="http://schemas.microsoft.com/office/drawing/2014/main" id="{B7CDBE5C-55C1-E192-2BDB-45F3249A502A}"/>
              </a:ext>
            </a:extLst>
          </p:cNvPr>
          <p:cNvSpPr/>
          <p:nvPr/>
        </p:nvSpPr>
        <p:spPr>
          <a:xfrm>
            <a:off x="262555" y="1097720"/>
            <a:ext cx="851764" cy="566928"/>
          </a:xfrm>
          <a:prstGeom prst="rect">
            <a:avLst/>
          </a:prstGeom>
          <a:noFill/>
          <a:ln/>
        </p:spPr>
        <p:txBody>
          <a:bodyPr wrap="square" lIns="95250" tIns="95250" rIns="95250" bIns="95250" rtlCol="0" anchor="t">
            <a:spAutoFit/>
          </a:bodyPr>
          <a:lstStyle/>
          <a:p>
            <a:pPr marL="0" indent="0" algn="ctr">
              <a:lnSpc>
                <a:spcPct val="112500"/>
              </a:lnSpc>
              <a:spcBef>
                <a:spcPts val="375"/>
              </a:spcBef>
              <a:buNone/>
            </a:pPr>
            <a:r>
              <a:rPr lang="en-US" sz="2016" b="1" dirty="0">
                <a:solidFill>
                  <a:srgbClr val="FFFFFF"/>
                </a:solidFill>
                <a:latin typeface="Noto Sans" pitchFamily="34" charset="0"/>
                <a:ea typeface="Noto Sans" pitchFamily="34" charset="-122"/>
                <a:cs typeface="Noto Sans" pitchFamily="34" charset="-120"/>
              </a:rPr>
              <a:t>01</a:t>
            </a:r>
            <a:endParaRPr lang="en-US" sz="1440" dirty="0"/>
          </a:p>
        </p:txBody>
      </p:sp>
      <p:sp>
        <p:nvSpPr>
          <p:cNvPr id="8" name="Text 6">
            <a:extLst>
              <a:ext uri="{FF2B5EF4-FFF2-40B4-BE49-F238E27FC236}">
                <a16:creationId xmlns:a16="http://schemas.microsoft.com/office/drawing/2014/main" id="{4A588BA1-DDE8-8811-D417-843758C1F6EF}"/>
              </a:ext>
            </a:extLst>
          </p:cNvPr>
          <p:cNvSpPr/>
          <p:nvPr/>
        </p:nvSpPr>
        <p:spPr>
          <a:xfrm>
            <a:off x="2507040" y="1327992"/>
            <a:ext cx="851764" cy="566928"/>
          </a:xfrm>
          <a:prstGeom prst="rect">
            <a:avLst/>
          </a:prstGeom>
          <a:noFill/>
          <a:ln/>
        </p:spPr>
        <p:txBody>
          <a:bodyPr wrap="square" lIns="95250" tIns="95250" rIns="95250" bIns="95250" rtlCol="0" anchor="t">
            <a:spAutoFit/>
          </a:bodyPr>
          <a:lstStyle/>
          <a:p>
            <a:pPr marL="0" indent="0" algn="ctr">
              <a:lnSpc>
                <a:spcPct val="112500"/>
              </a:lnSpc>
              <a:spcBef>
                <a:spcPts val="375"/>
              </a:spcBef>
              <a:buNone/>
            </a:pPr>
            <a:r>
              <a:rPr lang="en-US" sz="2016" b="1" dirty="0">
                <a:solidFill>
                  <a:srgbClr val="FFFFFF"/>
                </a:solidFill>
                <a:latin typeface="Noto Sans" pitchFamily="34" charset="0"/>
                <a:ea typeface="Noto Sans" pitchFamily="34" charset="-122"/>
                <a:cs typeface="Noto Sans" pitchFamily="34" charset="-120"/>
              </a:rPr>
              <a:t>02</a:t>
            </a:r>
            <a:endParaRPr lang="en-US" sz="1440" dirty="0"/>
          </a:p>
        </p:txBody>
      </p:sp>
      <p:sp>
        <p:nvSpPr>
          <p:cNvPr id="9" name="Text 7">
            <a:extLst>
              <a:ext uri="{FF2B5EF4-FFF2-40B4-BE49-F238E27FC236}">
                <a16:creationId xmlns:a16="http://schemas.microsoft.com/office/drawing/2014/main" id="{50B9A422-ABBE-5ADA-AFB9-9F9AC95486CD}"/>
              </a:ext>
            </a:extLst>
          </p:cNvPr>
          <p:cNvSpPr/>
          <p:nvPr/>
        </p:nvSpPr>
        <p:spPr>
          <a:xfrm>
            <a:off x="4631841" y="1624836"/>
            <a:ext cx="851764" cy="566928"/>
          </a:xfrm>
          <a:prstGeom prst="rect">
            <a:avLst/>
          </a:prstGeom>
          <a:noFill/>
          <a:ln/>
        </p:spPr>
        <p:txBody>
          <a:bodyPr wrap="square" lIns="95250" tIns="95250" rIns="95250" bIns="95250" rtlCol="0" anchor="t">
            <a:spAutoFit/>
          </a:bodyPr>
          <a:lstStyle/>
          <a:p>
            <a:pPr marL="0" indent="0" algn="ctr">
              <a:lnSpc>
                <a:spcPct val="112500"/>
              </a:lnSpc>
              <a:spcBef>
                <a:spcPts val="375"/>
              </a:spcBef>
              <a:buNone/>
            </a:pPr>
            <a:r>
              <a:rPr lang="en-US" sz="2016" b="1" dirty="0">
                <a:solidFill>
                  <a:srgbClr val="FFFFFF"/>
                </a:solidFill>
                <a:latin typeface="Noto Sans" pitchFamily="34" charset="0"/>
                <a:ea typeface="Noto Sans" pitchFamily="34" charset="-122"/>
                <a:cs typeface="Noto Sans" pitchFamily="34" charset="-120"/>
              </a:rPr>
              <a:t>03</a:t>
            </a:r>
            <a:endParaRPr lang="en-US" sz="1440" dirty="0"/>
          </a:p>
        </p:txBody>
      </p:sp>
      <p:sp>
        <p:nvSpPr>
          <p:cNvPr id="10" name="Text 8">
            <a:extLst>
              <a:ext uri="{FF2B5EF4-FFF2-40B4-BE49-F238E27FC236}">
                <a16:creationId xmlns:a16="http://schemas.microsoft.com/office/drawing/2014/main" id="{45B59DC6-B69A-B34A-9BF5-9D0C9DBC4710}"/>
              </a:ext>
            </a:extLst>
          </p:cNvPr>
          <p:cNvSpPr/>
          <p:nvPr/>
        </p:nvSpPr>
        <p:spPr>
          <a:xfrm>
            <a:off x="6756643" y="1921681"/>
            <a:ext cx="851764" cy="566928"/>
          </a:xfrm>
          <a:prstGeom prst="rect">
            <a:avLst/>
          </a:prstGeom>
          <a:noFill/>
          <a:ln/>
        </p:spPr>
        <p:txBody>
          <a:bodyPr wrap="square" lIns="95250" tIns="95250" rIns="95250" bIns="95250" rtlCol="0" anchor="t">
            <a:spAutoFit/>
          </a:bodyPr>
          <a:lstStyle/>
          <a:p>
            <a:pPr marL="0" indent="0" algn="ctr">
              <a:lnSpc>
                <a:spcPct val="112500"/>
              </a:lnSpc>
              <a:spcBef>
                <a:spcPts val="375"/>
              </a:spcBef>
              <a:buNone/>
            </a:pPr>
            <a:r>
              <a:rPr lang="en-US" sz="2016" b="1" dirty="0">
                <a:solidFill>
                  <a:srgbClr val="FFFFFF"/>
                </a:solidFill>
                <a:latin typeface="Noto Sans" pitchFamily="34" charset="0"/>
                <a:ea typeface="Noto Sans" pitchFamily="34" charset="-122"/>
                <a:cs typeface="Noto Sans" pitchFamily="34" charset="-120"/>
              </a:rPr>
              <a:t>04</a:t>
            </a:r>
            <a:endParaRPr lang="en-US" sz="1440" dirty="0"/>
          </a:p>
        </p:txBody>
      </p:sp>
      <p:sp>
        <p:nvSpPr>
          <p:cNvPr id="11" name="Text 9">
            <a:extLst>
              <a:ext uri="{FF2B5EF4-FFF2-40B4-BE49-F238E27FC236}">
                <a16:creationId xmlns:a16="http://schemas.microsoft.com/office/drawing/2014/main" id="{11A97D19-E5A1-A337-27B1-9C3DBAF34993}"/>
              </a:ext>
            </a:extLst>
          </p:cNvPr>
          <p:cNvSpPr/>
          <p:nvPr/>
        </p:nvSpPr>
        <p:spPr>
          <a:xfrm>
            <a:off x="262555" y="1682138"/>
            <a:ext cx="2127802" cy="391774"/>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vi-VN" sz="1296" b="1" dirty="0">
                <a:solidFill>
                  <a:srgbClr val="2B76FD"/>
                </a:solidFill>
                <a:latin typeface="Noto Sans" pitchFamily="34" charset="0"/>
                <a:ea typeface="Noto Sans" pitchFamily="34" charset="-122"/>
                <a:cs typeface="Noto Sans" pitchFamily="34" charset="-120"/>
              </a:rPr>
              <a:t>Tìm kiếm miền nén​</a:t>
            </a:r>
            <a:endParaRPr lang="en-US" sz="1440" dirty="0"/>
          </a:p>
        </p:txBody>
      </p:sp>
      <p:sp>
        <p:nvSpPr>
          <p:cNvPr id="12" name="Text 10">
            <a:extLst>
              <a:ext uri="{FF2B5EF4-FFF2-40B4-BE49-F238E27FC236}">
                <a16:creationId xmlns:a16="http://schemas.microsoft.com/office/drawing/2014/main" id="{B54A025C-CB21-0611-6332-1DCEA543CB99}"/>
              </a:ext>
            </a:extLst>
          </p:cNvPr>
          <p:cNvSpPr/>
          <p:nvPr/>
        </p:nvSpPr>
        <p:spPr>
          <a:xfrm>
            <a:off x="262555" y="2282685"/>
            <a:ext cx="2079924" cy="812787"/>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vi-VN" sz="1008" dirty="0">
                <a:solidFill>
                  <a:srgbClr val="00070F"/>
                </a:solidFill>
                <a:latin typeface="Noto Sans" pitchFamily="34" charset="0"/>
                <a:ea typeface="Noto Sans" pitchFamily="34" charset="-122"/>
                <a:cs typeface="Noto Sans" pitchFamily="34" charset="-120"/>
              </a:rPr>
              <a:t>Tìm kiếm trong miền nén cho phép tính khoảng cách mà không cần giải nén, tiết kiệm thời gian và tài nguyên.​</a:t>
            </a:r>
            <a:endParaRPr lang="en-US" sz="1440" dirty="0"/>
          </a:p>
        </p:txBody>
      </p:sp>
      <p:sp>
        <p:nvSpPr>
          <p:cNvPr id="13" name="Text 11">
            <a:extLst>
              <a:ext uri="{FF2B5EF4-FFF2-40B4-BE49-F238E27FC236}">
                <a16:creationId xmlns:a16="http://schemas.microsoft.com/office/drawing/2014/main" id="{E098F045-C82B-9E41-FEF5-1A3753CA0A49}"/>
              </a:ext>
            </a:extLst>
          </p:cNvPr>
          <p:cNvSpPr/>
          <p:nvPr/>
        </p:nvSpPr>
        <p:spPr>
          <a:xfrm>
            <a:off x="2390357" y="1912105"/>
            <a:ext cx="2124802" cy="591187"/>
          </a:xfrm>
          <a:prstGeom prst="rect">
            <a:avLst/>
          </a:prstGeom>
          <a:noFill/>
          <a:ln/>
        </p:spPr>
        <p:txBody>
          <a:bodyPr wrap="square" lIns="95250" tIns="95250" rIns="95250" bIns="95250" rtlCol="0" anchor="t">
            <a:spAutoFit/>
          </a:bodyPr>
          <a:lstStyle/>
          <a:p>
            <a:pPr marL="0" indent="0">
              <a:lnSpc>
                <a:spcPct val="100000"/>
              </a:lnSpc>
              <a:buNone/>
            </a:pPr>
            <a:r>
              <a:rPr lang="vi-VN" sz="1296" b="1" dirty="0">
                <a:solidFill>
                  <a:srgbClr val="379EFC"/>
                </a:solidFill>
                <a:latin typeface="Noto Sans" pitchFamily="34" charset="0"/>
                <a:ea typeface="Noto Sans" pitchFamily="34" charset="-122"/>
                <a:cs typeface="Noto Sans" pitchFamily="34" charset="-120"/>
              </a:rPr>
              <a:t>Phương pháp tích vô hướng​</a:t>
            </a:r>
            <a:endParaRPr lang="en-US" sz="1440" dirty="0"/>
          </a:p>
        </p:txBody>
      </p:sp>
      <p:sp>
        <p:nvSpPr>
          <p:cNvPr id="14" name="Text 12">
            <a:extLst>
              <a:ext uri="{FF2B5EF4-FFF2-40B4-BE49-F238E27FC236}">
                <a16:creationId xmlns:a16="http://schemas.microsoft.com/office/drawing/2014/main" id="{8BB0BF87-BA20-86F5-26B0-90F211DA22F6}"/>
              </a:ext>
            </a:extLst>
          </p:cNvPr>
          <p:cNvSpPr/>
          <p:nvPr/>
        </p:nvSpPr>
        <p:spPr>
          <a:xfrm>
            <a:off x="2390757" y="2512384"/>
            <a:ext cx="2124402" cy="812787"/>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vi-VN" sz="1008" dirty="0">
                <a:solidFill>
                  <a:srgbClr val="00070F"/>
                </a:solidFill>
                <a:latin typeface="Noto Sans" pitchFamily="34" charset="0"/>
                <a:ea typeface="Noto Sans" pitchFamily="34" charset="-122"/>
                <a:cs typeface="Noto Sans" pitchFamily="34" charset="-120"/>
              </a:rPr>
              <a:t>Tính tích vô hướng sử dụng bảng tra cứu (LUTs) giúp thực hiện các phép tính nhanh và chính xác trong miền nén.​</a:t>
            </a:r>
            <a:endParaRPr lang="en-US" sz="1440" dirty="0"/>
          </a:p>
        </p:txBody>
      </p:sp>
      <p:sp>
        <p:nvSpPr>
          <p:cNvPr id="15" name="Text 13">
            <a:extLst>
              <a:ext uri="{FF2B5EF4-FFF2-40B4-BE49-F238E27FC236}">
                <a16:creationId xmlns:a16="http://schemas.microsoft.com/office/drawing/2014/main" id="{D3C2998A-9ECD-21F5-4228-4D38BB09B513}"/>
              </a:ext>
            </a:extLst>
          </p:cNvPr>
          <p:cNvSpPr/>
          <p:nvPr/>
        </p:nvSpPr>
        <p:spPr>
          <a:xfrm>
            <a:off x="4515159" y="2189501"/>
            <a:ext cx="2124802" cy="591187"/>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vi-VN" sz="1296" b="1" dirty="0">
                <a:solidFill>
                  <a:srgbClr val="2B76FD"/>
                </a:solidFill>
                <a:latin typeface="Noto Sans" pitchFamily="34" charset="0"/>
                <a:ea typeface="Noto Sans" pitchFamily="34" charset="-122"/>
                <a:cs typeface="Noto Sans" pitchFamily="34" charset="-120"/>
              </a:rPr>
              <a:t>Tính khoảng cách L2 hiệu quả​</a:t>
            </a:r>
            <a:endParaRPr lang="en-US" sz="1440" dirty="0"/>
          </a:p>
        </p:txBody>
      </p:sp>
      <p:sp>
        <p:nvSpPr>
          <p:cNvPr id="16" name="Text 14">
            <a:extLst>
              <a:ext uri="{FF2B5EF4-FFF2-40B4-BE49-F238E27FC236}">
                <a16:creationId xmlns:a16="http://schemas.microsoft.com/office/drawing/2014/main" id="{2618D4B4-4BAB-EF41-D815-03126EBD91BD}"/>
              </a:ext>
            </a:extLst>
          </p:cNvPr>
          <p:cNvSpPr/>
          <p:nvPr/>
        </p:nvSpPr>
        <p:spPr>
          <a:xfrm>
            <a:off x="4515159" y="2858615"/>
            <a:ext cx="2124802" cy="967894"/>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vi-VN" sz="1008" dirty="0">
                <a:solidFill>
                  <a:srgbClr val="00070F"/>
                </a:solidFill>
                <a:latin typeface="Noto Sans" pitchFamily="34" charset="0"/>
                <a:ea typeface="Noto Sans" pitchFamily="34" charset="-122"/>
                <a:cs typeface="Noto Sans" pitchFamily="34" charset="-120"/>
              </a:rPr>
              <a:t>Khoảng cách L2 được tính nhanh bằng phân tích công thức và phương pháp ST_norm_from_LUT giúp tăng tốc tìm kiếm.</a:t>
            </a:r>
            <a:endParaRPr lang="en-US" sz="1440" dirty="0"/>
          </a:p>
        </p:txBody>
      </p:sp>
      <p:sp>
        <p:nvSpPr>
          <p:cNvPr id="17" name="Text 15">
            <a:extLst>
              <a:ext uri="{FF2B5EF4-FFF2-40B4-BE49-F238E27FC236}">
                <a16:creationId xmlns:a16="http://schemas.microsoft.com/office/drawing/2014/main" id="{DF39F610-0A07-C5C4-AB36-B760520DF195}"/>
              </a:ext>
            </a:extLst>
          </p:cNvPr>
          <p:cNvSpPr/>
          <p:nvPr/>
        </p:nvSpPr>
        <p:spPr>
          <a:xfrm>
            <a:off x="6639960" y="2496523"/>
            <a:ext cx="2241485" cy="391774"/>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vi-VN" sz="1296" b="1" dirty="0">
                <a:solidFill>
                  <a:srgbClr val="379EFC"/>
                </a:solidFill>
                <a:latin typeface="Noto Sans" pitchFamily="34" charset="0"/>
                <a:ea typeface="Noto Sans" pitchFamily="34" charset="-122"/>
                <a:cs typeface="Noto Sans" pitchFamily="34" charset="-120"/>
              </a:rPr>
              <a:t>Ứng dụng tìm kiếm lớn​</a:t>
            </a:r>
            <a:endParaRPr lang="en-US" sz="1440" dirty="0"/>
          </a:p>
        </p:txBody>
      </p:sp>
      <p:sp>
        <p:nvSpPr>
          <p:cNvPr id="18" name="Text 16">
            <a:extLst>
              <a:ext uri="{FF2B5EF4-FFF2-40B4-BE49-F238E27FC236}">
                <a16:creationId xmlns:a16="http://schemas.microsoft.com/office/drawing/2014/main" id="{A72230AD-407E-CF20-F9EE-B584093BECF1}"/>
              </a:ext>
            </a:extLst>
          </p:cNvPr>
          <p:cNvSpPr/>
          <p:nvPr/>
        </p:nvSpPr>
        <p:spPr>
          <a:xfrm>
            <a:off x="6639960" y="3105106"/>
            <a:ext cx="2241485" cy="812787"/>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vi-VN" sz="1008" dirty="0">
                <a:solidFill>
                  <a:srgbClr val="00070F"/>
                </a:solidFill>
                <a:latin typeface="Noto Sans" pitchFamily="34" charset="0"/>
                <a:ea typeface="Noto Sans" pitchFamily="34" charset="-122"/>
                <a:cs typeface="Noto Sans" pitchFamily="34" charset="-120"/>
              </a:rPr>
              <a:t>Phương pháp này hữu ích trong các hệ thống truy vấn lớn như tìm kiếm hình ảnh, văn bản và âm thanh.​</a:t>
            </a:r>
          </a:p>
        </p:txBody>
      </p:sp>
    </p:spTree>
    <p:extLst>
      <p:ext uri="{BB962C8B-B14F-4D97-AF65-F5344CB8AC3E}">
        <p14:creationId xmlns:p14="http://schemas.microsoft.com/office/powerpoint/2010/main" val="29819256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D641C175-356D-A937-015A-F4ED7506B5D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EFDD9ED-418F-634A-20DA-D6A895835DA6}"/>
              </a:ext>
            </a:extLst>
          </p:cNvPr>
          <p:cNvSpPr/>
          <p:nvPr/>
        </p:nvSpPr>
        <p:spPr>
          <a:xfrm>
            <a:off x="396558" y="328468"/>
            <a:ext cx="8396337" cy="546881"/>
          </a:xfrm>
          <a:prstGeom prst="rect">
            <a:avLst/>
          </a:prstGeom>
          <a:noFill/>
          <a:ln/>
        </p:spPr>
        <p:txBody>
          <a:bodyPr wrap="square" lIns="95250" tIns="95250" rIns="95250" bIns="95250" rtlCol="0" anchor="t">
            <a:spAutoFit/>
          </a:bodyPr>
          <a:lstStyle/>
          <a:p>
            <a:pPr marL="0" indent="0">
              <a:lnSpc>
                <a:spcPct val="112500"/>
              </a:lnSpc>
              <a:spcBef>
                <a:spcPts val="375"/>
              </a:spcBef>
              <a:buNone/>
            </a:pPr>
            <a:r>
              <a:rPr lang="en-US" sz="2160" b="1" dirty="0">
                <a:solidFill>
                  <a:srgbClr val="193AB9"/>
                </a:solidFill>
                <a:latin typeface="Noto Sans" pitchFamily="34" charset="0"/>
                <a:ea typeface="Noto Sans" pitchFamily="34" charset="-122"/>
                <a:cs typeface="Noto Sans" pitchFamily="34" charset="-120"/>
              </a:rPr>
              <a:t>Index Nhị </a:t>
            </a:r>
            <a:r>
              <a:rPr lang="en-US" sz="2160" b="1" dirty="0" err="1">
                <a:solidFill>
                  <a:srgbClr val="193AB9"/>
                </a:solidFill>
                <a:latin typeface="Noto Sans" pitchFamily="34" charset="0"/>
                <a:ea typeface="Noto Sans" pitchFamily="34" charset="-122"/>
                <a:cs typeface="Noto Sans" pitchFamily="34" charset="-120"/>
              </a:rPr>
              <a:t>phân</a:t>
            </a:r>
            <a:r>
              <a:rPr lang="en-US" sz="2160" b="1" dirty="0">
                <a:solidFill>
                  <a:srgbClr val="193AB9"/>
                </a:solidFill>
                <a:latin typeface="Noto Sans" pitchFamily="34" charset="0"/>
                <a:ea typeface="Noto Sans" pitchFamily="34" charset="-122"/>
                <a:cs typeface="Noto Sans" pitchFamily="34" charset="-120"/>
              </a:rPr>
              <a:t>​</a:t>
            </a:r>
            <a:endParaRPr lang="en-US" sz="1440" dirty="0"/>
          </a:p>
        </p:txBody>
      </p:sp>
      <p:pic>
        <p:nvPicPr>
          <p:cNvPr id="3" name="Image 0" descr="preencoded.png">
            <a:extLst>
              <a:ext uri="{FF2B5EF4-FFF2-40B4-BE49-F238E27FC236}">
                <a16:creationId xmlns:a16="http://schemas.microsoft.com/office/drawing/2014/main" id="{DAF4FAB8-5274-123C-99E2-71485E6B7598}"/>
              </a:ext>
            </a:extLst>
          </p:cNvPr>
          <p:cNvPicPr>
            <a:picLocks noChangeAspect="1"/>
          </p:cNvPicPr>
          <p:nvPr/>
        </p:nvPicPr>
        <p:blipFill>
          <a:blip r:embed="rId4"/>
          <a:stretch>
            <a:fillRect/>
          </a:stretch>
        </p:blipFill>
        <p:spPr>
          <a:xfrm>
            <a:off x="312482" y="968786"/>
            <a:ext cx="2624921" cy="3739476"/>
          </a:xfrm>
          <a:prstGeom prst="rect">
            <a:avLst/>
          </a:prstGeom>
        </p:spPr>
      </p:pic>
      <p:sp>
        <p:nvSpPr>
          <p:cNvPr id="4" name="Shape 1">
            <a:extLst>
              <a:ext uri="{FF2B5EF4-FFF2-40B4-BE49-F238E27FC236}">
                <a16:creationId xmlns:a16="http://schemas.microsoft.com/office/drawing/2014/main" id="{1B940225-0B85-7941-7A3F-7909E47E42B7}"/>
              </a:ext>
            </a:extLst>
          </p:cNvPr>
          <p:cNvSpPr/>
          <p:nvPr/>
        </p:nvSpPr>
        <p:spPr>
          <a:xfrm>
            <a:off x="948017" y="1906662"/>
            <a:ext cx="1249869" cy="0"/>
          </a:xfrm>
          <a:custGeom>
            <a:avLst/>
            <a:gdLst/>
            <a:ahLst/>
            <a:cxnLst/>
            <a:rect l="l" t="t" r="r" b="b"/>
            <a:pathLst>
              <a:path w="1249869">
                <a:moveTo>
                  <a:pt x="0" y="0"/>
                </a:moveTo>
                <a:moveTo>
                  <a:pt x="0" y="0"/>
                </a:moveTo>
                <a:lnTo>
                  <a:pt x="1249869" y="0"/>
                </a:lnTo>
              </a:path>
            </a:pathLst>
          </a:custGeom>
          <a:noFill/>
          <a:ln w="10317">
            <a:solidFill>
              <a:srgbClr val="FFFFFF">
                <a:alpha val="47843"/>
              </a:srgbClr>
            </a:solidFill>
            <a:prstDash val="solid"/>
            <a:headEnd type="none"/>
            <a:tailEnd type="none"/>
          </a:ln>
        </p:spPr>
        <p:txBody>
          <a:bodyPr/>
          <a:lstStyle/>
          <a:p>
            <a:endParaRPr lang="en-US"/>
          </a:p>
        </p:txBody>
      </p:sp>
      <p:pic>
        <p:nvPicPr>
          <p:cNvPr id="6" name="Image 1" descr="preencoded.png">
            <a:extLst>
              <a:ext uri="{FF2B5EF4-FFF2-40B4-BE49-F238E27FC236}">
                <a16:creationId xmlns:a16="http://schemas.microsoft.com/office/drawing/2014/main" id="{4AD45F22-B052-F082-94FE-F5CCC5A7A630}"/>
              </a:ext>
            </a:extLst>
          </p:cNvPr>
          <p:cNvPicPr>
            <a:picLocks noChangeAspect="1"/>
          </p:cNvPicPr>
          <p:nvPr/>
        </p:nvPicPr>
        <p:blipFill>
          <a:blip r:embed="rId5"/>
          <a:stretch>
            <a:fillRect/>
          </a:stretch>
        </p:blipFill>
        <p:spPr>
          <a:xfrm>
            <a:off x="1431141" y="3828202"/>
            <a:ext cx="387604" cy="387604"/>
          </a:xfrm>
          <a:prstGeom prst="rect">
            <a:avLst/>
          </a:prstGeom>
        </p:spPr>
      </p:pic>
      <p:sp>
        <p:nvSpPr>
          <p:cNvPr id="7" name="Text 3">
            <a:extLst>
              <a:ext uri="{FF2B5EF4-FFF2-40B4-BE49-F238E27FC236}">
                <a16:creationId xmlns:a16="http://schemas.microsoft.com/office/drawing/2014/main" id="{B123CA4D-295E-5130-DC6F-F6C434E5FDCB}"/>
              </a:ext>
            </a:extLst>
          </p:cNvPr>
          <p:cNvSpPr/>
          <p:nvPr/>
        </p:nvSpPr>
        <p:spPr>
          <a:xfrm>
            <a:off x="386921" y="1370658"/>
            <a:ext cx="2476043" cy="406094"/>
          </a:xfrm>
          <a:prstGeom prst="rect">
            <a:avLst/>
          </a:prstGeom>
          <a:noFill/>
          <a:ln/>
        </p:spPr>
        <p:txBody>
          <a:bodyPr wrap="square" lIns="95250" tIns="95250" rIns="95250" bIns="95250" rtlCol="0" anchor="ctr"/>
          <a:lstStyle/>
          <a:p>
            <a:pPr marL="0" indent="0" algn="ctr">
              <a:lnSpc>
                <a:spcPct val="100000"/>
              </a:lnSpc>
              <a:spcBef>
                <a:spcPts val="375"/>
              </a:spcBef>
              <a:buNone/>
            </a:pPr>
            <a:r>
              <a:rPr lang="en-US" sz="1296" b="1" dirty="0" err="1">
                <a:solidFill>
                  <a:srgbClr val="FFFFFF"/>
                </a:solidFill>
                <a:latin typeface="Noto Sans" pitchFamily="34" charset="0"/>
                <a:ea typeface="Noto Sans" pitchFamily="34" charset="-122"/>
                <a:cs typeface="Noto Sans" pitchFamily="34" charset="-120"/>
              </a:rPr>
              <a:t>Khoảng</a:t>
            </a:r>
            <a:r>
              <a:rPr lang="en-US" sz="1296" b="1" dirty="0">
                <a:solidFill>
                  <a:srgbClr val="FFFFFF"/>
                </a:solidFill>
                <a:latin typeface="Noto Sans" pitchFamily="34" charset="0"/>
                <a:ea typeface="Noto Sans" pitchFamily="34" charset="-122"/>
                <a:cs typeface="Noto Sans" pitchFamily="34" charset="-120"/>
              </a:rPr>
              <a:t> </a:t>
            </a:r>
            <a:r>
              <a:rPr lang="en-US" sz="1296" b="1" dirty="0" err="1">
                <a:solidFill>
                  <a:srgbClr val="FFFFFF"/>
                </a:solidFill>
                <a:latin typeface="Noto Sans" pitchFamily="34" charset="0"/>
                <a:ea typeface="Noto Sans" pitchFamily="34" charset="-122"/>
                <a:cs typeface="Noto Sans" pitchFamily="34" charset="-120"/>
              </a:rPr>
              <a:t>cách</a:t>
            </a:r>
            <a:r>
              <a:rPr lang="en-US" sz="1296" b="1" dirty="0">
                <a:solidFill>
                  <a:srgbClr val="FFFFFF"/>
                </a:solidFill>
                <a:latin typeface="Noto Sans" pitchFamily="34" charset="0"/>
                <a:ea typeface="Noto Sans" pitchFamily="34" charset="-122"/>
                <a:cs typeface="Noto Sans" pitchFamily="34" charset="-120"/>
              </a:rPr>
              <a:t> Hamming​</a:t>
            </a:r>
            <a:endParaRPr lang="en-US" sz="1440" dirty="0"/>
          </a:p>
        </p:txBody>
      </p:sp>
      <p:sp>
        <p:nvSpPr>
          <p:cNvPr id="8" name="Text 4">
            <a:extLst>
              <a:ext uri="{FF2B5EF4-FFF2-40B4-BE49-F238E27FC236}">
                <a16:creationId xmlns:a16="http://schemas.microsoft.com/office/drawing/2014/main" id="{0127C42C-47AD-59A4-11F4-41E10E9D422E}"/>
              </a:ext>
            </a:extLst>
          </p:cNvPr>
          <p:cNvSpPr/>
          <p:nvPr/>
        </p:nvSpPr>
        <p:spPr>
          <a:xfrm>
            <a:off x="470182" y="1990650"/>
            <a:ext cx="2309522" cy="967894"/>
          </a:xfrm>
          <a:prstGeom prst="rect">
            <a:avLst/>
          </a:prstGeom>
          <a:noFill/>
          <a:ln/>
        </p:spPr>
        <p:txBody>
          <a:bodyPr wrap="square" lIns="95250" tIns="95250" rIns="95250" bIns="95250" rtlCol="0" anchor="t">
            <a:spAutoFit/>
          </a:bodyPr>
          <a:lstStyle/>
          <a:p>
            <a:pPr marL="0" indent="0" algn="ctr">
              <a:lnSpc>
                <a:spcPct val="100000"/>
              </a:lnSpc>
              <a:spcBef>
                <a:spcPts val="375"/>
              </a:spcBef>
              <a:buNone/>
            </a:pPr>
            <a:r>
              <a:rPr lang="vi-VN" sz="1008" dirty="0">
                <a:solidFill>
                  <a:srgbClr val="FFFFFF"/>
                </a:solidFill>
                <a:latin typeface="Noto Sans" pitchFamily="34" charset="0"/>
                <a:ea typeface="Noto Sans" pitchFamily="34" charset="-122"/>
                <a:cs typeface="Noto Sans" pitchFamily="34" charset="-120"/>
              </a:rPr>
              <a:t>Khoảng cách Hamming được sử dụng để tính toán sự khác biệt giữa các vector nhị phân trong miền nén nhằm tìm kiếm chính xác.​</a:t>
            </a:r>
            <a:endParaRPr lang="en-US" sz="1440" dirty="0"/>
          </a:p>
        </p:txBody>
      </p:sp>
      <p:pic>
        <p:nvPicPr>
          <p:cNvPr id="9" name="Image 2" descr="preencoded.png">
            <a:extLst>
              <a:ext uri="{FF2B5EF4-FFF2-40B4-BE49-F238E27FC236}">
                <a16:creationId xmlns:a16="http://schemas.microsoft.com/office/drawing/2014/main" id="{5EDE6566-4753-FAA9-165C-29D761C7A6C0}"/>
              </a:ext>
            </a:extLst>
          </p:cNvPr>
          <p:cNvPicPr>
            <a:picLocks noChangeAspect="1"/>
          </p:cNvPicPr>
          <p:nvPr/>
        </p:nvPicPr>
        <p:blipFill>
          <a:blip r:embed="rId6"/>
          <a:stretch>
            <a:fillRect/>
          </a:stretch>
        </p:blipFill>
        <p:spPr>
          <a:xfrm>
            <a:off x="3259622" y="968786"/>
            <a:ext cx="2624757" cy="3739040"/>
          </a:xfrm>
          <a:prstGeom prst="rect">
            <a:avLst/>
          </a:prstGeom>
        </p:spPr>
      </p:pic>
      <p:sp>
        <p:nvSpPr>
          <p:cNvPr id="10" name="Shape 5">
            <a:extLst>
              <a:ext uri="{FF2B5EF4-FFF2-40B4-BE49-F238E27FC236}">
                <a16:creationId xmlns:a16="http://schemas.microsoft.com/office/drawing/2014/main" id="{2E1FD35E-598A-130C-1D56-F826F258BF21}"/>
              </a:ext>
            </a:extLst>
          </p:cNvPr>
          <p:cNvSpPr/>
          <p:nvPr/>
        </p:nvSpPr>
        <p:spPr>
          <a:xfrm>
            <a:off x="3895074" y="1906662"/>
            <a:ext cx="1249869" cy="0"/>
          </a:xfrm>
          <a:custGeom>
            <a:avLst/>
            <a:gdLst/>
            <a:ahLst/>
            <a:cxnLst/>
            <a:rect l="l" t="t" r="r" b="b"/>
            <a:pathLst>
              <a:path w="1249869">
                <a:moveTo>
                  <a:pt x="0" y="0"/>
                </a:moveTo>
                <a:moveTo>
                  <a:pt x="0" y="0"/>
                </a:moveTo>
                <a:lnTo>
                  <a:pt x="1249869" y="0"/>
                </a:lnTo>
              </a:path>
            </a:pathLst>
          </a:custGeom>
          <a:noFill/>
          <a:ln w="10317">
            <a:solidFill>
              <a:srgbClr val="2B76FD">
                <a:alpha val="49020"/>
              </a:srgbClr>
            </a:solidFill>
            <a:prstDash val="solid"/>
            <a:headEnd type="none"/>
            <a:tailEnd type="none"/>
          </a:ln>
        </p:spPr>
        <p:txBody>
          <a:bodyPr/>
          <a:lstStyle/>
          <a:p>
            <a:endParaRPr lang="en-US"/>
          </a:p>
        </p:txBody>
      </p:sp>
      <p:pic>
        <p:nvPicPr>
          <p:cNvPr id="12" name="Image 3" descr="preencoded.png">
            <a:extLst>
              <a:ext uri="{FF2B5EF4-FFF2-40B4-BE49-F238E27FC236}">
                <a16:creationId xmlns:a16="http://schemas.microsoft.com/office/drawing/2014/main" id="{99697C89-6166-D6B4-F24B-EF8FCED6F729}"/>
              </a:ext>
            </a:extLst>
          </p:cNvPr>
          <p:cNvPicPr>
            <a:picLocks noChangeAspect="1"/>
          </p:cNvPicPr>
          <p:nvPr/>
        </p:nvPicPr>
        <p:blipFill>
          <a:blip r:embed="rId7"/>
          <a:stretch>
            <a:fillRect/>
          </a:stretch>
        </p:blipFill>
        <p:spPr>
          <a:xfrm>
            <a:off x="4423429" y="3873433"/>
            <a:ext cx="297142" cy="297142"/>
          </a:xfrm>
          <a:prstGeom prst="rect">
            <a:avLst/>
          </a:prstGeom>
        </p:spPr>
      </p:pic>
      <p:sp>
        <p:nvSpPr>
          <p:cNvPr id="13" name="Text 7">
            <a:extLst>
              <a:ext uri="{FF2B5EF4-FFF2-40B4-BE49-F238E27FC236}">
                <a16:creationId xmlns:a16="http://schemas.microsoft.com/office/drawing/2014/main" id="{6943B30F-F28A-4A5A-3B4D-AC09475F79C2}"/>
              </a:ext>
            </a:extLst>
          </p:cNvPr>
          <p:cNvSpPr/>
          <p:nvPr/>
        </p:nvSpPr>
        <p:spPr>
          <a:xfrm>
            <a:off x="3333143" y="1370658"/>
            <a:ext cx="2477713" cy="406094"/>
          </a:xfrm>
          <a:prstGeom prst="rect">
            <a:avLst/>
          </a:prstGeom>
          <a:noFill/>
          <a:ln/>
        </p:spPr>
        <p:txBody>
          <a:bodyPr wrap="square" lIns="95250" tIns="95250" rIns="95250" bIns="95250" rtlCol="0" anchor="ctr"/>
          <a:lstStyle/>
          <a:p>
            <a:pPr marL="0" indent="0" algn="ctr">
              <a:lnSpc>
                <a:spcPct val="100000"/>
              </a:lnSpc>
              <a:spcBef>
                <a:spcPts val="375"/>
              </a:spcBef>
              <a:buNone/>
            </a:pPr>
            <a:r>
              <a:rPr lang="en-US" sz="1296" b="1" dirty="0">
                <a:solidFill>
                  <a:srgbClr val="2B76FD"/>
                </a:solidFill>
                <a:latin typeface="Noto Sans" pitchFamily="34" charset="0"/>
                <a:ea typeface="Noto Sans" pitchFamily="34" charset="-122"/>
                <a:cs typeface="Noto Sans" pitchFamily="34" charset="-120"/>
              </a:rPr>
              <a:t>Các </a:t>
            </a:r>
            <a:r>
              <a:rPr lang="en-US" sz="1296" b="1" dirty="0" err="1">
                <a:solidFill>
                  <a:srgbClr val="2B76FD"/>
                </a:solidFill>
                <a:latin typeface="Noto Sans" pitchFamily="34" charset="0"/>
                <a:ea typeface="Noto Sans" pitchFamily="34" charset="-122"/>
                <a:cs typeface="Noto Sans" pitchFamily="34" charset="-120"/>
              </a:rPr>
              <a:t>loại</a:t>
            </a:r>
            <a:r>
              <a:rPr lang="en-US" sz="1296" b="1" dirty="0">
                <a:solidFill>
                  <a:srgbClr val="2B76FD"/>
                </a:solidFill>
                <a:latin typeface="Noto Sans" pitchFamily="34" charset="0"/>
                <a:ea typeface="Noto Sans" pitchFamily="34" charset="-122"/>
                <a:cs typeface="Noto Sans" pitchFamily="34" charset="-120"/>
              </a:rPr>
              <a:t> Index </a:t>
            </a:r>
            <a:r>
              <a:rPr lang="en-US" sz="1296" b="1" dirty="0" err="1">
                <a:solidFill>
                  <a:srgbClr val="2B76FD"/>
                </a:solidFill>
                <a:latin typeface="Noto Sans" pitchFamily="34" charset="0"/>
                <a:ea typeface="Noto Sans" pitchFamily="34" charset="-122"/>
                <a:cs typeface="Noto Sans" pitchFamily="34" charset="-120"/>
              </a:rPr>
              <a:t>nhị</a:t>
            </a:r>
            <a:r>
              <a:rPr lang="en-US" sz="1296" b="1" dirty="0">
                <a:solidFill>
                  <a:srgbClr val="2B76FD"/>
                </a:solidFill>
                <a:latin typeface="Noto Sans" pitchFamily="34" charset="0"/>
                <a:ea typeface="Noto Sans" pitchFamily="34" charset="-122"/>
                <a:cs typeface="Noto Sans" pitchFamily="34" charset="-120"/>
              </a:rPr>
              <a:t> </a:t>
            </a:r>
            <a:r>
              <a:rPr lang="en-US" sz="1296" b="1" dirty="0" err="1">
                <a:solidFill>
                  <a:srgbClr val="2B76FD"/>
                </a:solidFill>
                <a:latin typeface="Noto Sans" pitchFamily="34" charset="0"/>
                <a:ea typeface="Noto Sans" pitchFamily="34" charset="-122"/>
                <a:cs typeface="Noto Sans" pitchFamily="34" charset="-120"/>
              </a:rPr>
              <a:t>phân</a:t>
            </a:r>
            <a:r>
              <a:rPr lang="en-US" sz="1296" b="1" dirty="0">
                <a:solidFill>
                  <a:srgbClr val="2B76FD"/>
                </a:solidFill>
                <a:latin typeface="Noto Sans" pitchFamily="34" charset="0"/>
                <a:ea typeface="Noto Sans" pitchFamily="34" charset="-122"/>
                <a:cs typeface="Noto Sans" pitchFamily="34" charset="-120"/>
              </a:rPr>
              <a:t>​</a:t>
            </a:r>
            <a:endParaRPr lang="en-US" sz="1440" dirty="0"/>
          </a:p>
        </p:txBody>
      </p:sp>
      <p:sp>
        <p:nvSpPr>
          <p:cNvPr id="14" name="Text 8">
            <a:extLst>
              <a:ext uri="{FF2B5EF4-FFF2-40B4-BE49-F238E27FC236}">
                <a16:creationId xmlns:a16="http://schemas.microsoft.com/office/drawing/2014/main" id="{AFA67922-24FE-8647-D34F-E55856E27371}"/>
              </a:ext>
            </a:extLst>
          </p:cNvPr>
          <p:cNvSpPr/>
          <p:nvPr/>
        </p:nvSpPr>
        <p:spPr>
          <a:xfrm>
            <a:off x="3417107" y="1990650"/>
            <a:ext cx="2309786" cy="967894"/>
          </a:xfrm>
          <a:prstGeom prst="rect">
            <a:avLst/>
          </a:prstGeom>
          <a:noFill/>
          <a:ln/>
        </p:spPr>
        <p:txBody>
          <a:bodyPr wrap="square" lIns="95250" tIns="95250" rIns="95250" bIns="95250" rtlCol="0" anchor="t">
            <a:spAutoFit/>
          </a:bodyPr>
          <a:lstStyle/>
          <a:p>
            <a:pPr marL="0" indent="0" algn="ctr">
              <a:lnSpc>
                <a:spcPct val="100000"/>
              </a:lnSpc>
              <a:spcBef>
                <a:spcPts val="375"/>
              </a:spcBef>
              <a:buNone/>
            </a:pPr>
            <a:r>
              <a:rPr lang="en-US" sz="1008" dirty="0">
                <a:solidFill>
                  <a:srgbClr val="00070F"/>
                </a:solidFill>
                <a:latin typeface="Noto Sans" pitchFamily="34" charset="0"/>
                <a:ea typeface="Noto Sans" pitchFamily="34" charset="-122"/>
                <a:cs typeface="Noto Sans" pitchFamily="34" charset="-120"/>
              </a:rPr>
              <a:t>Các </a:t>
            </a:r>
            <a:r>
              <a:rPr lang="en-US" sz="1008" dirty="0" err="1">
                <a:solidFill>
                  <a:srgbClr val="00070F"/>
                </a:solidFill>
                <a:latin typeface="Noto Sans" pitchFamily="34" charset="0"/>
                <a:ea typeface="Noto Sans" pitchFamily="34" charset="-122"/>
                <a:cs typeface="Noto Sans" pitchFamily="34" charset="-120"/>
              </a:rPr>
              <a:t>loại</a:t>
            </a:r>
            <a:r>
              <a:rPr lang="en-US" sz="1008" dirty="0">
                <a:solidFill>
                  <a:srgbClr val="00070F"/>
                </a:solidFill>
                <a:latin typeface="Noto Sans" pitchFamily="34" charset="0"/>
                <a:ea typeface="Noto Sans" pitchFamily="34" charset="-122"/>
                <a:cs typeface="Noto Sans" pitchFamily="34" charset="-120"/>
              </a:rPr>
              <a:t> index </a:t>
            </a:r>
            <a:r>
              <a:rPr lang="en-US" sz="1008" dirty="0" err="1">
                <a:solidFill>
                  <a:srgbClr val="00070F"/>
                </a:solidFill>
                <a:latin typeface="Noto Sans" pitchFamily="34" charset="0"/>
                <a:ea typeface="Noto Sans" pitchFamily="34" charset="-122"/>
                <a:cs typeface="Noto Sans" pitchFamily="34" charset="-120"/>
              </a:rPr>
              <a:t>phổ</a:t>
            </a:r>
            <a:r>
              <a:rPr lang="en-US" sz="1008" dirty="0">
                <a:solidFill>
                  <a:srgbClr val="00070F"/>
                </a:solidFill>
                <a:latin typeface="Noto Sans" pitchFamily="34" charset="0"/>
                <a:ea typeface="Noto Sans" pitchFamily="34" charset="-122"/>
                <a:cs typeface="Noto Sans" pitchFamily="34" charset="-120"/>
              </a:rPr>
              <a:t> </a:t>
            </a:r>
            <a:r>
              <a:rPr lang="en-US" sz="1008" dirty="0" err="1">
                <a:solidFill>
                  <a:srgbClr val="00070F"/>
                </a:solidFill>
                <a:latin typeface="Noto Sans" pitchFamily="34" charset="0"/>
                <a:ea typeface="Noto Sans" pitchFamily="34" charset="-122"/>
                <a:cs typeface="Noto Sans" pitchFamily="34" charset="-120"/>
              </a:rPr>
              <a:t>biến</a:t>
            </a:r>
            <a:r>
              <a:rPr lang="en-US" sz="1008" dirty="0">
                <a:solidFill>
                  <a:srgbClr val="00070F"/>
                </a:solidFill>
                <a:latin typeface="Noto Sans" pitchFamily="34" charset="0"/>
                <a:ea typeface="Noto Sans" pitchFamily="34" charset="-122"/>
                <a:cs typeface="Noto Sans" pitchFamily="34" charset="-120"/>
              </a:rPr>
              <a:t> </a:t>
            </a:r>
            <a:r>
              <a:rPr lang="en-US" sz="1008" dirty="0" err="1">
                <a:solidFill>
                  <a:srgbClr val="00070F"/>
                </a:solidFill>
                <a:latin typeface="Noto Sans" pitchFamily="34" charset="0"/>
                <a:ea typeface="Noto Sans" pitchFamily="34" charset="-122"/>
                <a:cs typeface="Noto Sans" pitchFamily="34" charset="-120"/>
              </a:rPr>
              <a:t>gồm</a:t>
            </a:r>
            <a:r>
              <a:rPr lang="en-US" sz="1008" dirty="0">
                <a:solidFill>
                  <a:srgbClr val="00070F"/>
                </a:solidFill>
                <a:latin typeface="Noto Sans" pitchFamily="34" charset="0"/>
                <a:ea typeface="Noto Sans" pitchFamily="34" charset="-122"/>
                <a:cs typeface="Noto Sans" pitchFamily="34" charset="-120"/>
              </a:rPr>
              <a:t> </a:t>
            </a:r>
            <a:r>
              <a:rPr lang="en-US" sz="1008" dirty="0" err="1">
                <a:solidFill>
                  <a:srgbClr val="00070F"/>
                </a:solidFill>
                <a:latin typeface="Noto Sans" pitchFamily="34" charset="0"/>
                <a:ea typeface="Noto Sans" pitchFamily="34" charset="-122"/>
                <a:cs typeface="Noto Sans" pitchFamily="34" charset="-120"/>
              </a:rPr>
              <a:t>IndexBinaryFlat</a:t>
            </a:r>
            <a:r>
              <a:rPr lang="en-US" sz="1008" dirty="0">
                <a:solidFill>
                  <a:srgbClr val="00070F"/>
                </a:solidFill>
                <a:latin typeface="Noto Sans" pitchFamily="34" charset="0"/>
                <a:ea typeface="Noto Sans" pitchFamily="34" charset="-122"/>
                <a:cs typeface="Noto Sans" pitchFamily="34" charset="-120"/>
              </a:rPr>
              <a:t>, </a:t>
            </a:r>
            <a:r>
              <a:rPr lang="en-US" sz="1008" dirty="0" err="1">
                <a:solidFill>
                  <a:srgbClr val="00070F"/>
                </a:solidFill>
                <a:latin typeface="Noto Sans" pitchFamily="34" charset="0"/>
                <a:ea typeface="Noto Sans" pitchFamily="34" charset="-122"/>
                <a:cs typeface="Noto Sans" pitchFamily="34" charset="-120"/>
              </a:rPr>
              <a:t>IndexBinaryIVF</a:t>
            </a:r>
            <a:r>
              <a:rPr lang="en-US" sz="1008" dirty="0">
                <a:solidFill>
                  <a:srgbClr val="00070F"/>
                </a:solidFill>
                <a:latin typeface="Noto Sans" pitchFamily="34" charset="0"/>
                <a:ea typeface="Noto Sans" pitchFamily="34" charset="-122"/>
                <a:cs typeface="Noto Sans" pitchFamily="34" charset="-120"/>
              </a:rPr>
              <a:t>, </a:t>
            </a:r>
            <a:r>
              <a:rPr lang="en-US" sz="1008" dirty="0" err="1">
                <a:solidFill>
                  <a:srgbClr val="00070F"/>
                </a:solidFill>
                <a:latin typeface="Noto Sans" pitchFamily="34" charset="0"/>
                <a:ea typeface="Noto Sans" pitchFamily="34" charset="-122"/>
                <a:cs typeface="Noto Sans" pitchFamily="34" charset="-120"/>
              </a:rPr>
              <a:t>IndexBinaryHNSW</a:t>
            </a:r>
            <a:r>
              <a:rPr lang="en-US" sz="1008" dirty="0">
                <a:solidFill>
                  <a:srgbClr val="00070F"/>
                </a:solidFill>
                <a:latin typeface="Noto Sans" pitchFamily="34" charset="0"/>
                <a:ea typeface="Noto Sans" pitchFamily="34" charset="-122"/>
                <a:cs typeface="Noto Sans" pitchFamily="34" charset="-120"/>
              </a:rPr>
              <a:t> </a:t>
            </a:r>
            <a:r>
              <a:rPr lang="en-US" sz="1008" dirty="0" err="1">
                <a:solidFill>
                  <a:srgbClr val="00070F"/>
                </a:solidFill>
                <a:latin typeface="Noto Sans" pitchFamily="34" charset="0"/>
                <a:ea typeface="Noto Sans" pitchFamily="34" charset="-122"/>
                <a:cs typeface="Noto Sans" pitchFamily="34" charset="-120"/>
              </a:rPr>
              <a:t>và</a:t>
            </a:r>
            <a:r>
              <a:rPr lang="en-US" sz="1008" dirty="0">
                <a:solidFill>
                  <a:srgbClr val="00070F"/>
                </a:solidFill>
                <a:latin typeface="Noto Sans" pitchFamily="34" charset="0"/>
                <a:ea typeface="Noto Sans" pitchFamily="34" charset="-122"/>
                <a:cs typeface="Noto Sans" pitchFamily="34" charset="-120"/>
              </a:rPr>
              <a:t> </a:t>
            </a:r>
            <a:r>
              <a:rPr lang="en-US" sz="1008" dirty="0" err="1">
                <a:solidFill>
                  <a:srgbClr val="00070F"/>
                </a:solidFill>
                <a:latin typeface="Noto Sans" pitchFamily="34" charset="0"/>
                <a:ea typeface="Noto Sans" pitchFamily="34" charset="-122"/>
                <a:cs typeface="Noto Sans" pitchFamily="34" charset="-120"/>
              </a:rPr>
              <a:t>IndexBinaryHash</a:t>
            </a:r>
            <a:r>
              <a:rPr lang="en-US" sz="1008" dirty="0">
                <a:solidFill>
                  <a:srgbClr val="00070F"/>
                </a:solidFill>
                <a:latin typeface="Noto Sans" pitchFamily="34" charset="0"/>
                <a:ea typeface="Noto Sans" pitchFamily="34" charset="-122"/>
                <a:cs typeface="Noto Sans" pitchFamily="34" charset="-120"/>
              </a:rPr>
              <a:t>, </a:t>
            </a:r>
            <a:r>
              <a:rPr lang="en-US" sz="1008" dirty="0" err="1">
                <a:solidFill>
                  <a:srgbClr val="00070F"/>
                </a:solidFill>
                <a:latin typeface="Noto Sans" pitchFamily="34" charset="0"/>
                <a:ea typeface="Noto Sans" pitchFamily="34" charset="-122"/>
                <a:cs typeface="Noto Sans" pitchFamily="34" charset="-120"/>
              </a:rPr>
              <a:t>mỗi</a:t>
            </a:r>
            <a:r>
              <a:rPr lang="en-US" sz="1008" dirty="0">
                <a:solidFill>
                  <a:srgbClr val="00070F"/>
                </a:solidFill>
                <a:latin typeface="Noto Sans" pitchFamily="34" charset="0"/>
                <a:ea typeface="Noto Sans" pitchFamily="34" charset="-122"/>
                <a:cs typeface="Noto Sans" pitchFamily="34" charset="-120"/>
              </a:rPr>
              <a:t> </a:t>
            </a:r>
            <a:r>
              <a:rPr lang="en-US" sz="1008" dirty="0" err="1">
                <a:solidFill>
                  <a:srgbClr val="00070F"/>
                </a:solidFill>
                <a:latin typeface="Noto Sans" pitchFamily="34" charset="0"/>
                <a:ea typeface="Noto Sans" pitchFamily="34" charset="-122"/>
                <a:cs typeface="Noto Sans" pitchFamily="34" charset="-120"/>
              </a:rPr>
              <a:t>loại</a:t>
            </a:r>
            <a:r>
              <a:rPr lang="en-US" sz="1008" dirty="0">
                <a:solidFill>
                  <a:srgbClr val="00070F"/>
                </a:solidFill>
                <a:latin typeface="Noto Sans" pitchFamily="34" charset="0"/>
                <a:ea typeface="Noto Sans" pitchFamily="34" charset="-122"/>
                <a:cs typeface="Noto Sans" pitchFamily="34" charset="-120"/>
              </a:rPr>
              <a:t> </a:t>
            </a:r>
            <a:r>
              <a:rPr lang="en-US" sz="1008" dirty="0" err="1">
                <a:solidFill>
                  <a:srgbClr val="00070F"/>
                </a:solidFill>
                <a:latin typeface="Noto Sans" pitchFamily="34" charset="0"/>
                <a:ea typeface="Noto Sans" pitchFamily="34" charset="-122"/>
                <a:cs typeface="Noto Sans" pitchFamily="34" charset="-120"/>
              </a:rPr>
              <a:t>phục</a:t>
            </a:r>
            <a:r>
              <a:rPr lang="en-US" sz="1008" dirty="0">
                <a:solidFill>
                  <a:srgbClr val="00070F"/>
                </a:solidFill>
                <a:latin typeface="Noto Sans" pitchFamily="34" charset="0"/>
                <a:ea typeface="Noto Sans" pitchFamily="34" charset="-122"/>
                <a:cs typeface="Noto Sans" pitchFamily="34" charset="-120"/>
              </a:rPr>
              <a:t> </a:t>
            </a:r>
            <a:r>
              <a:rPr lang="en-US" sz="1008" dirty="0" err="1">
                <a:solidFill>
                  <a:srgbClr val="00070F"/>
                </a:solidFill>
                <a:latin typeface="Noto Sans" pitchFamily="34" charset="0"/>
                <a:ea typeface="Noto Sans" pitchFamily="34" charset="-122"/>
                <a:cs typeface="Noto Sans" pitchFamily="34" charset="-120"/>
              </a:rPr>
              <a:t>vụ</a:t>
            </a:r>
            <a:r>
              <a:rPr lang="en-US" sz="1008" dirty="0">
                <a:solidFill>
                  <a:srgbClr val="00070F"/>
                </a:solidFill>
                <a:latin typeface="Noto Sans" pitchFamily="34" charset="0"/>
                <a:ea typeface="Noto Sans" pitchFamily="34" charset="-122"/>
                <a:cs typeface="Noto Sans" pitchFamily="34" charset="-120"/>
              </a:rPr>
              <a:t> </a:t>
            </a:r>
            <a:r>
              <a:rPr lang="en-US" sz="1008" dirty="0" err="1">
                <a:solidFill>
                  <a:srgbClr val="00070F"/>
                </a:solidFill>
                <a:latin typeface="Noto Sans" pitchFamily="34" charset="0"/>
                <a:ea typeface="Noto Sans" pitchFamily="34" charset="-122"/>
                <a:cs typeface="Noto Sans" pitchFamily="34" charset="-120"/>
              </a:rPr>
              <a:t>mục</a:t>
            </a:r>
            <a:r>
              <a:rPr lang="en-US" sz="1008" dirty="0">
                <a:solidFill>
                  <a:srgbClr val="00070F"/>
                </a:solidFill>
                <a:latin typeface="Noto Sans" pitchFamily="34" charset="0"/>
                <a:ea typeface="Noto Sans" pitchFamily="34" charset="-122"/>
                <a:cs typeface="Noto Sans" pitchFamily="34" charset="-120"/>
              </a:rPr>
              <a:t> </a:t>
            </a:r>
            <a:r>
              <a:rPr lang="en-US" sz="1008" dirty="0" err="1">
                <a:solidFill>
                  <a:srgbClr val="00070F"/>
                </a:solidFill>
                <a:latin typeface="Noto Sans" pitchFamily="34" charset="0"/>
                <a:ea typeface="Noto Sans" pitchFamily="34" charset="-122"/>
                <a:cs typeface="Noto Sans" pitchFamily="34" charset="-120"/>
              </a:rPr>
              <a:t>đích</a:t>
            </a:r>
            <a:r>
              <a:rPr lang="en-US" sz="1008" dirty="0">
                <a:solidFill>
                  <a:srgbClr val="00070F"/>
                </a:solidFill>
                <a:latin typeface="Noto Sans" pitchFamily="34" charset="0"/>
                <a:ea typeface="Noto Sans" pitchFamily="34" charset="-122"/>
                <a:cs typeface="Noto Sans" pitchFamily="34" charset="-120"/>
              </a:rPr>
              <a:t> </a:t>
            </a:r>
            <a:r>
              <a:rPr lang="en-US" sz="1008" dirty="0" err="1">
                <a:solidFill>
                  <a:srgbClr val="00070F"/>
                </a:solidFill>
                <a:latin typeface="Noto Sans" pitchFamily="34" charset="0"/>
                <a:ea typeface="Noto Sans" pitchFamily="34" charset="-122"/>
                <a:cs typeface="Noto Sans" pitchFamily="34" charset="-120"/>
              </a:rPr>
              <a:t>riêng</a:t>
            </a:r>
            <a:r>
              <a:rPr lang="en-US" sz="1008" dirty="0">
                <a:solidFill>
                  <a:srgbClr val="00070F"/>
                </a:solidFill>
                <a:latin typeface="Noto Sans" pitchFamily="34" charset="0"/>
                <a:ea typeface="Noto Sans" pitchFamily="34" charset="-122"/>
                <a:cs typeface="Noto Sans" pitchFamily="34" charset="-120"/>
              </a:rPr>
              <a:t> </a:t>
            </a:r>
            <a:r>
              <a:rPr lang="en-US" sz="1008" dirty="0" err="1">
                <a:solidFill>
                  <a:srgbClr val="00070F"/>
                </a:solidFill>
                <a:latin typeface="Noto Sans" pitchFamily="34" charset="0"/>
                <a:ea typeface="Noto Sans" pitchFamily="34" charset="-122"/>
                <a:cs typeface="Noto Sans" pitchFamily="34" charset="-120"/>
              </a:rPr>
              <a:t>biệt</a:t>
            </a:r>
            <a:r>
              <a:rPr lang="en-US" sz="1008" dirty="0">
                <a:solidFill>
                  <a:srgbClr val="00070F"/>
                </a:solidFill>
                <a:latin typeface="Noto Sans" pitchFamily="34" charset="0"/>
                <a:ea typeface="Noto Sans" pitchFamily="34" charset="-122"/>
                <a:cs typeface="Noto Sans" pitchFamily="34" charset="-120"/>
              </a:rPr>
              <a:t>.​</a:t>
            </a:r>
            <a:endParaRPr lang="en-US" sz="1440" dirty="0"/>
          </a:p>
        </p:txBody>
      </p:sp>
      <p:pic>
        <p:nvPicPr>
          <p:cNvPr id="15" name="Image 4" descr="preencoded.png">
            <a:extLst>
              <a:ext uri="{FF2B5EF4-FFF2-40B4-BE49-F238E27FC236}">
                <a16:creationId xmlns:a16="http://schemas.microsoft.com/office/drawing/2014/main" id="{8AE82CF6-88B7-2476-0496-EF38BFF53CB3}"/>
              </a:ext>
            </a:extLst>
          </p:cNvPr>
          <p:cNvPicPr>
            <a:picLocks noChangeAspect="1"/>
          </p:cNvPicPr>
          <p:nvPr/>
        </p:nvPicPr>
        <p:blipFill>
          <a:blip r:embed="rId8"/>
          <a:stretch>
            <a:fillRect/>
          </a:stretch>
        </p:blipFill>
        <p:spPr>
          <a:xfrm>
            <a:off x="6206761" y="968786"/>
            <a:ext cx="2624757" cy="3739040"/>
          </a:xfrm>
          <a:prstGeom prst="rect">
            <a:avLst/>
          </a:prstGeom>
        </p:spPr>
      </p:pic>
      <p:sp>
        <p:nvSpPr>
          <p:cNvPr id="16" name="Shape 9">
            <a:extLst>
              <a:ext uri="{FF2B5EF4-FFF2-40B4-BE49-F238E27FC236}">
                <a16:creationId xmlns:a16="http://schemas.microsoft.com/office/drawing/2014/main" id="{CE4CE711-95C2-E6C2-3F6D-BB43056596ED}"/>
              </a:ext>
            </a:extLst>
          </p:cNvPr>
          <p:cNvSpPr/>
          <p:nvPr/>
        </p:nvSpPr>
        <p:spPr>
          <a:xfrm>
            <a:off x="6842213" y="1906662"/>
            <a:ext cx="1249869" cy="0"/>
          </a:xfrm>
          <a:custGeom>
            <a:avLst/>
            <a:gdLst/>
            <a:ahLst/>
            <a:cxnLst/>
            <a:rect l="l" t="t" r="r" b="b"/>
            <a:pathLst>
              <a:path w="1249869">
                <a:moveTo>
                  <a:pt x="0" y="0"/>
                </a:moveTo>
                <a:moveTo>
                  <a:pt x="0" y="0"/>
                </a:moveTo>
                <a:lnTo>
                  <a:pt x="1249869" y="0"/>
                </a:lnTo>
              </a:path>
            </a:pathLst>
          </a:custGeom>
          <a:noFill/>
          <a:ln w="10317">
            <a:solidFill>
              <a:srgbClr val="FFFFFF">
                <a:alpha val="47843"/>
              </a:srgbClr>
            </a:solidFill>
            <a:prstDash val="solid"/>
            <a:headEnd type="none"/>
            <a:tailEnd type="none"/>
          </a:ln>
        </p:spPr>
        <p:txBody>
          <a:bodyPr/>
          <a:lstStyle/>
          <a:p>
            <a:endParaRPr lang="en-US"/>
          </a:p>
        </p:txBody>
      </p:sp>
      <p:pic>
        <p:nvPicPr>
          <p:cNvPr id="18" name="Image 5" descr="preencoded.png">
            <a:extLst>
              <a:ext uri="{FF2B5EF4-FFF2-40B4-BE49-F238E27FC236}">
                <a16:creationId xmlns:a16="http://schemas.microsoft.com/office/drawing/2014/main" id="{E1F7138E-44E1-EE2E-89BF-BD18FA8788AB}"/>
              </a:ext>
            </a:extLst>
          </p:cNvPr>
          <p:cNvPicPr>
            <a:picLocks noChangeAspect="1"/>
          </p:cNvPicPr>
          <p:nvPr/>
        </p:nvPicPr>
        <p:blipFill>
          <a:blip r:embed="rId9"/>
          <a:stretch>
            <a:fillRect/>
          </a:stretch>
        </p:blipFill>
        <p:spPr>
          <a:xfrm>
            <a:off x="7296283" y="3804100"/>
            <a:ext cx="445713" cy="435809"/>
          </a:xfrm>
          <a:prstGeom prst="rect">
            <a:avLst/>
          </a:prstGeom>
        </p:spPr>
      </p:pic>
      <p:sp>
        <p:nvSpPr>
          <p:cNvPr id="19" name="Text 11">
            <a:extLst>
              <a:ext uri="{FF2B5EF4-FFF2-40B4-BE49-F238E27FC236}">
                <a16:creationId xmlns:a16="http://schemas.microsoft.com/office/drawing/2014/main" id="{667A8689-A6D1-46EC-81BE-0288443988FD}"/>
              </a:ext>
            </a:extLst>
          </p:cNvPr>
          <p:cNvSpPr/>
          <p:nvPr/>
        </p:nvSpPr>
        <p:spPr>
          <a:xfrm>
            <a:off x="6275061" y="1370658"/>
            <a:ext cx="2488158" cy="406094"/>
          </a:xfrm>
          <a:prstGeom prst="rect">
            <a:avLst/>
          </a:prstGeom>
          <a:noFill/>
          <a:ln/>
        </p:spPr>
        <p:txBody>
          <a:bodyPr wrap="square" lIns="95250" tIns="95250" rIns="95250" bIns="95250" rtlCol="0" anchor="ctr"/>
          <a:lstStyle/>
          <a:p>
            <a:pPr marL="0" indent="0" algn="ctr">
              <a:lnSpc>
                <a:spcPct val="100000"/>
              </a:lnSpc>
              <a:spcBef>
                <a:spcPts val="375"/>
              </a:spcBef>
              <a:buNone/>
            </a:pPr>
            <a:r>
              <a:rPr lang="en-US" sz="1296" b="1" dirty="0">
                <a:solidFill>
                  <a:srgbClr val="FFFFFF"/>
                </a:solidFill>
                <a:latin typeface="Noto Sans" pitchFamily="34" charset="0"/>
                <a:ea typeface="Noto Sans" pitchFamily="34" charset="-122"/>
                <a:cs typeface="Noto Sans" pitchFamily="34" charset="-120"/>
              </a:rPr>
              <a:t>Lợi </a:t>
            </a:r>
            <a:r>
              <a:rPr lang="en-US" sz="1296" b="1" dirty="0" err="1">
                <a:solidFill>
                  <a:srgbClr val="FFFFFF"/>
                </a:solidFill>
                <a:latin typeface="Noto Sans" pitchFamily="34" charset="0"/>
                <a:ea typeface="Noto Sans" pitchFamily="34" charset="-122"/>
                <a:cs typeface="Noto Sans" pitchFamily="34" charset="-120"/>
              </a:rPr>
              <a:t>ích</a:t>
            </a:r>
            <a:r>
              <a:rPr lang="en-US" sz="1296" b="1" dirty="0">
                <a:solidFill>
                  <a:srgbClr val="FFFFFF"/>
                </a:solidFill>
                <a:latin typeface="Noto Sans" pitchFamily="34" charset="0"/>
                <a:ea typeface="Noto Sans" pitchFamily="34" charset="-122"/>
                <a:cs typeface="Noto Sans" pitchFamily="34" charset="-120"/>
              </a:rPr>
              <a:t> </a:t>
            </a:r>
            <a:r>
              <a:rPr lang="en-US" sz="1296" b="1" dirty="0" err="1">
                <a:solidFill>
                  <a:srgbClr val="FFFFFF"/>
                </a:solidFill>
                <a:latin typeface="Noto Sans" pitchFamily="34" charset="0"/>
                <a:ea typeface="Noto Sans" pitchFamily="34" charset="-122"/>
                <a:cs typeface="Noto Sans" pitchFamily="34" charset="-120"/>
              </a:rPr>
              <a:t>sử</a:t>
            </a:r>
            <a:r>
              <a:rPr lang="en-US" sz="1296" b="1" dirty="0">
                <a:solidFill>
                  <a:srgbClr val="FFFFFF"/>
                </a:solidFill>
                <a:latin typeface="Noto Sans" pitchFamily="34" charset="0"/>
                <a:ea typeface="Noto Sans" pitchFamily="34" charset="-122"/>
                <a:cs typeface="Noto Sans" pitchFamily="34" charset="-120"/>
              </a:rPr>
              <a:t> </a:t>
            </a:r>
            <a:r>
              <a:rPr lang="en-US" sz="1296" b="1" dirty="0" err="1">
                <a:solidFill>
                  <a:srgbClr val="FFFFFF"/>
                </a:solidFill>
                <a:latin typeface="Noto Sans" pitchFamily="34" charset="0"/>
                <a:ea typeface="Noto Sans" pitchFamily="34" charset="-122"/>
                <a:cs typeface="Noto Sans" pitchFamily="34" charset="-120"/>
              </a:rPr>
              <a:t>dụng</a:t>
            </a:r>
            <a:r>
              <a:rPr lang="en-US" sz="1296" b="1" dirty="0">
                <a:solidFill>
                  <a:srgbClr val="FFFFFF"/>
                </a:solidFill>
                <a:latin typeface="Noto Sans" pitchFamily="34" charset="0"/>
                <a:ea typeface="Noto Sans" pitchFamily="34" charset="-122"/>
                <a:cs typeface="Noto Sans" pitchFamily="34" charset="-120"/>
              </a:rPr>
              <a:t> Index </a:t>
            </a:r>
            <a:r>
              <a:rPr lang="en-US" sz="1296" b="1" dirty="0" err="1">
                <a:solidFill>
                  <a:srgbClr val="FFFFFF"/>
                </a:solidFill>
                <a:latin typeface="Noto Sans" pitchFamily="34" charset="0"/>
                <a:ea typeface="Noto Sans" pitchFamily="34" charset="-122"/>
                <a:cs typeface="Noto Sans" pitchFamily="34" charset="-120"/>
              </a:rPr>
              <a:t>nhị</a:t>
            </a:r>
            <a:r>
              <a:rPr lang="en-US" sz="1296" b="1" dirty="0">
                <a:solidFill>
                  <a:srgbClr val="FFFFFF"/>
                </a:solidFill>
                <a:latin typeface="Noto Sans" pitchFamily="34" charset="0"/>
                <a:ea typeface="Noto Sans" pitchFamily="34" charset="-122"/>
                <a:cs typeface="Noto Sans" pitchFamily="34" charset="-120"/>
              </a:rPr>
              <a:t> </a:t>
            </a:r>
            <a:r>
              <a:rPr lang="en-US" sz="1296" b="1" dirty="0" err="1">
                <a:solidFill>
                  <a:srgbClr val="FFFFFF"/>
                </a:solidFill>
                <a:latin typeface="Noto Sans" pitchFamily="34" charset="0"/>
                <a:ea typeface="Noto Sans" pitchFamily="34" charset="-122"/>
                <a:cs typeface="Noto Sans" pitchFamily="34" charset="-120"/>
              </a:rPr>
              <a:t>phân</a:t>
            </a:r>
            <a:r>
              <a:rPr lang="en-US" sz="1296" b="1" dirty="0">
                <a:solidFill>
                  <a:srgbClr val="FFFFFF"/>
                </a:solidFill>
                <a:latin typeface="Noto Sans" pitchFamily="34" charset="0"/>
                <a:ea typeface="Noto Sans" pitchFamily="34" charset="-122"/>
                <a:cs typeface="Noto Sans" pitchFamily="34" charset="-120"/>
              </a:rPr>
              <a:t>​</a:t>
            </a:r>
            <a:endParaRPr lang="en-US" sz="1440" dirty="0"/>
          </a:p>
        </p:txBody>
      </p:sp>
      <p:sp>
        <p:nvSpPr>
          <p:cNvPr id="20" name="Text 12">
            <a:extLst>
              <a:ext uri="{FF2B5EF4-FFF2-40B4-BE49-F238E27FC236}">
                <a16:creationId xmlns:a16="http://schemas.microsoft.com/office/drawing/2014/main" id="{C8E88888-EB4C-C44F-927A-5E2C9BDEA910}"/>
              </a:ext>
            </a:extLst>
          </p:cNvPr>
          <p:cNvSpPr/>
          <p:nvPr/>
        </p:nvSpPr>
        <p:spPr>
          <a:xfrm>
            <a:off x="6364247" y="1990650"/>
            <a:ext cx="2309786" cy="967894"/>
          </a:xfrm>
          <a:prstGeom prst="rect">
            <a:avLst/>
          </a:prstGeom>
          <a:noFill/>
          <a:ln/>
        </p:spPr>
        <p:txBody>
          <a:bodyPr wrap="square" lIns="95250" tIns="95250" rIns="95250" bIns="95250" rtlCol="0" anchor="t">
            <a:spAutoFit/>
          </a:bodyPr>
          <a:lstStyle/>
          <a:p>
            <a:pPr marL="0" indent="0" algn="ctr">
              <a:lnSpc>
                <a:spcPct val="100000"/>
              </a:lnSpc>
              <a:spcBef>
                <a:spcPts val="375"/>
              </a:spcBef>
              <a:buNone/>
            </a:pPr>
            <a:r>
              <a:rPr lang="vi-VN" sz="1008" dirty="0">
                <a:solidFill>
                  <a:srgbClr val="FFFFFF"/>
                </a:solidFill>
                <a:latin typeface="Noto Sans" pitchFamily="34" charset="0"/>
                <a:ea typeface="Noto Sans" pitchFamily="34" charset="-122"/>
                <a:cs typeface="Noto Sans" pitchFamily="34" charset="-120"/>
              </a:rPr>
              <a:t>Index nhị phân giúp giảm bộ nhớ sử dụng và tăng tốc độ truy vấn, phù hợp với xử lý dữ liệu lớn như nhận diện khuôn mặt và tìm kiếm văn bản.​</a:t>
            </a:r>
            <a:endParaRPr lang="en-US" sz="1440" dirty="0"/>
          </a:p>
        </p:txBody>
      </p:sp>
    </p:spTree>
    <p:extLst>
      <p:ext uri="{BB962C8B-B14F-4D97-AF65-F5344CB8AC3E}">
        <p14:creationId xmlns:p14="http://schemas.microsoft.com/office/powerpoint/2010/main" val="8380029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853FE1C4-295C-735C-82A3-AB004B672D0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C25CBA9-4FA2-731D-1F32-275AF8CBE3FD}"/>
              </a:ext>
            </a:extLst>
          </p:cNvPr>
          <p:cNvSpPr/>
          <p:nvPr/>
        </p:nvSpPr>
        <p:spPr>
          <a:xfrm>
            <a:off x="6623205" y="1041171"/>
            <a:ext cx="2140946" cy="1610313"/>
          </a:xfrm>
          <a:prstGeom prst="rect">
            <a:avLst/>
          </a:prstGeom>
          <a:noFill/>
          <a:ln/>
        </p:spPr>
        <p:txBody>
          <a:bodyPr wrap="square" lIns="95250" tIns="95250" rIns="95250" bIns="95250" rtlCol="0" anchor="t">
            <a:spAutoFit/>
          </a:bodyPr>
          <a:lstStyle/>
          <a:p>
            <a:pPr marL="0" indent="0" algn="ctr">
              <a:lnSpc>
                <a:spcPct val="112500"/>
              </a:lnSpc>
              <a:spcBef>
                <a:spcPts val="375"/>
              </a:spcBef>
              <a:buNone/>
            </a:pPr>
            <a:r>
              <a:rPr lang="en-US" sz="8640" b="1" dirty="0">
                <a:solidFill>
                  <a:srgbClr val="2B76FD">
                    <a:alpha val="60000"/>
                  </a:srgbClr>
                </a:solidFill>
                <a:latin typeface="Noto Sans" pitchFamily="34" charset="0"/>
                <a:ea typeface="Noto Sans" pitchFamily="34" charset="-122"/>
                <a:cs typeface="Noto Sans" pitchFamily="34" charset="-120"/>
              </a:rPr>
              <a:t>05</a:t>
            </a:r>
            <a:endParaRPr lang="en-US" sz="1440" dirty="0"/>
          </a:p>
        </p:txBody>
      </p:sp>
      <p:sp>
        <p:nvSpPr>
          <p:cNvPr id="3" name="Text 1">
            <a:extLst>
              <a:ext uri="{FF2B5EF4-FFF2-40B4-BE49-F238E27FC236}">
                <a16:creationId xmlns:a16="http://schemas.microsoft.com/office/drawing/2014/main" id="{F9C02257-C6BE-DAAB-BFFF-8284B458D406}"/>
              </a:ext>
            </a:extLst>
          </p:cNvPr>
          <p:cNvSpPr/>
          <p:nvPr/>
        </p:nvSpPr>
        <p:spPr>
          <a:xfrm>
            <a:off x="3685822" y="2591079"/>
            <a:ext cx="4758292" cy="1130053"/>
          </a:xfrm>
          <a:prstGeom prst="rect">
            <a:avLst/>
          </a:prstGeom>
          <a:noFill/>
          <a:ln/>
        </p:spPr>
        <p:txBody>
          <a:bodyPr wrap="square" lIns="95250" tIns="95250" rIns="95250" bIns="95250" rtlCol="0" anchor="t">
            <a:spAutoFit/>
          </a:bodyPr>
          <a:lstStyle/>
          <a:p>
            <a:pPr marL="0" indent="0" algn="ctr">
              <a:lnSpc>
                <a:spcPct val="100000"/>
              </a:lnSpc>
              <a:spcBef>
                <a:spcPts val="375"/>
              </a:spcBef>
              <a:buNone/>
            </a:pPr>
            <a:r>
              <a:rPr lang="fr-FR" sz="2880" b="1" dirty="0" err="1">
                <a:solidFill>
                  <a:srgbClr val="2B76FD"/>
                </a:solidFill>
                <a:latin typeface="Noto Sans" pitchFamily="34" charset="0"/>
                <a:ea typeface="Noto Sans" pitchFamily="34" charset="-122"/>
                <a:cs typeface="Noto Sans" pitchFamily="34" charset="-120"/>
              </a:rPr>
              <a:t>Tìm</a:t>
            </a:r>
            <a:r>
              <a:rPr lang="fr-FR" sz="2880" b="1" dirty="0">
                <a:solidFill>
                  <a:srgbClr val="2B76FD"/>
                </a:solidFill>
                <a:latin typeface="Noto Sans" pitchFamily="34" charset="0"/>
                <a:ea typeface="Noto Sans" pitchFamily="34" charset="-122"/>
                <a:cs typeface="Noto Sans" pitchFamily="34" charset="-120"/>
              </a:rPr>
              <a:t> </a:t>
            </a:r>
            <a:r>
              <a:rPr lang="fr-FR" sz="2880" b="1" dirty="0" err="1">
                <a:solidFill>
                  <a:srgbClr val="2B76FD"/>
                </a:solidFill>
                <a:latin typeface="Noto Sans" pitchFamily="34" charset="0"/>
                <a:ea typeface="Noto Sans" pitchFamily="34" charset="-122"/>
                <a:cs typeface="Noto Sans" pitchFamily="34" charset="-120"/>
              </a:rPr>
              <a:t>kiếm</a:t>
            </a:r>
            <a:r>
              <a:rPr lang="fr-FR" sz="2880" b="1" dirty="0">
                <a:solidFill>
                  <a:srgbClr val="2B76FD"/>
                </a:solidFill>
                <a:latin typeface="Noto Sans" pitchFamily="34" charset="0"/>
                <a:ea typeface="Noto Sans" pitchFamily="34" charset="-122"/>
                <a:cs typeface="Noto Sans" pitchFamily="34" charset="-120"/>
              </a:rPr>
              <a:t> </a:t>
            </a:r>
            <a:r>
              <a:rPr lang="fr-FR" sz="2880" b="1" dirty="0" err="1">
                <a:solidFill>
                  <a:srgbClr val="2B76FD"/>
                </a:solidFill>
                <a:latin typeface="Noto Sans" pitchFamily="34" charset="0"/>
                <a:ea typeface="Noto Sans" pitchFamily="34" charset="-122"/>
                <a:cs typeface="Noto Sans" pitchFamily="34" charset="-120"/>
              </a:rPr>
              <a:t>không</a:t>
            </a:r>
            <a:r>
              <a:rPr lang="fr-FR" sz="2880" b="1" dirty="0">
                <a:solidFill>
                  <a:srgbClr val="2B76FD"/>
                </a:solidFill>
                <a:latin typeface="Noto Sans" pitchFamily="34" charset="0"/>
                <a:ea typeface="Noto Sans" pitchFamily="34" charset="-122"/>
                <a:cs typeface="Noto Sans" pitchFamily="34" charset="-120"/>
              </a:rPr>
              <a:t> </a:t>
            </a:r>
            <a:r>
              <a:rPr lang="fr-FR" sz="2880" b="1" dirty="0" err="1">
                <a:solidFill>
                  <a:srgbClr val="2B76FD"/>
                </a:solidFill>
                <a:latin typeface="Noto Sans" pitchFamily="34" charset="0"/>
                <a:ea typeface="Noto Sans" pitchFamily="34" charset="-122"/>
                <a:cs typeface="Noto Sans" pitchFamily="34" charset="-120"/>
              </a:rPr>
              <a:t>Vét</a:t>
            </a:r>
            <a:r>
              <a:rPr lang="fr-FR" sz="2880" b="1" dirty="0">
                <a:solidFill>
                  <a:srgbClr val="2B76FD"/>
                </a:solidFill>
                <a:latin typeface="Noto Sans" pitchFamily="34" charset="0"/>
                <a:ea typeface="Noto Sans" pitchFamily="34" charset="-122"/>
                <a:cs typeface="Noto Sans" pitchFamily="34" charset="-120"/>
              </a:rPr>
              <a:t> </a:t>
            </a:r>
            <a:r>
              <a:rPr lang="fr-FR" sz="2880" b="1" dirty="0" err="1">
                <a:solidFill>
                  <a:srgbClr val="2B76FD"/>
                </a:solidFill>
                <a:latin typeface="Noto Sans" pitchFamily="34" charset="0"/>
                <a:ea typeface="Noto Sans" pitchFamily="34" charset="-122"/>
                <a:cs typeface="Noto Sans" pitchFamily="34" charset="-120"/>
              </a:rPr>
              <a:t>cạn</a:t>
            </a:r>
            <a:endParaRPr lang="fr-FR" sz="2880" b="1" dirty="0">
              <a:solidFill>
                <a:srgbClr val="2B76FD"/>
              </a:solidFill>
              <a:latin typeface="Noto Sans" pitchFamily="34" charset="0"/>
              <a:ea typeface="Noto Sans" pitchFamily="34" charset="-122"/>
              <a:cs typeface="Noto Sans" pitchFamily="34" charset="-120"/>
            </a:endParaRPr>
          </a:p>
          <a:p>
            <a:pPr marL="0" indent="0" algn="ctr">
              <a:lnSpc>
                <a:spcPct val="100000"/>
              </a:lnSpc>
              <a:spcBef>
                <a:spcPts val="375"/>
              </a:spcBef>
              <a:buNone/>
            </a:pPr>
            <a:r>
              <a:rPr lang="fr-FR" sz="2880" b="1" dirty="0">
                <a:solidFill>
                  <a:srgbClr val="2B76FD"/>
                </a:solidFill>
                <a:latin typeface="Noto Sans" pitchFamily="34" charset="0"/>
                <a:ea typeface="Noto Sans" pitchFamily="34" charset="-122"/>
                <a:cs typeface="Noto Sans" pitchFamily="34" charset="-120"/>
              </a:rPr>
              <a:t>(Non-exhaustive </a:t>
            </a:r>
            <a:r>
              <a:rPr lang="fr-FR" sz="2880" b="1" dirty="0" err="1">
                <a:solidFill>
                  <a:srgbClr val="2B76FD"/>
                </a:solidFill>
                <a:latin typeface="Noto Sans" pitchFamily="34" charset="0"/>
                <a:ea typeface="Noto Sans" pitchFamily="34" charset="-122"/>
                <a:cs typeface="Noto Sans" pitchFamily="34" charset="-120"/>
              </a:rPr>
              <a:t>Search</a:t>
            </a:r>
            <a:r>
              <a:rPr lang="fr-FR" sz="2880" b="1" dirty="0">
                <a:solidFill>
                  <a:srgbClr val="2B76FD"/>
                </a:solidFill>
                <a:latin typeface="Noto Sans" pitchFamily="34" charset="0"/>
                <a:ea typeface="Noto Sans" pitchFamily="34" charset="-122"/>
                <a:cs typeface="Noto Sans" pitchFamily="34" charset="-120"/>
              </a:rPr>
              <a:t>)​</a:t>
            </a:r>
          </a:p>
        </p:txBody>
      </p:sp>
    </p:spTree>
    <p:extLst>
      <p:ext uri="{BB962C8B-B14F-4D97-AF65-F5344CB8AC3E}">
        <p14:creationId xmlns:p14="http://schemas.microsoft.com/office/powerpoint/2010/main" val="3474983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0956071E-8061-7AD9-5ED2-B805AE4168A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62CCC342-72DE-838A-8F03-813DC6A4541A}"/>
              </a:ext>
            </a:extLst>
          </p:cNvPr>
          <p:cNvSpPr/>
          <p:nvPr/>
        </p:nvSpPr>
        <p:spPr>
          <a:xfrm>
            <a:off x="396558" y="328468"/>
            <a:ext cx="8396337" cy="546881"/>
          </a:xfrm>
          <a:prstGeom prst="rect">
            <a:avLst/>
          </a:prstGeom>
          <a:noFill/>
          <a:ln/>
        </p:spPr>
        <p:txBody>
          <a:bodyPr wrap="square" lIns="95250" tIns="95250" rIns="95250" bIns="95250" rtlCol="0" anchor="t">
            <a:spAutoFit/>
          </a:bodyPr>
          <a:lstStyle/>
          <a:p>
            <a:pPr marL="0" indent="0">
              <a:lnSpc>
                <a:spcPct val="112500"/>
              </a:lnSpc>
              <a:spcBef>
                <a:spcPts val="375"/>
              </a:spcBef>
              <a:buNone/>
            </a:pPr>
            <a:r>
              <a:rPr lang="vi-VN" sz="2160" b="1" dirty="0">
                <a:solidFill>
                  <a:srgbClr val="193AB9"/>
                </a:solidFill>
                <a:latin typeface="Noto Sans" pitchFamily="34" charset="0"/>
                <a:ea typeface="Noto Sans" pitchFamily="34" charset="-122"/>
                <a:cs typeface="Noto Sans" pitchFamily="34" charset="-120"/>
              </a:rPr>
              <a:t>Inverted</a:t>
            </a:r>
            <a:r>
              <a:rPr lang="en-US" sz="2160" b="1" dirty="0">
                <a:solidFill>
                  <a:srgbClr val="193AB9"/>
                </a:solidFill>
                <a:latin typeface="Noto Sans" pitchFamily="34" charset="0"/>
                <a:ea typeface="Noto Sans" pitchFamily="34" charset="-122"/>
                <a:cs typeface="Noto Sans" pitchFamily="34" charset="-120"/>
              </a:rPr>
              <a:t> </a:t>
            </a:r>
            <a:r>
              <a:rPr lang="vi-VN" sz="2160" b="1" dirty="0">
                <a:solidFill>
                  <a:srgbClr val="193AB9"/>
                </a:solidFill>
                <a:latin typeface="Noto Sans" pitchFamily="34" charset="0"/>
                <a:ea typeface="Noto Sans" pitchFamily="34" charset="-122"/>
                <a:cs typeface="Noto Sans" pitchFamily="34" charset="-120"/>
              </a:rPr>
              <a:t>Files (IVF)​</a:t>
            </a:r>
            <a:endParaRPr lang="en-US" sz="1440" dirty="0"/>
          </a:p>
        </p:txBody>
      </p:sp>
      <p:sp>
        <p:nvSpPr>
          <p:cNvPr id="3" name="Shape 1">
            <a:extLst>
              <a:ext uri="{FF2B5EF4-FFF2-40B4-BE49-F238E27FC236}">
                <a16:creationId xmlns:a16="http://schemas.microsoft.com/office/drawing/2014/main" id="{FD6DC795-52F5-DC85-30AD-BB267819AFF4}"/>
              </a:ext>
            </a:extLst>
          </p:cNvPr>
          <p:cNvSpPr/>
          <p:nvPr/>
        </p:nvSpPr>
        <p:spPr>
          <a:xfrm>
            <a:off x="6639960" y="1921681"/>
            <a:ext cx="2241485" cy="593993"/>
          </a:xfrm>
          <a:custGeom>
            <a:avLst/>
            <a:gdLst/>
            <a:ahLst/>
            <a:cxnLst/>
            <a:rect l="l" t="t" r="r" b="b"/>
            <a:pathLst>
              <a:path w="2241485" h="593993">
                <a:moveTo>
                  <a:pt x="0" y="0"/>
                </a:moveTo>
                <a:moveTo>
                  <a:pt x="0" y="0"/>
                </a:moveTo>
                <a:lnTo>
                  <a:pt x="2241485" y="0"/>
                </a:lnTo>
                <a:lnTo>
                  <a:pt x="2241485" y="593993"/>
                </a:lnTo>
                <a:lnTo>
                  <a:pt x="0" y="593993"/>
                </a:lnTo>
                <a:close/>
              </a:path>
            </a:pathLst>
          </a:custGeom>
          <a:solidFill>
            <a:srgbClr val="379EFC"/>
          </a:solidFill>
          <a:ln/>
        </p:spPr>
        <p:txBody>
          <a:bodyPr/>
          <a:lstStyle/>
          <a:p>
            <a:endParaRPr lang="en-US"/>
          </a:p>
        </p:txBody>
      </p:sp>
      <p:sp>
        <p:nvSpPr>
          <p:cNvPr id="4" name="Shape 2">
            <a:extLst>
              <a:ext uri="{FF2B5EF4-FFF2-40B4-BE49-F238E27FC236}">
                <a16:creationId xmlns:a16="http://schemas.microsoft.com/office/drawing/2014/main" id="{1127F826-DE5C-5C4F-5FA6-3BB361DC204A}"/>
              </a:ext>
            </a:extLst>
          </p:cNvPr>
          <p:cNvSpPr/>
          <p:nvPr/>
        </p:nvSpPr>
        <p:spPr>
          <a:xfrm>
            <a:off x="4515159" y="1624684"/>
            <a:ext cx="2241485" cy="593993"/>
          </a:xfrm>
          <a:custGeom>
            <a:avLst/>
            <a:gdLst/>
            <a:ahLst/>
            <a:cxnLst/>
            <a:rect l="l" t="t" r="r" b="b"/>
            <a:pathLst>
              <a:path w="2241485" h="593993">
                <a:moveTo>
                  <a:pt x="0" y="0"/>
                </a:moveTo>
                <a:moveTo>
                  <a:pt x="0" y="0"/>
                </a:moveTo>
                <a:lnTo>
                  <a:pt x="2241485" y="0"/>
                </a:lnTo>
                <a:lnTo>
                  <a:pt x="2241485" y="593993"/>
                </a:lnTo>
                <a:lnTo>
                  <a:pt x="0" y="593993"/>
                </a:lnTo>
                <a:close/>
              </a:path>
            </a:pathLst>
          </a:custGeom>
          <a:solidFill>
            <a:srgbClr val="2B76FD"/>
          </a:solidFill>
          <a:ln/>
        </p:spPr>
        <p:txBody>
          <a:bodyPr/>
          <a:lstStyle/>
          <a:p>
            <a:endParaRPr lang="en-US"/>
          </a:p>
        </p:txBody>
      </p:sp>
      <p:sp>
        <p:nvSpPr>
          <p:cNvPr id="5" name="Shape 3">
            <a:extLst>
              <a:ext uri="{FF2B5EF4-FFF2-40B4-BE49-F238E27FC236}">
                <a16:creationId xmlns:a16="http://schemas.microsoft.com/office/drawing/2014/main" id="{49FFB35A-43DE-8874-FD38-3E460321506A}"/>
              </a:ext>
            </a:extLst>
          </p:cNvPr>
          <p:cNvSpPr/>
          <p:nvPr/>
        </p:nvSpPr>
        <p:spPr>
          <a:xfrm>
            <a:off x="2390357" y="1327687"/>
            <a:ext cx="2241485" cy="593993"/>
          </a:xfrm>
          <a:custGeom>
            <a:avLst/>
            <a:gdLst/>
            <a:ahLst/>
            <a:cxnLst/>
            <a:rect l="l" t="t" r="r" b="b"/>
            <a:pathLst>
              <a:path w="2241485" h="593993">
                <a:moveTo>
                  <a:pt x="0" y="0"/>
                </a:moveTo>
                <a:moveTo>
                  <a:pt x="0" y="0"/>
                </a:moveTo>
                <a:lnTo>
                  <a:pt x="2241485" y="0"/>
                </a:lnTo>
                <a:lnTo>
                  <a:pt x="2241485" y="593993"/>
                </a:lnTo>
                <a:lnTo>
                  <a:pt x="0" y="593993"/>
                </a:lnTo>
                <a:close/>
              </a:path>
            </a:pathLst>
          </a:custGeom>
          <a:solidFill>
            <a:srgbClr val="379EFC"/>
          </a:solidFill>
          <a:ln/>
        </p:spPr>
        <p:txBody>
          <a:bodyPr/>
          <a:lstStyle/>
          <a:p>
            <a:endParaRPr lang="en-US"/>
          </a:p>
        </p:txBody>
      </p:sp>
      <p:sp>
        <p:nvSpPr>
          <p:cNvPr id="6" name="Shape 4">
            <a:extLst>
              <a:ext uri="{FF2B5EF4-FFF2-40B4-BE49-F238E27FC236}">
                <a16:creationId xmlns:a16="http://schemas.microsoft.com/office/drawing/2014/main" id="{5A636687-CD07-6B67-F0A6-8650A6846B2E}"/>
              </a:ext>
            </a:extLst>
          </p:cNvPr>
          <p:cNvSpPr/>
          <p:nvPr/>
        </p:nvSpPr>
        <p:spPr>
          <a:xfrm>
            <a:off x="262555" y="1097720"/>
            <a:ext cx="2241485" cy="593993"/>
          </a:xfrm>
          <a:custGeom>
            <a:avLst/>
            <a:gdLst/>
            <a:ahLst/>
            <a:cxnLst/>
            <a:rect l="l" t="t" r="r" b="b"/>
            <a:pathLst>
              <a:path w="2241485" h="593993">
                <a:moveTo>
                  <a:pt x="0" y="0"/>
                </a:moveTo>
                <a:moveTo>
                  <a:pt x="0" y="0"/>
                </a:moveTo>
                <a:lnTo>
                  <a:pt x="2241485" y="0"/>
                </a:lnTo>
                <a:lnTo>
                  <a:pt x="2241485" y="593993"/>
                </a:lnTo>
                <a:lnTo>
                  <a:pt x="0" y="593993"/>
                </a:lnTo>
                <a:close/>
              </a:path>
            </a:pathLst>
          </a:custGeom>
          <a:solidFill>
            <a:srgbClr val="2B76FD"/>
          </a:solidFill>
          <a:ln/>
        </p:spPr>
        <p:txBody>
          <a:bodyPr/>
          <a:lstStyle/>
          <a:p>
            <a:endParaRPr lang="en-US"/>
          </a:p>
        </p:txBody>
      </p:sp>
      <p:sp>
        <p:nvSpPr>
          <p:cNvPr id="7" name="Text 5">
            <a:extLst>
              <a:ext uri="{FF2B5EF4-FFF2-40B4-BE49-F238E27FC236}">
                <a16:creationId xmlns:a16="http://schemas.microsoft.com/office/drawing/2014/main" id="{9370A30F-3089-07DA-7B9D-D76BE0B0D9C4}"/>
              </a:ext>
            </a:extLst>
          </p:cNvPr>
          <p:cNvSpPr/>
          <p:nvPr/>
        </p:nvSpPr>
        <p:spPr>
          <a:xfrm>
            <a:off x="262555" y="1097720"/>
            <a:ext cx="851764" cy="566928"/>
          </a:xfrm>
          <a:prstGeom prst="rect">
            <a:avLst/>
          </a:prstGeom>
          <a:noFill/>
          <a:ln/>
        </p:spPr>
        <p:txBody>
          <a:bodyPr wrap="square" lIns="95250" tIns="95250" rIns="95250" bIns="95250" rtlCol="0" anchor="t">
            <a:spAutoFit/>
          </a:bodyPr>
          <a:lstStyle/>
          <a:p>
            <a:pPr marL="0" indent="0" algn="ctr">
              <a:lnSpc>
                <a:spcPct val="112500"/>
              </a:lnSpc>
              <a:spcBef>
                <a:spcPts val="375"/>
              </a:spcBef>
              <a:buNone/>
            </a:pPr>
            <a:r>
              <a:rPr lang="en-US" sz="2016" b="1" dirty="0">
                <a:solidFill>
                  <a:srgbClr val="FFFFFF"/>
                </a:solidFill>
                <a:latin typeface="Noto Sans" pitchFamily="34" charset="0"/>
                <a:ea typeface="Noto Sans" pitchFamily="34" charset="-122"/>
                <a:cs typeface="Noto Sans" pitchFamily="34" charset="-120"/>
              </a:rPr>
              <a:t>01</a:t>
            </a:r>
            <a:endParaRPr lang="en-US" sz="1440" dirty="0"/>
          </a:p>
        </p:txBody>
      </p:sp>
      <p:sp>
        <p:nvSpPr>
          <p:cNvPr id="8" name="Text 6">
            <a:extLst>
              <a:ext uri="{FF2B5EF4-FFF2-40B4-BE49-F238E27FC236}">
                <a16:creationId xmlns:a16="http://schemas.microsoft.com/office/drawing/2014/main" id="{E3979E81-7A1F-E401-4EA2-1AE177CB06FD}"/>
              </a:ext>
            </a:extLst>
          </p:cNvPr>
          <p:cNvSpPr/>
          <p:nvPr/>
        </p:nvSpPr>
        <p:spPr>
          <a:xfrm>
            <a:off x="2507040" y="1327992"/>
            <a:ext cx="851764" cy="566928"/>
          </a:xfrm>
          <a:prstGeom prst="rect">
            <a:avLst/>
          </a:prstGeom>
          <a:noFill/>
          <a:ln/>
        </p:spPr>
        <p:txBody>
          <a:bodyPr wrap="square" lIns="95250" tIns="95250" rIns="95250" bIns="95250" rtlCol="0" anchor="t">
            <a:spAutoFit/>
          </a:bodyPr>
          <a:lstStyle/>
          <a:p>
            <a:pPr marL="0" indent="0" algn="ctr">
              <a:lnSpc>
                <a:spcPct val="112500"/>
              </a:lnSpc>
              <a:spcBef>
                <a:spcPts val="375"/>
              </a:spcBef>
              <a:buNone/>
            </a:pPr>
            <a:r>
              <a:rPr lang="en-US" sz="2016" b="1" dirty="0">
                <a:solidFill>
                  <a:srgbClr val="FFFFFF"/>
                </a:solidFill>
                <a:latin typeface="Noto Sans" pitchFamily="34" charset="0"/>
                <a:ea typeface="Noto Sans" pitchFamily="34" charset="-122"/>
                <a:cs typeface="Noto Sans" pitchFamily="34" charset="-120"/>
              </a:rPr>
              <a:t>02</a:t>
            </a:r>
            <a:endParaRPr lang="en-US" sz="1440" dirty="0"/>
          </a:p>
        </p:txBody>
      </p:sp>
      <p:sp>
        <p:nvSpPr>
          <p:cNvPr id="9" name="Text 7">
            <a:extLst>
              <a:ext uri="{FF2B5EF4-FFF2-40B4-BE49-F238E27FC236}">
                <a16:creationId xmlns:a16="http://schemas.microsoft.com/office/drawing/2014/main" id="{E0BA6303-727C-2C88-1424-464387F5EC31}"/>
              </a:ext>
            </a:extLst>
          </p:cNvPr>
          <p:cNvSpPr/>
          <p:nvPr/>
        </p:nvSpPr>
        <p:spPr>
          <a:xfrm>
            <a:off x="4631841" y="1624836"/>
            <a:ext cx="851764" cy="566928"/>
          </a:xfrm>
          <a:prstGeom prst="rect">
            <a:avLst/>
          </a:prstGeom>
          <a:noFill/>
          <a:ln/>
        </p:spPr>
        <p:txBody>
          <a:bodyPr wrap="square" lIns="95250" tIns="95250" rIns="95250" bIns="95250" rtlCol="0" anchor="t">
            <a:spAutoFit/>
          </a:bodyPr>
          <a:lstStyle/>
          <a:p>
            <a:pPr marL="0" indent="0" algn="ctr">
              <a:lnSpc>
                <a:spcPct val="112500"/>
              </a:lnSpc>
              <a:spcBef>
                <a:spcPts val="375"/>
              </a:spcBef>
              <a:buNone/>
            </a:pPr>
            <a:r>
              <a:rPr lang="en-US" sz="2016" b="1" dirty="0">
                <a:solidFill>
                  <a:srgbClr val="FFFFFF"/>
                </a:solidFill>
                <a:latin typeface="Noto Sans" pitchFamily="34" charset="0"/>
                <a:ea typeface="Noto Sans" pitchFamily="34" charset="-122"/>
                <a:cs typeface="Noto Sans" pitchFamily="34" charset="-120"/>
              </a:rPr>
              <a:t>03</a:t>
            </a:r>
            <a:endParaRPr lang="en-US" sz="1440" dirty="0"/>
          </a:p>
        </p:txBody>
      </p:sp>
      <p:sp>
        <p:nvSpPr>
          <p:cNvPr id="10" name="Text 8">
            <a:extLst>
              <a:ext uri="{FF2B5EF4-FFF2-40B4-BE49-F238E27FC236}">
                <a16:creationId xmlns:a16="http://schemas.microsoft.com/office/drawing/2014/main" id="{501996D3-BA8B-DA69-1911-37422ADB4E23}"/>
              </a:ext>
            </a:extLst>
          </p:cNvPr>
          <p:cNvSpPr/>
          <p:nvPr/>
        </p:nvSpPr>
        <p:spPr>
          <a:xfrm>
            <a:off x="6756643" y="1921681"/>
            <a:ext cx="851764" cy="566928"/>
          </a:xfrm>
          <a:prstGeom prst="rect">
            <a:avLst/>
          </a:prstGeom>
          <a:noFill/>
          <a:ln/>
        </p:spPr>
        <p:txBody>
          <a:bodyPr wrap="square" lIns="95250" tIns="95250" rIns="95250" bIns="95250" rtlCol="0" anchor="t">
            <a:spAutoFit/>
          </a:bodyPr>
          <a:lstStyle/>
          <a:p>
            <a:pPr marL="0" indent="0" algn="ctr">
              <a:lnSpc>
                <a:spcPct val="112500"/>
              </a:lnSpc>
              <a:spcBef>
                <a:spcPts val="375"/>
              </a:spcBef>
              <a:buNone/>
            </a:pPr>
            <a:r>
              <a:rPr lang="en-US" sz="2016" b="1" dirty="0">
                <a:solidFill>
                  <a:srgbClr val="FFFFFF"/>
                </a:solidFill>
                <a:latin typeface="Noto Sans" pitchFamily="34" charset="0"/>
                <a:ea typeface="Noto Sans" pitchFamily="34" charset="-122"/>
                <a:cs typeface="Noto Sans" pitchFamily="34" charset="-120"/>
              </a:rPr>
              <a:t>04</a:t>
            </a:r>
            <a:endParaRPr lang="en-US" sz="1440" dirty="0"/>
          </a:p>
        </p:txBody>
      </p:sp>
      <p:sp>
        <p:nvSpPr>
          <p:cNvPr id="11" name="Text 9">
            <a:extLst>
              <a:ext uri="{FF2B5EF4-FFF2-40B4-BE49-F238E27FC236}">
                <a16:creationId xmlns:a16="http://schemas.microsoft.com/office/drawing/2014/main" id="{707B1849-74D8-9351-FC1E-10306351FCB5}"/>
              </a:ext>
            </a:extLst>
          </p:cNvPr>
          <p:cNvSpPr/>
          <p:nvPr/>
        </p:nvSpPr>
        <p:spPr>
          <a:xfrm>
            <a:off x="262555" y="1682138"/>
            <a:ext cx="2127802" cy="391774"/>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vi-VN" sz="1296" b="1" dirty="0">
                <a:solidFill>
                  <a:srgbClr val="2B76FD"/>
                </a:solidFill>
                <a:latin typeface="Noto Sans" pitchFamily="34" charset="0"/>
                <a:ea typeface="Noto Sans" pitchFamily="34" charset="-122"/>
                <a:cs typeface="Noto Sans" pitchFamily="34" charset="-120"/>
              </a:rPr>
              <a:t>Kỹ thuật nhóm vector​</a:t>
            </a:r>
            <a:endParaRPr lang="en-US" sz="1440" dirty="0"/>
          </a:p>
        </p:txBody>
      </p:sp>
      <p:sp>
        <p:nvSpPr>
          <p:cNvPr id="12" name="Text 10">
            <a:extLst>
              <a:ext uri="{FF2B5EF4-FFF2-40B4-BE49-F238E27FC236}">
                <a16:creationId xmlns:a16="http://schemas.microsoft.com/office/drawing/2014/main" id="{299BCD6F-A3C7-4D7A-622E-43BF844FD1E5}"/>
              </a:ext>
            </a:extLst>
          </p:cNvPr>
          <p:cNvSpPr/>
          <p:nvPr/>
        </p:nvSpPr>
        <p:spPr>
          <a:xfrm>
            <a:off x="262555" y="2282685"/>
            <a:ext cx="2079924" cy="812787"/>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vi-VN" sz="1008" dirty="0">
                <a:solidFill>
                  <a:srgbClr val="00070F"/>
                </a:solidFill>
                <a:latin typeface="Noto Sans" pitchFamily="34" charset="0"/>
                <a:ea typeface="Noto Sans" pitchFamily="34" charset="-122"/>
                <a:cs typeface="Noto Sans" pitchFamily="34" charset="-120"/>
              </a:rPr>
              <a:t>IVF sử dụng bộ lượng tử hóa thô để nhóm các vector, giảm số phép tính khoảng cách khi truy vấn dữ liệu.​</a:t>
            </a:r>
            <a:endParaRPr lang="en-US" sz="1440" dirty="0"/>
          </a:p>
        </p:txBody>
      </p:sp>
      <p:sp>
        <p:nvSpPr>
          <p:cNvPr id="13" name="Text 11">
            <a:extLst>
              <a:ext uri="{FF2B5EF4-FFF2-40B4-BE49-F238E27FC236}">
                <a16:creationId xmlns:a16="http://schemas.microsoft.com/office/drawing/2014/main" id="{C6CFA16A-8791-2BEE-18E6-F899B1A84574}"/>
              </a:ext>
            </a:extLst>
          </p:cNvPr>
          <p:cNvSpPr/>
          <p:nvPr/>
        </p:nvSpPr>
        <p:spPr>
          <a:xfrm>
            <a:off x="2390357" y="1912105"/>
            <a:ext cx="2124802" cy="391774"/>
          </a:xfrm>
          <a:prstGeom prst="rect">
            <a:avLst/>
          </a:prstGeom>
          <a:noFill/>
          <a:ln/>
        </p:spPr>
        <p:txBody>
          <a:bodyPr wrap="square" lIns="95250" tIns="95250" rIns="95250" bIns="95250" rtlCol="0" anchor="t">
            <a:spAutoFit/>
          </a:bodyPr>
          <a:lstStyle/>
          <a:p>
            <a:pPr marL="0" indent="0">
              <a:lnSpc>
                <a:spcPct val="100000"/>
              </a:lnSpc>
              <a:buNone/>
            </a:pPr>
            <a:r>
              <a:rPr lang="vi-VN" sz="1296" b="1" dirty="0">
                <a:solidFill>
                  <a:srgbClr val="379EFC"/>
                </a:solidFill>
                <a:latin typeface="Noto Sans" pitchFamily="34" charset="0"/>
                <a:ea typeface="Noto Sans" pitchFamily="34" charset="-122"/>
                <a:cs typeface="Noto Sans" pitchFamily="34" charset="-120"/>
              </a:rPr>
              <a:t>Tham số chính IVF​</a:t>
            </a:r>
            <a:endParaRPr lang="en-US" sz="1440" dirty="0"/>
          </a:p>
        </p:txBody>
      </p:sp>
      <p:sp>
        <p:nvSpPr>
          <p:cNvPr id="14" name="Text 12">
            <a:extLst>
              <a:ext uri="{FF2B5EF4-FFF2-40B4-BE49-F238E27FC236}">
                <a16:creationId xmlns:a16="http://schemas.microsoft.com/office/drawing/2014/main" id="{F4F675A1-B8B1-3CA5-2033-88FBCA31759A}"/>
              </a:ext>
            </a:extLst>
          </p:cNvPr>
          <p:cNvSpPr/>
          <p:nvPr/>
        </p:nvSpPr>
        <p:spPr>
          <a:xfrm>
            <a:off x="2390757" y="2512384"/>
            <a:ext cx="2124402" cy="812787"/>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vi-VN" sz="1008" dirty="0">
                <a:solidFill>
                  <a:srgbClr val="00070F"/>
                </a:solidFill>
                <a:latin typeface="Noto Sans" pitchFamily="34" charset="0"/>
                <a:ea typeface="Noto Sans" pitchFamily="34" charset="-122"/>
                <a:cs typeface="Noto Sans" pitchFamily="34" charset="-120"/>
              </a:rPr>
              <a:t>K_IVF và P_IVF là tham số quan trọng, ảnh hưởng đến số phép tính và hiệu quả tìm kiếm trong IVF.​</a:t>
            </a:r>
            <a:endParaRPr lang="en-US" sz="1440" dirty="0"/>
          </a:p>
        </p:txBody>
      </p:sp>
      <p:sp>
        <p:nvSpPr>
          <p:cNvPr id="15" name="Text 13">
            <a:extLst>
              <a:ext uri="{FF2B5EF4-FFF2-40B4-BE49-F238E27FC236}">
                <a16:creationId xmlns:a16="http://schemas.microsoft.com/office/drawing/2014/main" id="{F8C09C3A-DFF3-3BA5-CACB-9F939876A2E3}"/>
              </a:ext>
            </a:extLst>
          </p:cNvPr>
          <p:cNvSpPr/>
          <p:nvPr/>
        </p:nvSpPr>
        <p:spPr>
          <a:xfrm>
            <a:off x="4515159" y="2189501"/>
            <a:ext cx="2124802" cy="391774"/>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vi-VN" sz="1296" b="1" dirty="0">
                <a:solidFill>
                  <a:srgbClr val="2B76FD"/>
                </a:solidFill>
                <a:latin typeface="Noto Sans" pitchFamily="34" charset="0"/>
                <a:ea typeface="Noto Sans" pitchFamily="34" charset="-122"/>
                <a:cs typeface="Noto Sans" pitchFamily="34" charset="-120"/>
              </a:rPr>
              <a:t>Mã hóa phần dư​</a:t>
            </a:r>
            <a:endParaRPr lang="en-US" sz="1440" dirty="0"/>
          </a:p>
        </p:txBody>
      </p:sp>
      <p:sp>
        <p:nvSpPr>
          <p:cNvPr id="16" name="Text 14">
            <a:extLst>
              <a:ext uri="{FF2B5EF4-FFF2-40B4-BE49-F238E27FC236}">
                <a16:creationId xmlns:a16="http://schemas.microsoft.com/office/drawing/2014/main" id="{35C4FD82-7617-DCDE-30A7-AF79805A312B}"/>
              </a:ext>
            </a:extLst>
          </p:cNvPr>
          <p:cNvSpPr/>
          <p:nvPr/>
        </p:nvSpPr>
        <p:spPr>
          <a:xfrm>
            <a:off x="4515159" y="2858615"/>
            <a:ext cx="2124802" cy="657681"/>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vi-VN" sz="1008" dirty="0">
                <a:solidFill>
                  <a:srgbClr val="00070F"/>
                </a:solidFill>
                <a:latin typeface="Noto Sans" pitchFamily="34" charset="0"/>
                <a:ea typeface="Noto Sans" pitchFamily="34" charset="-122"/>
                <a:cs typeface="Noto Sans" pitchFamily="34" charset="-120"/>
              </a:rPr>
              <a:t>Mã hóa phần dư giúp nén dữ liệu vector so với centroid, cải thiện độ chính xác của truy vấn.​</a:t>
            </a:r>
            <a:endParaRPr lang="en-US" sz="1440" dirty="0"/>
          </a:p>
        </p:txBody>
      </p:sp>
      <p:sp>
        <p:nvSpPr>
          <p:cNvPr id="17" name="Text 15">
            <a:extLst>
              <a:ext uri="{FF2B5EF4-FFF2-40B4-BE49-F238E27FC236}">
                <a16:creationId xmlns:a16="http://schemas.microsoft.com/office/drawing/2014/main" id="{ADE9E60A-E00F-A10A-95C3-C4914D006B17}"/>
              </a:ext>
            </a:extLst>
          </p:cNvPr>
          <p:cNvSpPr/>
          <p:nvPr/>
        </p:nvSpPr>
        <p:spPr>
          <a:xfrm>
            <a:off x="6639960" y="2496523"/>
            <a:ext cx="2241485" cy="391774"/>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vi-VN" sz="1296" b="1" dirty="0">
                <a:solidFill>
                  <a:srgbClr val="379EFC"/>
                </a:solidFill>
                <a:latin typeface="Noto Sans" pitchFamily="34" charset="0"/>
                <a:ea typeface="Noto Sans" pitchFamily="34" charset="-122"/>
                <a:cs typeface="Noto Sans" pitchFamily="34" charset="-120"/>
              </a:rPr>
              <a:t>Ứng dụng và tối ưu hóa​</a:t>
            </a:r>
            <a:endParaRPr lang="en-US" sz="1440" dirty="0"/>
          </a:p>
        </p:txBody>
      </p:sp>
      <p:sp>
        <p:nvSpPr>
          <p:cNvPr id="18" name="Text 16">
            <a:extLst>
              <a:ext uri="{FF2B5EF4-FFF2-40B4-BE49-F238E27FC236}">
                <a16:creationId xmlns:a16="http://schemas.microsoft.com/office/drawing/2014/main" id="{CB879294-2474-45F9-4126-071B8871EBDF}"/>
              </a:ext>
            </a:extLst>
          </p:cNvPr>
          <p:cNvSpPr/>
          <p:nvPr/>
        </p:nvSpPr>
        <p:spPr>
          <a:xfrm>
            <a:off x="6639960" y="3105106"/>
            <a:ext cx="2241485" cy="812787"/>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vi-VN" sz="1008" dirty="0">
                <a:solidFill>
                  <a:srgbClr val="00070F"/>
                </a:solidFill>
                <a:latin typeface="Noto Sans" pitchFamily="34" charset="0"/>
                <a:ea typeface="Noto Sans" pitchFamily="34" charset="-122"/>
                <a:cs typeface="Noto Sans" pitchFamily="34" charset="-120"/>
              </a:rPr>
              <a:t>IVF kết hợp Spherical k-means giảm mất cân bằng, tối ưu cho hệ thống lưu trữ và truy vấn hàng triệu vector.​</a:t>
            </a:r>
          </a:p>
        </p:txBody>
      </p:sp>
    </p:spTree>
    <p:extLst>
      <p:ext uri="{BB962C8B-B14F-4D97-AF65-F5344CB8AC3E}">
        <p14:creationId xmlns:p14="http://schemas.microsoft.com/office/powerpoint/2010/main" val="6372191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27E95133-029E-5717-505C-FFDBB00B00C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7026A7F-B0B8-B888-DD16-47B36A4EDE3D}"/>
              </a:ext>
            </a:extLst>
          </p:cNvPr>
          <p:cNvSpPr/>
          <p:nvPr/>
        </p:nvSpPr>
        <p:spPr>
          <a:xfrm>
            <a:off x="396558" y="328468"/>
            <a:ext cx="8396337" cy="546881"/>
          </a:xfrm>
          <a:prstGeom prst="rect">
            <a:avLst/>
          </a:prstGeom>
          <a:noFill/>
          <a:ln/>
        </p:spPr>
        <p:txBody>
          <a:bodyPr wrap="square" lIns="95250" tIns="95250" rIns="95250" bIns="95250" rtlCol="0" anchor="t">
            <a:spAutoFit/>
          </a:bodyPr>
          <a:lstStyle/>
          <a:p>
            <a:pPr marL="0" indent="0">
              <a:lnSpc>
                <a:spcPct val="112500"/>
              </a:lnSpc>
              <a:spcBef>
                <a:spcPts val="375"/>
              </a:spcBef>
              <a:buNone/>
            </a:pPr>
            <a:r>
              <a:rPr lang="vi-VN" sz="2160" b="1" dirty="0">
                <a:solidFill>
                  <a:srgbClr val="193AB9"/>
                </a:solidFill>
                <a:latin typeface="Noto Sans" pitchFamily="34" charset="0"/>
                <a:ea typeface="Noto Sans" pitchFamily="34" charset="-122"/>
                <a:cs typeface="Noto Sans" pitchFamily="34" charset="-120"/>
              </a:rPr>
              <a:t>Dựa trên</a:t>
            </a:r>
            <a:r>
              <a:rPr lang="en-US" sz="2160" b="1" dirty="0">
                <a:solidFill>
                  <a:srgbClr val="193AB9"/>
                </a:solidFill>
                <a:latin typeface="Noto Sans" pitchFamily="34" charset="0"/>
                <a:ea typeface="Noto Sans" pitchFamily="34" charset="-122"/>
                <a:cs typeface="Noto Sans" pitchFamily="34" charset="-120"/>
              </a:rPr>
              <a:t> </a:t>
            </a:r>
            <a:r>
              <a:rPr lang="vi-VN" sz="2160" b="1" dirty="0">
                <a:solidFill>
                  <a:srgbClr val="193AB9"/>
                </a:solidFill>
                <a:latin typeface="Noto Sans" pitchFamily="34" charset="0"/>
                <a:ea typeface="Noto Sans" pitchFamily="34" charset="-122"/>
                <a:cs typeface="Noto Sans" pitchFamily="34" charset="-120"/>
              </a:rPr>
              <a:t>Đồ thị​</a:t>
            </a:r>
            <a:endParaRPr lang="en-US" sz="1440" dirty="0"/>
          </a:p>
        </p:txBody>
      </p:sp>
      <p:sp>
        <p:nvSpPr>
          <p:cNvPr id="3" name="Shape 1">
            <a:extLst>
              <a:ext uri="{FF2B5EF4-FFF2-40B4-BE49-F238E27FC236}">
                <a16:creationId xmlns:a16="http://schemas.microsoft.com/office/drawing/2014/main" id="{F140F212-C0C7-68AF-0994-87BB49DECF67}"/>
              </a:ext>
            </a:extLst>
          </p:cNvPr>
          <p:cNvSpPr/>
          <p:nvPr/>
        </p:nvSpPr>
        <p:spPr>
          <a:xfrm>
            <a:off x="6639960" y="1921681"/>
            <a:ext cx="2241485" cy="593993"/>
          </a:xfrm>
          <a:custGeom>
            <a:avLst/>
            <a:gdLst/>
            <a:ahLst/>
            <a:cxnLst/>
            <a:rect l="l" t="t" r="r" b="b"/>
            <a:pathLst>
              <a:path w="2241485" h="593993">
                <a:moveTo>
                  <a:pt x="0" y="0"/>
                </a:moveTo>
                <a:moveTo>
                  <a:pt x="0" y="0"/>
                </a:moveTo>
                <a:lnTo>
                  <a:pt x="2241485" y="0"/>
                </a:lnTo>
                <a:lnTo>
                  <a:pt x="2241485" y="593993"/>
                </a:lnTo>
                <a:lnTo>
                  <a:pt x="0" y="593993"/>
                </a:lnTo>
                <a:close/>
              </a:path>
            </a:pathLst>
          </a:custGeom>
          <a:solidFill>
            <a:srgbClr val="379EFC"/>
          </a:solidFill>
          <a:ln/>
        </p:spPr>
        <p:txBody>
          <a:bodyPr/>
          <a:lstStyle/>
          <a:p>
            <a:endParaRPr lang="en-US"/>
          </a:p>
        </p:txBody>
      </p:sp>
      <p:sp>
        <p:nvSpPr>
          <p:cNvPr id="4" name="Shape 2">
            <a:extLst>
              <a:ext uri="{FF2B5EF4-FFF2-40B4-BE49-F238E27FC236}">
                <a16:creationId xmlns:a16="http://schemas.microsoft.com/office/drawing/2014/main" id="{330CF1AF-321B-2EC0-94F2-87A848B9EA07}"/>
              </a:ext>
            </a:extLst>
          </p:cNvPr>
          <p:cNvSpPr/>
          <p:nvPr/>
        </p:nvSpPr>
        <p:spPr>
          <a:xfrm>
            <a:off x="4515159" y="1624684"/>
            <a:ext cx="2241485" cy="593993"/>
          </a:xfrm>
          <a:custGeom>
            <a:avLst/>
            <a:gdLst/>
            <a:ahLst/>
            <a:cxnLst/>
            <a:rect l="l" t="t" r="r" b="b"/>
            <a:pathLst>
              <a:path w="2241485" h="593993">
                <a:moveTo>
                  <a:pt x="0" y="0"/>
                </a:moveTo>
                <a:moveTo>
                  <a:pt x="0" y="0"/>
                </a:moveTo>
                <a:lnTo>
                  <a:pt x="2241485" y="0"/>
                </a:lnTo>
                <a:lnTo>
                  <a:pt x="2241485" y="593993"/>
                </a:lnTo>
                <a:lnTo>
                  <a:pt x="0" y="593993"/>
                </a:lnTo>
                <a:close/>
              </a:path>
            </a:pathLst>
          </a:custGeom>
          <a:solidFill>
            <a:srgbClr val="2B76FD"/>
          </a:solidFill>
          <a:ln/>
        </p:spPr>
        <p:txBody>
          <a:bodyPr/>
          <a:lstStyle/>
          <a:p>
            <a:endParaRPr lang="en-US"/>
          </a:p>
        </p:txBody>
      </p:sp>
      <p:sp>
        <p:nvSpPr>
          <p:cNvPr id="5" name="Shape 3">
            <a:extLst>
              <a:ext uri="{FF2B5EF4-FFF2-40B4-BE49-F238E27FC236}">
                <a16:creationId xmlns:a16="http://schemas.microsoft.com/office/drawing/2014/main" id="{70B5A753-4C3E-9141-86C4-B4E001BE14A9}"/>
              </a:ext>
            </a:extLst>
          </p:cNvPr>
          <p:cNvSpPr/>
          <p:nvPr/>
        </p:nvSpPr>
        <p:spPr>
          <a:xfrm>
            <a:off x="2390357" y="1327687"/>
            <a:ext cx="2241485" cy="593993"/>
          </a:xfrm>
          <a:custGeom>
            <a:avLst/>
            <a:gdLst/>
            <a:ahLst/>
            <a:cxnLst/>
            <a:rect l="l" t="t" r="r" b="b"/>
            <a:pathLst>
              <a:path w="2241485" h="593993">
                <a:moveTo>
                  <a:pt x="0" y="0"/>
                </a:moveTo>
                <a:moveTo>
                  <a:pt x="0" y="0"/>
                </a:moveTo>
                <a:lnTo>
                  <a:pt x="2241485" y="0"/>
                </a:lnTo>
                <a:lnTo>
                  <a:pt x="2241485" y="593993"/>
                </a:lnTo>
                <a:lnTo>
                  <a:pt x="0" y="593993"/>
                </a:lnTo>
                <a:close/>
              </a:path>
            </a:pathLst>
          </a:custGeom>
          <a:solidFill>
            <a:srgbClr val="379EFC"/>
          </a:solidFill>
          <a:ln/>
        </p:spPr>
        <p:txBody>
          <a:bodyPr/>
          <a:lstStyle/>
          <a:p>
            <a:endParaRPr lang="en-US"/>
          </a:p>
        </p:txBody>
      </p:sp>
      <p:sp>
        <p:nvSpPr>
          <p:cNvPr id="6" name="Shape 4">
            <a:extLst>
              <a:ext uri="{FF2B5EF4-FFF2-40B4-BE49-F238E27FC236}">
                <a16:creationId xmlns:a16="http://schemas.microsoft.com/office/drawing/2014/main" id="{3E015A00-7C55-5550-8E41-0A22F57A8938}"/>
              </a:ext>
            </a:extLst>
          </p:cNvPr>
          <p:cNvSpPr/>
          <p:nvPr/>
        </p:nvSpPr>
        <p:spPr>
          <a:xfrm>
            <a:off x="262555" y="1097720"/>
            <a:ext cx="2241485" cy="593993"/>
          </a:xfrm>
          <a:custGeom>
            <a:avLst/>
            <a:gdLst/>
            <a:ahLst/>
            <a:cxnLst/>
            <a:rect l="l" t="t" r="r" b="b"/>
            <a:pathLst>
              <a:path w="2241485" h="593993">
                <a:moveTo>
                  <a:pt x="0" y="0"/>
                </a:moveTo>
                <a:moveTo>
                  <a:pt x="0" y="0"/>
                </a:moveTo>
                <a:lnTo>
                  <a:pt x="2241485" y="0"/>
                </a:lnTo>
                <a:lnTo>
                  <a:pt x="2241485" y="593993"/>
                </a:lnTo>
                <a:lnTo>
                  <a:pt x="0" y="593993"/>
                </a:lnTo>
                <a:close/>
              </a:path>
            </a:pathLst>
          </a:custGeom>
          <a:solidFill>
            <a:srgbClr val="2B76FD"/>
          </a:solidFill>
          <a:ln/>
        </p:spPr>
        <p:txBody>
          <a:bodyPr/>
          <a:lstStyle/>
          <a:p>
            <a:endParaRPr lang="en-US"/>
          </a:p>
        </p:txBody>
      </p:sp>
      <p:sp>
        <p:nvSpPr>
          <p:cNvPr id="7" name="Text 5">
            <a:extLst>
              <a:ext uri="{FF2B5EF4-FFF2-40B4-BE49-F238E27FC236}">
                <a16:creationId xmlns:a16="http://schemas.microsoft.com/office/drawing/2014/main" id="{52A41C08-743E-E142-FA01-09C4FC7C65B5}"/>
              </a:ext>
            </a:extLst>
          </p:cNvPr>
          <p:cNvSpPr/>
          <p:nvPr/>
        </p:nvSpPr>
        <p:spPr>
          <a:xfrm>
            <a:off x="262555" y="1097720"/>
            <a:ext cx="851764" cy="566928"/>
          </a:xfrm>
          <a:prstGeom prst="rect">
            <a:avLst/>
          </a:prstGeom>
          <a:noFill/>
          <a:ln/>
        </p:spPr>
        <p:txBody>
          <a:bodyPr wrap="square" lIns="95250" tIns="95250" rIns="95250" bIns="95250" rtlCol="0" anchor="t">
            <a:spAutoFit/>
          </a:bodyPr>
          <a:lstStyle/>
          <a:p>
            <a:pPr marL="0" indent="0" algn="ctr">
              <a:lnSpc>
                <a:spcPct val="112500"/>
              </a:lnSpc>
              <a:spcBef>
                <a:spcPts val="375"/>
              </a:spcBef>
              <a:buNone/>
            </a:pPr>
            <a:r>
              <a:rPr lang="en-US" sz="2016" b="1" dirty="0">
                <a:solidFill>
                  <a:srgbClr val="FFFFFF"/>
                </a:solidFill>
                <a:latin typeface="Noto Sans" pitchFamily="34" charset="0"/>
                <a:ea typeface="Noto Sans" pitchFamily="34" charset="-122"/>
                <a:cs typeface="Noto Sans" pitchFamily="34" charset="-120"/>
              </a:rPr>
              <a:t>01</a:t>
            </a:r>
            <a:endParaRPr lang="en-US" sz="1440" dirty="0"/>
          </a:p>
        </p:txBody>
      </p:sp>
      <p:sp>
        <p:nvSpPr>
          <p:cNvPr id="8" name="Text 6">
            <a:extLst>
              <a:ext uri="{FF2B5EF4-FFF2-40B4-BE49-F238E27FC236}">
                <a16:creationId xmlns:a16="http://schemas.microsoft.com/office/drawing/2014/main" id="{0D79C892-452C-211B-BCDF-7DCEC0B7A398}"/>
              </a:ext>
            </a:extLst>
          </p:cNvPr>
          <p:cNvSpPr/>
          <p:nvPr/>
        </p:nvSpPr>
        <p:spPr>
          <a:xfrm>
            <a:off x="2507040" y="1327992"/>
            <a:ext cx="851764" cy="566928"/>
          </a:xfrm>
          <a:prstGeom prst="rect">
            <a:avLst/>
          </a:prstGeom>
          <a:noFill/>
          <a:ln/>
        </p:spPr>
        <p:txBody>
          <a:bodyPr wrap="square" lIns="95250" tIns="95250" rIns="95250" bIns="95250" rtlCol="0" anchor="t">
            <a:spAutoFit/>
          </a:bodyPr>
          <a:lstStyle/>
          <a:p>
            <a:pPr marL="0" indent="0" algn="ctr">
              <a:lnSpc>
                <a:spcPct val="112500"/>
              </a:lnSpc>
              <a:spcBef>
                <a:spcPts val="375"/>
              </a:spcBef>
              <a:buNone/>
            </a:pPr>
            <a:r>
              <a:rPr lang="en-US" sz="2016" b="1" dirty="0">
                <a:solidFill>
                  <a:srgbClr val="FFFFFF"/>
                </a:solidFill>
                <a:latin typeface="Noto Sans" pitchFamily="34" charset="0"/>
                <a:ea typeface="Noto Sans" pitchFamily="34" charset="-122"/>
                <a:cs typeface="Noto Sans" pitchFamily="34" charset="-120"/>
              </a:rPr>
              <a:t>02</a:t>
            </a:r>
            <a:endParaRPr lang="en-US" sz="1440" dirty="0"/>
          </a:p>
        </p:txBody>
      </p:sp>
      <p:sp>
        <p:nvSpPr>
          <p:cNvPr id="9" name="Text 7">
            <a:extLst>
              <a:ext uri="{FF2B5EF4-FFF2-40B4-BE49-F238E27FC236}">
                <a16:creationId xmlns:a16="http://schemas.microsoft.com/office/drawing/2014/main" id="{37AA950D-2259-B510-C82A-2CECDFDE9130}"/>
              </a:ext>
            </a:extLst>
          </p:cNvPr>
          <p:cNvSpPr/>
          <p:nvPr/>
        </p:nvSpPr>
        <p:spPr>
          <a:xfrm>
            <a:off x="4631841" y="1624836"/>
            <a:ext cx="851764" cy="566928"/>
          </a:xfrm>
          <a:prstGeom prst="rect">
            <a:avLst/>
          </a:prstGeom>
          <a:noFill/>
          <a:ln/>
        </p:spPr>
        <p:txBody>
          <a:bodyPr wrap="square" lIns="95250" tIns="95250" rIns="95250" bIns="95250" rtlCol="0" anchor="t">
            <a:spAutoFit/>
          </a:bodyPr>
          <a:lstStyle/>
          <a:p>
            <a:pPr marL="0" indent="0" algn="ctr">
              <a:lnSpc>
                <a:spcPct val="112500"/>
              </a:lnSpc>
              <a:spcBef>
                <a:spcPts val="375"/>
              </a:spcBef>
              <a:buNone/>
            </a:pPr>
            <a:r>
              <a:rPr lang="en-US" sz="2016" b="1" dirty="0">
                <a:solidFill>
                  <a:srgbClr val="FFFFFF"/>
                </a:solidFill>
                <a:latin typeface="Noto Sans" pitchFamily="34" charset="0"/>
                <a:ea typeface="Noto Sans" pitchFamily="34" charset="-122"/>
                <a:cs typeface="Noto Sans" pitchFamily="34" charset="-120"/>
              </a:rPr>
              <a:t>03</a:t>
            </a:r>
            <a:endParaRPr lang="en-US" sz="1440" dirty="0"/>
          </a:p>
        </p:txBody>
      </p:sp>
      <p:sp>
        <p:nvSpPr>
          <p:cNvPr id="10" name="Text 8">
            <a:extLst>
              <a:ext uri="{FF2B5EF4-FFF2-40B4-BE49-F238E27FC236}">
                <a16:creationId xmlns:a16="http://schemas.microsoft.com/office/drawing/2014/main" id="{1CACE020-032A-BC16-8704-501503D82974}"/>
              </a:ext>
            </a:extLst>
          </p:cNvPr>
          <p:cNvSpPr/>
          <p:nvPr/>
        </p:nvSpPr>
        <p:spPr>
          <a:xfrm>
            <a:off x="6756643" y="1921681"/>
            <a:ext cx="851764" cy="566928"/>
          </a:xfrm>
          <a:prstGeom prst="rect">
            <a:avLst/>
          </a:prstGeom>
          <a:noFill/>
          <a:ln/>
        </p:spPr>
        <p:txBody>
          <a:bodyPr wrap="square" lIns="95250" tIns="95250" rIns="95250" bIns="95250" rtlCol="0" anchor="t">
            <a:spAutoFit/>
          </a:bodyPr>
          <a:lstStyle/>
          <a:p>
            <a:pPr marL="0" indent="0" algn="ctr">
              <a:lnSpc>
                <a:spcPct val="112500"/>
              </a:lnSpc>
              <a:spcBef>
                <a:spcPts val="375"/>
              </a:spcBef>
              <a:buNone/>
            </a:pPr>
            <a:r>
              <a:rPr lang="en-US" sz="2016" b="1" dirty="0">
                <a:solidFill>
                  <a:srgbClr val="FFFFFF"/>
                </a:solidFill>
                <a:latin typeface="Noto Sans" pitchFamily="34" charset="0"/>
                <a:ea typeface="Noto Sans" pitchFamily="34" charset="-122"/>
                <a:cs typeface="Noto Sans" pitchFamily="34" charset="-120"/>
              </a:rPr>
              <a:t>04</a:t>
            </a:r>
            <a:endParaRPr lang="en-US" sz="1440" dirty="0"/>
          </a:p>
        </p:txBody>
      </p:sp>
      <p:sp>
        <p:nvSpPr>
          <p:cNvPr id="11" name="Text 9">
            <a:extLst>
              <a:ext uri="{FF2B5EF4-FFF2-40B4-BE49-F238E27FC236}">
                <a16:creationId xmlns:a16="http://schemas.microsoft.com/office/drawing/2014/main" id="{B21CEA8F-E901-9509-2EE3-055027D89AF0}"/>
              </a:ext>
            </a:extLst>
          </p:cNvPr>
          <p:cNvSpPr/>
          <p:nvPr/>
        </p:nvSpPr>
        <p:spPr>
          <a:xfrm>
            <a:off x="262555" y="1682138"/>
            <a:ext cx="2127802" cy="591187"/>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vi-VN" sz="1296" b="1" dirty="0">
                <a:solidFill>
                  <a:srgbClr val="2B76FD"/>
                </a:solidFill>
                <a:latin typeface="Noto Sans" pitchFamily="34" charset="0"/>
                <a:ea typeface="Noto Sans" pitchFamily="34" charset="-122"/>
                <a:cs typeface="Noto Sans" pitchFamily="34" charset="-120"/>
              </a:rPr>
              <a:t>Phương pháp tìm kiếm đồ thị​</a:t>
            </a:r>
            <a:endParaRPr lang="en-US" sz="1440" dirty="0"/>
          </a:p>
        </p:txBody>
      </p:sp>
      <p:sp>
        <p:nvSpPr>
          <p:cNvPr id="12" name="Text 10">
            <a:extLst>
              <a:ext uri="{FF2B5EF4-FFF2-40B4-BE49-F238E27FC236}">
                <a16:creationId xmlns:a16="http://schemas.microsoft.com/office/drawing/2014/main" id="{C411FE96-D6C1-3CFA-29C0-C26D5A8BF5A6}"/>
              </a:ext>
            </a:extLst>
          </p:cNvPr>
          <p:cNvSpPr/>
          <p:nvPr/>
        </p:nvSpPr>
        <p:spPr>
          <a:xfrm>
            <a:off x="262555" y="2282685"/>
            <a:ext cx="2079924" cy="812787"/>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vi-VN" sz="1008" dirty="0">
                <a:solidFill>
                  <a:srgbClr val="00070F"/>
                </a:solidFill>
                <a:latin typeface="Noto Sans" pitchFamily="34" charset="0"/>
                <a:ea typeface="Noto Sans" pitchFamily="34" charset="-122"/>
                <a:cs typeface="Noto Sans" pitchFamily="34" charset="-120"/>
              </a:rPr>
              <a:t>Xây dựng đồ thị có hướng giúp điều hướng truy vấn hiệu quả với cấu trúc phân cấp hoặc kết nối mở rộng.​</a:t>
            </a:r>
          </a:p>
        </p:txBody>
      </p:sp>
      <p:sp>
        <p:nvSpPr>
          <p:cNvPr id="13" name="Text 11">
            <a:extLst>
              <a:ext uri="{FF2B5EF4-FFF2-40B4-BE49-F238E27FC236}">
                <a16:creationId xmlns:a16="http://schemas.microsoft.com/office/drawing/2014/main" id="{4D170AA9-250C-22CA-4BB2-56462DA68866}"/>
              </a:ext>
            </a:extLst>
          </p:cNvPr>
          <p:cNvSpPr/>
          <p:nvPr/>
        </p:nvSpPr>
        <p:spPr>
          <a:xfrm>
            <a:off x="2390357" y="1912105"/>
            <a:ext cx="2124802" cy="391774"/>
          </a:xfrm>
          <a:prstGeom prst="rect">
            <a:avLst/>
          </a:prstGeom>
          <a:noFill/>
          <a:ln/>
        </p:spPr>
        <p:txBody>
          <a:bodyPr wrap="square" lIns="95250" tIns="95250" rIns="95250" bIns="95250" rtlCol="0" anchor="t">
            <a:spAutoFit/>
          </a:bodyPr>
          <a:lstStyle/>
          <a:p>
            <a:pPr marL="0" indent="0">
              <a:lnSpc>
                <a:spcPct val="100000"/>
              </a:lnSpc>
              <a:buNone/>
            </a:pPr>
            <a:r>
              <a:rPr lang="vi-VN" sz="1296" b="1" dirty="0">
                <a:solidFill>
                  <a:srgbClr val="379EFC"/>
                </a:solidFill>
                <a:latin typeface="Noto Sans" pitchFamily="34" charset="0"/>
                <a:ea typeface="Noto Sans" pitchFamily="34" charset="-122"/>
                <a:cs typeface="Noto Sans" pitchFamily="34" charset="-120"/>
              </a:rPr>
              <a:t>Kỹ thuật HNSW​</a:t>
            </a:r>
          </a:p>
        </p:txBody>
      </p:sp>
      <p:sp>
        <p:nvSpPr>
          <p:cNvPr id="14" name="Text 12">
            <a:extLst>
              <a:ext uri="{FF2B5EF4-FFF2-40B4-BE49-F238E27FC236}">
                <a16:creationId xmlns:a16="http://schemas.microsoft.com/office/drawing/2014/main" id="{C438A0E3-BA21-B714-0D0B-0A1C202DE3AA}"/>
              </a:ext>
            </a:extLst>
          </p:cNvPr>
          <p:cNvSpPr/>
          <p:nvPr/>
        </p:nvSpPr>
        <p:spPr>
          <a:xfrm>
            <a:off x="2390757" y="2512384"/>
            <a:ext cx="2124402" cy="812787"/>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vi-VN" sz="1008" dirty="0">
                <a:solidFill>
                  <a:srgbClr val="00070F"/>
                </a:solidFill>
                <a:latin typeface="Noto Sans" pitchFamily="34" charset="0"/>
                <a:ea typeface="Noto Sans" pitchFamily="34" charset="-122"/>
                <a:cs typeface="Noto Sans" pitchFamily="34" charset="-120"/>
              </a:rPr>
              <a:t>HNSW sử dụng đồ thị phân cấp hỗ trợ thêm vector tăng dần, phù hợp với hệ thống dữ liệu động.​</a:t>
            </a:r>
            <a:endParaRPr lang="en-US" sz="1440" dirty="0"/>
          </a:p>
        </p:txBody>
      </p:sp>
      <p:sp>
        <p:nvSpPr>
          <p:cNvPr id="15" name="Text 13">
            <a:extLst>
              <a:ext uri="{FF2B5EF4-FFF2-40B4-BE49-F238E27FC236}">
                <a16:creationId xmlns:a16="http://schemas.microsoft.com/office/drawing/2014/main" id="{0C4479DB-48CA-0691-89F2-494E66EFC961}"/>
              </a:ext>
            </a:extLst>
          </p:cNvPr>
          <p:cNvSpPr/>
          <p:nvPr/>
        </p:nvSpPr>
        <p:spPr>
          <a:xfrm>
            <a:off x="4515159" y="2189501"/>
            <a:ext cx="2124802" cy="391774"/>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vi-VN" sz="1296" b="1" dirty="0">
                <a:solidFill>
                  <a:srgbClr val="2B76FD"/>
                </a:solidFill>
                <a:latin typeface="Noto Sans" pitchFamily="34" charset="0"/>
                <a:ea typeface="Noto Sans" pitchFamily="34" charset="-122"/>
                <a:cs typeface="Noto Sans" pitchFamily="34" charset="-120"/>
              </a:rPr>
              <a:t>Kỹ thuật NSG​</a:t>
            </a:r>
            <a:endParaRPr lang="en-US" sz="1440" dirty="0"/>
          </a:p>
        </p:txBody>
      </p:sp>
      <p:sp>
        <p:nvSpPr>
          <p:cNvPr id="16" name="Text 14">
            <a:extLst>
              <a:ext uri="{FF2B5EF4-FFF2-40B4-BE49-F238E27FC236}">
                <a16:creationId xmlns:a16="http://schemas.microsoft.com/office/drawing/2014/main" id="{31E1495A-BF75-3948-CA3A-F23B61D46516}"/>
              </a:ext>
            </a:extLst>
          </p:cNvPr>
          <p:cNvSpPr/>
          <p:nvPr/>
        </p:nvSpPr>
        <p:spPr>
          <a:xfrm>
            <a:off x="4515159" y="2858615"/>
            <a:ext cx="2124802" cy="812787"/>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vi-VN" sz="1008" dirty="0">
                <a:solidFill>
                  <a:srgbClr val="00070F"/>
                </a:solidFill>
                <a:latin typeface="Noto Sans" pitchFamily="34" charset="0"/>
                <a:ea typeface="Noto Sans" pitchFamily="34" charset="-122"/>
                <a:cs typeface="Noto Sans" pitchFamily="34" charset="-120"/>
              </a:rPr>
              <a:t>NSG dùng các kết nối dài để tăng tốc truy vấn nhưng mất nhiều thời gian xây dựng và khó thêm vector.​</a:t>
            </a:r>
            <a:endParaRPr lang="en-US" sz="1440" dirty="0"/>
          </a:p>
        </p:txBody>
      </p:sp>
      <p:sp>
        <p:nvSpPr>
          <p:cNvPr id="17" name="Text 15">
            <a:extLst>
              <a:ext uri="{FF2B5EF4-FFF2-40B4-BE49-F238E27FC236}">
                <a16:creationId xmlns:a16="http://schemas.microsoft.com/office/drawing/2014/main" id="{385BCA3F-40E5-781D-DB51-7311E160B320}"/>
              </a:ext>
            </a:extLst>
          </p:cNvPr>
          <p:cNvSpPr/>
          <p:nvPr/>
        </p:nvSpPr>
        <p:spPr>
          <a:xfrm>
            <a:off x="6639960" y="2496523"/>
            <a:ext cx="2241485" cy="391774"/>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vi-VN" sz="1296" b="1" dirty="0">
                <a:solidFill>
                  <a:srgbClr val="379EFC"/>
                </a:solidFill>
                <a:latin typeface="Noto Sans" pitchFamily="34" charset="0"/>
                <a:ea typeface="Noto Sans" pitchFamily="34" charset="-122"/>
                <a:cs typeface="Noto Sans" pitchFamily="34" charset="-120"/>
              </a:rPr>
              <a:t>Đánh đổi hiệu năng​</a:t>
            </a:r>
            <a:endParaRPr lang="en-US" sz="1440" dirty="0"/>
          </a:p>
        </p:txBody>
      </p:sp>
      <p:sp>
        <p:nvSpPr>
          <p:cNvPr id="18" name="Text 16">
            <a:extLst>
              <a:ext uri="{FF2B5EF4-FFF2-40B4-BE49-F238E27FC236}">
                <a16:creationId xmlns:a16="http://schemas.microsoft.com/office/drawing/2014/main" id="{534C0BDA-0AB5-0027-EED9-D776F087D182}"/>
              </a:ext>
            </a:extLst>
          </p:cNvPr>
          <p:cNvSpPr/>
          <p:nvPr/>
        </p:nvSpPr>
        <p:spPr>
          <a:xfrm>
            <a:off x="6639960" y="3105106"/>
            <a:ext cx="2241485" cy="657681"/>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vi-VN" sz="1008" dirty="0">
                <a:solidFill>
                  <a:srgbClr val="00070F"/>
                </a:solidFill>
                <a:latin typeface="Noto Sans" pitchFamily="34" charset="0"/>
                <a:ea typeface="Noto Sans" pitchFamily="34" charset="-122"/>
                <a:cs typeface="Noto Sans" pitchFamily="34" charset="-120"/>
              </a:rPr>
              <a:t>Lựa chọn phương pháp đồ thị phải cân nhắc giữa tốc độ truy vấn và thời gian xây dựng đồ thị.​</a:t>
            </a:r>
          </a:p>
        </p:txBody>
      </p:sp>
    </p:spTree>
    <p:extLst>
      <p:ext uri="{BB962C8B-B14F-4D97-AF65-F5344CB8AC3E}">
        <p14:creationId xmlns:p14="http://schemas.microsoft.com/office/powerpoint/2010/main" val="29086997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E12DD1BD-C326-75DB-55B8-CB020751704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C67B08B-E606-7F43-3557-6752199D383C}"/>
              </a:ext>
            </a:extLst>
          </p:cNvPr>
          <p:cNvSpPr/>
          <p:nvPr/>
        </p:nvSpPr>
        <p:spPr>
          <a:xfrm>
            <a:off x="396558" y="328468"/>
            <a:ext cx="8396337" cy="546881"/>
          </a:xfrm>
          <a:prstGeom prst="rect">
            <a:avLst/>
          </a:prstGeom>
          <a:noFill/>
          <a:ln/>
        </p:spPr>
        <p:txBody>
          <a:bodyPr wrap="square" lIns="95250" tIns="95250" rIns="95250" bIns="95250" rtlCol="0" anchor="t">
            <a:spAutoFit/>
          </a:bodyPr>
          <a:lstStyle/>
          <a:p>
            <a:pPr marL="0" indent="0">
              <a:lnSpc>
                <a:spcPct val="112500"/>
              </a:lnSpc>
              <a:spcBef>
                <a:spcPts val="375"/>
              </a:spcBef>
              <a:buNone/>
            </a:pPr>
            <a:r>
              <a:rPr lang="en-US" sz="2160" b="1" dirty="0" err="1">
                <a:solidFill>
                  <a:srgbClr val="193AB9"/>
                </a:solidFill>
                <a:latin typeface="Noto Sans" pitchFamily="34" charset="0"/>
                <a:ea typeface="Noto Sans" pitchFamily="34" charset="-122"/>
                <a:cs typeface="Noto Sans" pitchFamily="34" charset="-120"/>
              </a:rPr>
              <a:t>Cách</a:t>
            </a:r>
            <a:r>
              <a:rPr lang="en-US" sz="2160" b="1" dirty="0">
                <a:solidFill>
                  <a:srgbClr val="193AB9"/>
                </a:solidFill>
                <a:latin typeface="Noto Sans" pitchFamily="34" charset="0"/>
                <a:ea typeface="Noto Sans" pitchFamily="34" charset="-122"/>
                <a:cs typeface="Noto Sans" pitchFamily="34" charset="-120"/>
              </a:rPr>
              <a:t> </a:t>
            </a:r>
            <a:r>
              <a:rPr lang="en-US" sz="2160" b="1" dirty="0" err="1">
                <a:solidFill>
                  <a:srgbClr val="193AB9"/>
                </a:solidFill>
                <a:latin typeface="Noto Sans" pitchFamily="34" charset="0"/>
                <a:ea typeface="Noto Sans" pitchFamily="34" charset="-122"/>
                <a:cs typeface="Noto Sans" pitchFamily="34" charset="-120"/>
              </a:rPr>
              <a:t>Chọn</a:t>
            </a:r>
            <a:r>
              <a:rPr lang="en-US" sz="2160" b="1" dirty="0">
                <a:solidFill>
                  <a:srgbClr val="193AB9"/>
                </a:solidFill>
                <a:latin typeface="Noto Sans" pitchFamily="34" charset="0"/>
                <a:ea typeface="Noto Sans" pitchFamily="34" charset="-122"/>
                <a:cs typeface="Noto Sans" pitchFamily="34" charset="-120"/>
              </a:rPr>
              <a:t> Index​</a:t>
            </a:r>
            <a:endParaRPr lang="en-US" sz="1440" dirty="0"/>
          </a:p>
        </p:txBody>
      </p:sp>
      <p:pic>
        <p:nvPicPr>
          <p:cNvPr id="3" name="Image 0" descr="preencoded.png">
            <a:extLst>
              <a:ext uri="{FF2B5EF4-FFF2-40B4-BE49-F238E27FC236}">
                <a16:creationId xmlns:a16="http://schemas.microsoft.com/office/drawing/2014/main" id="{53D0213D-5B22-2033-3518-C4BFBEE92FFC}"/>
              </a:ext>
            </a:extLst>
          </p:cNvPr>
          <p:cNvPicPr>
            <a:picLocks noChangeAspect="1"/>
          </p:cNvPicPr>
          <p:nvPr/>
        </p:nvPicPr>
        <p:blipFill>
          <a:blip r:embed="rId4"/>
          <a:stretch>
            <a:fillRect/>
          </a:stretch>
        </p:blipFill>
        <p:spPr>
          <a:xfrm>
            <a:off x="312482" y="968786"/>
            <a:ext cx="2624921" cy="3739476"/>
          </a:xfrm>
          <a:prstGeom prst="rect">
            <a:avLst/>
          </a:prstGeom>
        </p:spPr>
      </p:pic>
      <p:sp>
        <p:nvSpPr>
          <p:cNvPr id="4" name="Shape 1">
            <a:extLst>
              <a:ext uri="{FF2B5EF4-FFF2-40B4-BE49-F238E27FC236}">
                <a16:creationId xmlns:a16="http://schemas.microsoft.com/office/drawing/2014/main" id="{3C1FA622-07EB-510F-3756-DF78195FD06E}"/>
              </a:ext>
            </a:extLst>
          </p:cNvPr>
          <p:cNvSpPr/>
          <p:nvPr/>
        </p:nvSpPr>
        <p:spPr>
          <a:xfrm>
            <a:off x="948017" y="1906662"/>
            <a:ext cx="1249869" cy="0"/>
          </a:xfrm>
          <a:custGeom>
            <a:avLst/>
            <a:gdLst/>
            <a:ahLst/>
            <a:cxnLst/>
            <a:rect l="l" t="t" r="r" b="b"/>
            <a:pathLst>
              <a:path w="1249869">
                <a:moveTo>
                  <a:pt x="0" y="0"/>
                </a:moveTo>
                <a:moveTo>
                  <a:pt x="0" y="0"/>
                </a:moveTo>
                <a:lnTo>
                  <a:pt x="1249869" y="0"/>
                </a:lnTo>
              </a:path>
            </a:pathLst>
          </a:custGeom>
          <a:noFill/>
          <a:ln w="10317">
            <a:solidFill>
              <a:srgbClr val="FFFFFF">
                <a:alpha val="47843"/>
              </a:srgbClr>
            </a:solidFill>
            <a:prstDash val="solid"/>
            <a:headEnd type="none"/>
            <a:tailEnd type="none"/>
          </a:ln>
        </p:spPr>
        <p:txBody>
          <a:bodyPr/>
          <a:lstStyle/>
          <a:p>
            <a:endParaRPr lang="en-US"/>
          </a:p>
        </p:txBody>
      </p:sp>
      <p:pic>
        <p:nvPicPr>
          <p:cNvPr id="6" name="Image 1" descr="preencoded.png">
            <a:extLst>
              <a:ext uri="{FF2B5EF4-FFF2-40B4-BE49-F238E27FC236}">
                <a16:creationId xmlns:a16="http://schemas.microsoft.com/office/drawing/2014/main" id="{2E0A6112-9CE3-6E8A-1CB4-D98859BC6C53}"/>
              </a:ext>
            </a:extLst>
          </p:cNvPr>
          <p:cNvPicPr>
            <a:picLocks noChangeAspect="1"/>
          </p:cNvPicPr>
          <p:nvPr/>
        </p:nvPicPr>
        <p:blipFill>
          <a:blip r:embed="rId5"/>
          <a:stretch>
            <a:fillRect/>
          </a:stretch>
        </p:blipFill>
        <p:spPr>
          <a:xfrm>
            <a:off x="1431141" y="3828202"/>
            <a:ext cx="387604" cy="387604"/>
          </a:xfrm>
          <a:prstGeom prst="rect">
            <a:avLst/>
          </a:prstGeom>
        </p:spPr>
      </p:pic>
      <p:sp>
        <p:nvSpPr>
          <p:cNvPr id="7" name="Text 3">
            <a:extLst>
              <a:ext uri="{FF2B5EF4-FFF2-40B4-BE49-F238E27FC236}">
                <a16:creationId xmlns:a16="http://schemas.microsoft.com/office/drawing/2014/main" id="{9A2E3943-4CAC-5D86-3D19-1257DA586FB6}"/>
              </a:ext>
            </a:extLst>
          </p:cNvPr>
          <p:cNvSpPr/>
          <p:nvPr/>
        </p:nvSpPr>
        <p:spPr>
          <a:xfrm>
            <a:off x="386921" y="1370658"/>
            <a:ext cx="2476043" cy="406094"/>
          </a:xfrm>
          <a:prstGeom prst="rect">
            <a:avLst/>
          </a:prstGeom>
          <a:noFill/>
          <a:ln/>
        </p:spPr>
        <p:txBody>
          <a:bodyPr wrap="square" lIns="95250" tIns="95250" rIns="95250" bIns="95250" rtlCol="0" anchor="ctr"/>
          <a:lstStyle/>
          <a:p>
            <a:pPr marL="0" indent="0" algn="ctr">
              <a:lnSpc>
                <a:spcPct val="100000"/>
              </a:lnSpc>
              <a:spcBef>
                <a:spcPts val="375"/>
              </a:spcBef>
              <a:buNone/>
            </a:pPr>
            <a:r>
              <a:rPr lang="en-US" sz="1296" b="1" dirty="0" err="1">
                <a:solidFill>
                  <a:srgbClr val="FFFFFF"/>
                </a:solidFill>
                <a:latin typeface="Noto Sans" pitchFamily="34" charset="0"/>
                <a:ea typeface="Noto Sans" pitchFamily="34" charset="-122"/>
                <a:cs typeface="Noto Sans" pitchFamily="34" charset="-120"/>
              </a:rPr>
              <a:t>Lựa</a:t>
            </a:r>
            <a:r>
              <a:rPr lang="en-US" sz="1296" b="1" dirty="0">
                <a:solidFill>
                  <a:srgbClr val="FFFFFF"/>
                </a:solidFill>
                <a:latin typeface="Noto Sans" pitchFamily="34" charset="0"/>
                <a:ea typeface="Noto Sans" pitchFamily="34" charset="-122"/>
                <a:cs typeface="Noto Sans" pitchFamily="34" charset="-120"/>
              </a:rPr>
              <a:t> </a:t>
            </a:r>
            <a:r>
              <a:rPr lang="en-US" sz="1296" b="1" dirty="0" err="1">
                <a:solidFill>
                  <a:srgbClr val="FFFFFF"/>
                </a:solidFill>
                <a:latin typeface="Noto Sans" pitchFamily="34" charset="0"/>
                <a:ea typeface="Noto Sans" pitchFamily="34" charset="-122"/>
                <a:cs typeface="Noto Sans" pitchFamily="34" charset="-120"/>
              </a:rPr>
              <a:t>chọn</a:t>
            </a:r>
            <a:r>
              <a:rPr lang="en-US" sz="1296" b="1" dirty="0">
                <a:solidFill>
                  <a:srgbClr val="FFFFFF"/>
                </a:solidFill>
                <a:latin typeface="Noto Sans" pitchFamily="34" charset="0"/>
                <a:ea typeface="Noto Sans" pitchFamily="34" charset="-122"/>
                <a:cs typeface="Noto Sans" pitchFamily="34" charset="-120"/>
              </a:rPr>
              <a:t> index </a:t>
            </a:r>
          </a:p>
          <a:p>
            <a:pPr marL="0" indent="0" algn="ctr">
              <a:lnSpc>
                <a:spcPct val="100000"/>
              </a:lnSpc>
              <a:spcBef>
                <a:spcPts val="375"/>
              </a:spcBef>
              <a:buNone/>
            </a:pPr>
            <a:r>
              <a:rPr lang="en-US" sz="1296" b="1" dirty="0" err="1">
                <a:solidFill>
                  <a:srgbClr val="FFFFFF"/>
                </a:solidFill>
                <a:latin typeface="Noto Sans" pitchFamily="34" charset="0"/>
                <a:ea typeface="Noto Sans" pitchFamily="34" charset="-122"/>
                <a:cs typeface="Noto Sans" pitchFamily="34" charset="-120"/>
              </a:rPr>
              <a:t>cho</a:t>
            </a:r>
            <a:r>
              <a:rPr lang="en-US" sz="1296" b="1" dirty="0">
                <a:solidFill>
                  <a:srgbClr val="FFFFFF"/>
                </a:solidFill>
                <a:latin typeface="Noto Sans" pitchFamily="34" charset="0"/>
                <a:ea typeface="Noto Sans" pitchFamily="34" charset="-122"/>
                <a:cs typeface="Noto Sans" pitchFamily="34" charset="-120"/>
              </a:rPr>
              <a:t> </a:t>
            </a:r>
            <a:r>
              <a:rPr lang="en-US" sz="1296" b="1" dirty="0" err="1">
                <a:solidFill>
                  <a:srgbClr val="FFFFFF"/>
                </a:solidFill>
                <a:latin typeface="Noto Sans" pitchFamily="34" charset="0"/>
                <a:ea typeface="Noto Sans" pitchFamily="34" charset="-122"/>
                <a:cs typeface="Noto Sans" pitchFamily="34" charset="-120"/>
              </a:rPr>
              <a:t>dữ</a:t>
            </a:r>
            <a:r>
              <a:rPr lang="en-US" sz="1296" b="1" dirty="0">
                <a:solidFill>
                  <a:srgbClr val="FFFFFF"/>
                </a:solidFill>
                <a:latin typeface="Noto Sans" pitchFamily="34" charset="0"/>
                <a:ea typeface="Noto Sans" pitchFamily="34" charset="-122"/>
                <a:cs typeface="Noto Sans" pitchFamily="34" charset="-120"/>
              </a:rPr>
              <a:t> </a:t>
            </a:r>
            <a:r>
              <a:rPr lang="en-US" sz="1296" b="1" dirty="0" err="1">
                <a:solidFill>
                  <a:srgbClr val="FFFFFF"/>
                </a:solidFill>
                <a:latin typeface="Noto Sans" pitchFamily="34" charset="0"/>
                <a:ea typeface="Noto Sans" pitchFamily="34" charset="-122"/>
                <a:cs typeface="Noto Sans" pitchFamily="34" charset="-120"/>
              </a:rPr>
              <a:t>liệu</a:t>
            </a:r>
            <a:r>
              <a:rPr lang="en-US" sz="1296" b="1" dirty="0">
                <a:solidFill>
                  <a:srgbClr val="FFFFFF"/>
                </a:solidFill>
                <a:latin typeface="Noto Sans" pitchFamily="34" charset="0"/>
                <a:ea typeface="Noto Sans" pitchFamily="34" charset="-122"/>
                <a:cs typeface="Noto Sans" pitchFamily="34" charset="-120"/>
              </a:rPr>
              <a:t> </a:t>
            </a:r>
            <a:r>
              <a:rPr lang="en-US" sz="1296" b="1" dirty="0" err="1">
                <a:solidFill>
                  <a:srgbClr val="FFFFFF"/>
                </a:solidFill>
                <a:latin typeface="Noto Sans" pitchFamily="34" charset="0"/>
                <a:ea typeface="Noto Sans" pitchFamily="34" charset="-122"/>
                <a:cs typeface="Noto Sans" pitchFamily="34" charset="-120"/>
              </a:rPr>
              <a:t>nhỏ</a:t>
            </a:r>
            <a:r>
              <a:rPr lang="en-US" sz="1296" b="1" dirty="0">
                <a:solidFill>
                  <a:srgbClr val="FFFFFF"/>
                </a:solidFill>
                <a:latin typeface="Noto Sans" pitchFamily="34" charset="0"/>
                <a:ea typeface="Noto Sans" pitchFamily="34" charset="-122"/>
                <a:cs typeface="Noto Sans" pitchFamily="34" charset="-120"/>
              </a:rPr>
              <a:t>​</a:t>
            </a:r>
            <a:endParaRPr lang="en-US" sz="1440" dirty="0"/>
          </a:p>
        </p:txBody>
      </p:sp>
      <p:sp>
        <p:nvSpPr>
          <p:cNvPr id="8" name="Text 4">
            <a:extLst>
              <a:ext uri="{FF2B5EF4-FFF2-40B4-BE49-F238E27FC236}">
                <a16:creationId xmlns:a16="http://schemas.microsoft.com/office/drawing/2014/main" id="{54AEECE4-B107-9BBA-3C6D-BC19498EE171}"/>
              </a:ext>
            </a:extLst>
          </p:cNvPr>
          <p:cNvSpPr/>
          <p:nvPr/>
        </p:nvSpPr>
        <p:spPr>
          <a:xfrm>
            <a:off x="470182" y="1990650"/>
            <a:ext cx="2309522" cy="812787"/>
          </a:xfrm>
          <a:prstGeom prst="rect">
            <a:avLst/>
          </a:prstGeom>
          <a:noFill/>
          <a:ln/>
        </p:spPr>
        <p:txBody>
          <a:bodyPr wrap="square" lIns="95250" tIns="95250" rIns="95250" bIns="95250" rtlCol="0" anchor="t">
            <a:spAutoFit/>
          </a:bodyPr>
          <a:lstStyle/>
          <a:p>
            <a:pPr marL="0" indent="0" algn="ctr">
              <a:lnSpc>
                <a:spcPct val="100000"/>
              </a:lnSpc>
              <a:spcBef>
                <a:spcPts val="375"/>
              </a:spcBef>
              <a:buNone/>
            </a:pPr>
            <a:r>
              <a:rPr lang="vi-VN" sz="1008" dirty="0">
                <a:solidFill>
                  <a:srgbClr val="FFFFFF"/>
                </a:solidFill>
                <a:latin typeface="Noto Sans" pitchFamily="34" charset="0"/>
                <a:ea typeface="Noto Sans" pitchFamily="34" charset="-122"/>
                <a:cs typeface="Noto Sans" pitchFamily="34" charset="-120"/>
              </a:rPr>
              <a:t>Phương pháp dựa trên đồ thị như HNSW và NSG phù hợp với dữ liệu dưới 1 triệu vector nhờ truy vấn nhanh và ít tốn bộ nhớ.​</a:t>
            </a:r>
            <a:endParaRPr lang="en-US" sz="1440" dirty="0"/>
          </a:p>
        </p:txBody>
      </p:sp>
      <p:pic>
        <p:nvPicPr>
          <p:cNvPr id="9" name="Image 2" descr="preencoded.png">
            <a:extLst>
              <a:ext uri="{FF2B5EF4-FFF2-40B4-BE49-F238E27FC236}">
                <a16:creationId xmlns:a16="http://schemas.microsoft.com/office/drawing/2014/main" id="{73340FB5-1FD3-48C7-F04A-89432AA1EFCF}"/>
              </a:ext>
            </a:extLst>
          </p:cNvPr>
          <p:cNvPicPr>
            <a:picLocks noChangeAspect="1"/>
          </p:cNvPicPr>
          <p:nvPr/>
        </p:nvPicPr>
        <p:blipFill>
          <a:blip r:embed="rId6"/>
          <a:stretch>
            <a:fillRect/>
          </a:stretch>
        </p:blipFill>
        <p:spPr>
          <a:xfrm>
            <a:off x="3259622" y="968786"/>
            <a:ext cx="2624757" cy="3739040"/>
          </a:xfrm>
          <a:prstGeom prst="rect">
            <a:avLst/>
          </a:prstGeom>
        </p:spPr>
      </p:pic>
      <p:sp>
        <p:nvSpPr>
          <p:cNvPr id="10" name="Shape 5">
            <a:extLst>
              <a:ext uri="{FF2B5EF4-FFF2-40B4-BE49-F238E27FC236}">
                <a16:creationId xmlns:a16="http://schemas.microsoft.com/office/drawing/2014/main" id="{2354AE30-7FFD-0733-7D9F-5AAA9EC23116}"/>
              </a:ext>
            </a:extLst>
          </p:cNvPr>
          <p:cNvSpPr/>
          <p:nvPr/>
        </p:nvSpPr>
        <p:spPr>
          <a:xfrm>
            <a:off x="3895074" y="1906662"/>
            <a:ext cx="1249869" cy="0"/>
          </a:xfrm>
          <a:custGeom>
            <a:avLst/>
            <a:gdLst/>
            <a:ahLst/>
            <a:cxnLst/>
            <a:rect l="l" t="t" r="r" b="b"/>
            <a:pathLst>
              <a:path w="1249869">
                <a:moveTo>
                  <a:pt x="0" y="0"/>
                </a:moveTo>
                <a:moveTo>
                  <a:pt x="0" y="0"/>
                </a:moveTo>
                <a:lnTo>
                  <a:pt x="1249869" y="0"/>
                </a:lnTo>
              </a:path>
            </a:pathLst>
          </a:custGeom>
          <a:noFill/>
          <a:ln w="10317">
            <a:solidFill>
              <a:srgbClr val="2B76FD">
                <a:alpha val="49020"/>
              </a:srgbClr>
            </a:solidFill>
            <a:prstDash val="solid"/>
            <a:headEnd type="none"/>
            <a:tailEnd type="none"/>
          </a:ln>
        </p:spPr>
        <p:txBody>
          <a:bodyPr/>
          <a:lstStyle/>
          <a:p>
            <a:endParaRPr lang="en-US"/>
          </a:p>
        </p:txBody>
      </p:sp>
      <p:pic>
        <p:nvPicPr>
          <p:cNvPr id="12" name="Image 3" descr="preencoded.png">
            <a:extLst>
              <a:ext uri="{FF2B5EF4-FFF2-40B4-BE49-F238E27FC236}">
                <a16:creationId xmlns:a16="http://schemas.microsoft.com/office/drawing/2014/main" id="{270230F6-0761-EA99-147B-FD8D375B6BB5}"/>
              </a:ext>
            </a:extLst>
          </p:cNvPr>
          <p:cNvPicPr>
            <a:picLocks noChangeAspect="1"/>
          </p:cNvPicPr>
          <p:nvPr/>
        </p:nvPicPr>
        <p:blipFill>
          <a:blip r:embed="rId7"/>
          <a:stretch>
            <a:fillRect/>
          </a:stretch>
        </p:blipFill>
        <p:spPr>
          <a:xfrm>
            <a:off x="4423429" y="3873433"/>
            <a:ext cx="297142" cy="297142"/>
          </a:xfrm>
          <a:prstGeom prst="rect">
            <a:avLst/>
          </a:prstGeom>
        </p:spPr>
      </p:pic>
      <p:sp>
        <p:nvSpPr>
          <p:cNvPr id="13" name="Text 7">
            <a:extLst>
              <a:ext uri="{FF2B5EF4-FFF2-40B4-BE49-F238E27FC236}">
                <a16:creationId xmlns:a16="http://schemas.microsoft.com/office/drawing/2014/main" id="{CB5DA213-F14F-5A77-0A1A-6EDD45B697B4}"/>
              </a:ext>
            </a:extLst>
          </p:cNvPr>
          <p:cNvSpPr/>
          <p:nvPr/>
        </p:nvSpPr>
        <p:spPr>
          <a:xfrm>
            <a:off x="3333143" y="1370658"/>
            <a:ext cx="2477713" cy="406094"/>
          </a:xfrm>
          <a:prstGeom prst="rect">
            <a:avLst/>
          </a:prstGeom>
          <a:noFill/>
          <a:ln/>
        </p:spPr>
        <p:txBody>
          <a:bodyPr wrap="square" lIns="95250" tIns="95250" rIns="95250" bIns="95250" rtlCol="0" anchor="ctr"/>
          <a:lstStyle/>
          <a:p>
            <a:pPr marL="0" indent="0" algn="ctr">
              <a:lnSpc>
                <a:spcPct val="100000"/>
              </a:lnSpc>
              <a:spcBef>
                <a:spcPts val="375"/>
              </a:spcBef>
              <a:buNone/>
            </a:pPr>
            <a:r>
              <a:rPr lang="en-US" sz="1296" b="1" dirty="0">
                <a:solidFill>
                  <a:srgbClr val="2B76FD"/>
                </a:solidFill>
                <a:latin typeface="Noto Sans" pitchFamily="34" charset="0"/>
                <a:ea typeface="Noto Sans" pitchFamily="34" charset="-122"/>
                <a:cs typeface="Noto Sans" pitchFamily="34" charset="-120"/>
              </a:rPr>
              <a:t>Index IVF </a:t>
            </a:r>
            <a:r>
              <a:rPr lang="en-US" sz="1296" b="1" dirty="0" err="1">
                <a:solidFill>
                  <a:srgbClr val="2B76FD"/>
                </a:solidFill>
                <a:latin typeface="Noto Sans" pitchFamily="34" charset="0"/>
                <a:ea typeface="Noto Sans" pitchFamily="34" charset="-122"/>
                <a:cs typeface="Noto Sans" pitchFamily="34" charset="-120"/>
              </a:rPr>
              <a:t>cho</a:t>
            </a:r>
            <a:r>
              <a:rPr lang="en-US" sz="1296" b="1" dirty="0">
                <a:solidFill>
                  <a:srgbClr val="2B76FD"/>
                </a:solidFill>
                <a:latin typeface="Noto Sans" pitchFamily="34" charset="0"/>
                <a:ea typeface="Noto Sans" pitchFamily="34" charset="-122"/>
                <a:cs typeface="Noto Sans" pitchFamily="34" charset="-120"/>
              </a:rPr>
              <a:t> </a:t>
            </a:r>
            <a:r>
              <a:rPr lang="en-US" sz="1296" b="1" dirty="0" err="1">
                <a:solidFill>
                  <a:srgbClr val="2B76FD"/>
                </a:solidFill>
                <a:latin typeface="Noto Sans" pitchFamily="34" charset="0"/>
                <a:ea typeface="Noto Sans" pitchFamily="34" charset="-122"/>
                <a:cs typeface="Noto Sans" pitchFamily="34" charset="-120"/>
              </a:rPr>
              <a:t>dữ</a:t>
            </a:r>
            <a:r>
              <a:rPr lang="en-US" sz="1296" b="1" dirty="0">
                <a:solidFill>
                  <a:srgbClr val="2B76FD"/>
                </a:solidFill>
                <a:latin typeface="Noto Sans" pitchFamily="34" charset="0"/>
                <a:ea typeface="Noto Sans" pitchFamily="34" charset="-122"/>
                <a:cs typeface="Noto Sans" pitchFamily="34" charset="-120"/>
              </a:rPr>
              <a:t> </a:t>
            </a:r>
            <a:r>
              <a:rPr lang="en-US" sz="1296" b="1" dirty="0" err="1">
                <a:solidFill>
                  <a:srgbClr val="2B76FD"/>
                </a:solidFill>
                <a:latin typeface="Noto Sans" pitchFamily="34" charset="0"/>
                <a:ea typeface="Noto Sans" pitchFamily="34" charset="-122"/>
                <a:cs typeface="Noto Sans" pitchFamily="34" charset="-120"/>
              </a:rPr>
              <a:t>liệu</a:t>
            </a:r>
            <a:r>
              <a:rPr lang="en-US" sz="1296" b="1" dirty="0">
                <a:solidFill>
                  <a:srgbClr val="2B76FD"/>
                </a:solidFill>
                <a:latin typeface="Noto Sans" pitchFamily="34" charset="0"/>
                <a:ea typeface="Noto Sans" pitchFamily="34" charset="-122"/>
                <a:cs typeface="Noto Sans" pitchFamily="34" charset="-120"/>
              </a:rPr>
              <a:t> </a:t>
            </a:r>
            <a:r>
              <a:rPr lang="en-US" sz="1296" b="1" dirty="0" err="1">
                <a:solidFill>
                  <a:srgbClr val="2B76FD"/>
                </a:solidFill>
                <a:latin typeface="Noto Sans" pitchFamily="34" charset="0"/>
                <a:ea typeface="Noto Sans" pitchFamily="34" charset="-122"/>
                <a:cs typeface="Noto Sans" pitchFamily="34" charset="-120"/>
              </a:rPr>
              <a:t>lớn</a:t>
            </a:r>
            <a:r>
              <a:rPr lang="en-US" sz="1296" b="1" dirty="0">
                <a:solidFill>
                  <a:srgbClr val="2B76FD"/>
                </a:solidFill>
                <a:latin typeface="Noto Sans" pitchFamily="34" charset="0"/>
                <a:ea typeface="Noto Sans" pitchFamily="34" charset="-122"/>
                <a:cs typeface="Noto Sans" pitchFamily="34" charset="-120"/>
              </a:rPr>
              <a:t>​</a:t>
            </a:r>
            <a:endParaRPr lang="en-US" sz="1440" dirty="0"/>
          </a:p>
        </p:txBody>
      </p:sp>
      <p:sp>
        <p:nvSpPr>
          <p:cNvPr id="14" name="Text 8">
            <a:extLst>
              <a:ext uri="{FF2B5EF4-FFF2-40B4-BE49-F238E27FC236}">
                <a16:creationId xmlns:a16="http://schemas.microsoft.com/office/drawing/2014/main" id="{06644326-6D71-416F-E4F0-659CBA447E55}"/>
              </a:ext>
            </a:extLst>
          </p:cNvPr>
          <p:cNvSpPr/>
          <p:nvPr/>
        </p:nvSpPr>
        <p:spPr>
          <a:xfrm>
            <a:off x="3417107" y="1990650"/>
            <a:ext cx="2309786" cy="812787"/>
          </a:xfrm>
          <a:prstGeom prst="rect">
            <a:avLst/>
          </a:prstGeom>
          <a:noFill/>
          <a:ln/>
        </p:spPr>
        <p:txBody>
          <a:bodyPr wrap="square" lIns="95250" tIns="95250" rIns="95250" bIns="95250" rtlCol="0" anchor="t">
            <a:spAutoFit/>
          </a:bodyPr>
          <a:lstStyle/>
          <a:p>
            <a:pPr marL="0" indent="0" algn="ctr">
              <a:lnSpc>
                <a:spcPct val="100000"/>
              </a:lnSpc>
              <a:spcBef>
                <a:spcPts val="375"/>
              </a:spcBef>
              <a:buNone/>
            </a:pPr>
            <a:r>
              <a:rPr lang="vi-VN" sz="1008" dirty="0">
                <a:solidFill>
                  <a:srgbClr val="00070F"/>
                </a:solidFill>
                <a:latin typeface="Noto Sans" pitchFamily="34" charset="0"/>
                <a:ea typeface="Noto Sans" pitchFamily="34" charset="-122"/>
                <a:cs typeface="Noto Sans" pitchFamily="34" charset="-120"/>
              </a:rPr>
              <a:t>IVF tối ưu cho dữ liệu trên 10 triệu vector, nhờ khả năng nén và kiểm soát phép tính khoảng cách hiệu quả.​</a:t>
            </a:r>
            <a:endParaRPr lang="en-US" sz="1440" dirty="0"/>
          </a:p>
        </p:txBody>
      </p:sp>
      <p:pic>
        <p:nvPicPr>
          <p:cNvPr id="15" name="Image 4" descr="preencoded.png">
            <a:extLst>
              <a:ext uri="{FF2B5EF4-FFF2-40B4-BE49-F238E27FC236}">
                <a16:creationId xmlns:a16="http://schemas.microsoft.com/office/drawing/2014/main" id="{202B1AC1-967F-5478-DADC-14592F7BFE14}"/>
              </a:ext>
            </a:extLst>
          </p:cNvPr>
          <p:cNvPicPr>
            <a:picLocks noChangeAspect="1"/>
          </p:cNvPicPr>
          <p:nvPr/>
        </p:nvPicPr>
        <p:blipFill>
          <a:blip r:embed="rId8"/>
          <a:stretch>
            <a:fillRect/>
          </a:stretch>
        </p:blipFill>
        <p:spPr>
          <a:xfrm>
            <a:off x="6206761" y="968786"/>
            <a:ext cx="2624757" cy="3739040"/>
          </a:xfrm>
          <a:prstGeom prst="rect">
            <a:avLst/>
          </a:prstGeom>
        </p:spPr>
      </p:pic>
      <p:sp>
        <p:nvSpPr>
          <p:cNvPr id="16" name="Shape 9">
            <a:extLst>
              <a:ext uri="{FF2B5EF4-FFF2-40B4-BE49-F238E27FC236}">
                <a16:creationId xmlns:a16="http://schemas.microsoft.com/office/drawing/2014/main" id="{4F47DB16-99BC-8E7D-B309-2B9585D2B15B}"/>
              </a:ext>
            </a:extLst>
          </p:cNvPr>
          <p:cNvSpPr/>
          <p:nvPr/>
        </p:nvSpPr>
        <p:spPr>
          <a:xfrm>
            <a:off x="6842213" y="1906662"/>
            <a:ext cx="1249869" cy="0"/>
          </a:xfrm>
          <a:custGeom>
            <a:avLst/>
            <a:gdLst/>
            <a:ahLst/>
            <a:cxnLst/>
            <a:rect l="l" t="t" r="r" b="b"/>
            <a:pathLst>
              <a:path w="1249869">
                <a:moveTo>
                  <a:pt x="0" y="0"/>
                </a:moveTo>
                <a:moveTo>
                  <a:pt x="0" y="0"/>
                </a:moveTo>
                <a:lnTo>
                  <a:pt x="1249869" y="0"/>
                </a:lnTo>
              </a:path>
            </a:pathLst>
          </a:custGeom>
          <a:noFill/>
          <a:ln w="10317">
            <a:solidFill>
              <a:srgbClr val="FFFFFF">
                <a:alpha val="47843"/>
              </a:srgbClr>
            </a:solidFill>
            <a:prstDash val="solid"/>
            <a:headEnd type="none"/>
            <a:tailEnd type="none"/>
          </a:ln>
        </p:spPr>
        <p:txBody>
          <a:bodyPr/>
          <a:lstStyle/>
          <a:p>
            <a:endParaRPr lang="en-US"/>
          </a:p>
        </p:txBody>
      </p:sp>
      <p:pic>
        <p:nvPicPr>
          <p:cNvPr id="18" name="Image 5" descr="preencoded.png">
            <a:extLst>
              <a:ext uri="{FF2B5EF4-FFF2-40B4-BE49-F238E27FC236}">
                <a16:creationId xmlns:a16="http://schemas.microsoft.com/office/drawing/2014/main" id="{0CFA540A-9765-ADA7-73CC-4A77664EF5C2}"/>
              </a:ext>
            </a:extLst>
          </p:cNvPr>
          <p:cNvPicPr>
            <a:picLocks noChangeAspect="1"/>
          </p:cNvPicPr>
          <p:nvPr/>
        </p:nvPicPr>
        <p:blipFill>
          <a:blip r:embed="rId9"/>
          <a:stretch>
            <a:fillRect/>
          </a:stretch>
        </p:blipFill>
        <p:spPr>
          <a:xfrm>
            <a:off x="7296283" y="3804100"/>
            <a:ext cx="445713" cy="435809"/>
          </a:xfrm>
          <a:prstGeom prst="rect">
            <a:avLst/>
          </a:prstGeom>
        </p:spPr>
      </p:pic>
      <p:sp>
        <p:nvSpPr>
          <p:cNvPr id="19" name="Text 11">
            <a:extLst>
              <a:ext uri="{FF2B5EF4-FFF2-40B4-BE49-F238E27FC236}">
                <a16:creationId xmlns:a16="http://schemas.microsoft.com/office/drawing/2014/main" id="{34097744-3485-4FCA-6B3D-F8F60000E83B}"/>
              </a:ext>
            </a:extLst>
          </p:cNvPr>
          <p:cNvSpPr/>
          <p:nvPr/>
        </p:nvSpPr>
        <p:spPr>
          <a:xfrm>
            <a:off x="6275061" y="1370658"/>
            <a:ext cx="2488158" cy="406094"/>
          </a:xfrm>
          <a:prstGeom prst="rect">
            <a:avLst/>
          </a:prstGeom>
          <a:noFill/>
          <a:ln/>
        </p:spPr>
        <p:txBody>
          <a:bodyPr wrap="square" lIns="95250" tIns="95250" rIns="95250" bIns="95250" rtlCol="0" anchor="ctr"/>
          <a:lstStyle/>
          <a:p>
            <a:pPr marL="0" indent="0" algn="ctr">
              <a:lnSpc>
                <a:spcPct val="100000"/>
              </a:lnSpc>
              <a:spcBef>
                <a:spcPts val="375"/>
              </a:spcBef>
              <a:buNone/>
            </a:pPr>
            <a:r>
              <a:rPr lang="en-US" sz="1296" b="1" dirty="0" err="1">
                <a:solidFill>
                  <a:srgbClr val="FFFFFF"/>
                </a:solidFill>
                <a:latin typeface="Noto Sans" pitchFamily="34" charset="0"/>
                <a:ea typeface="Noto Sans" pitchFamily="34" charset="-122"/>
                <a:cs typeface="Noto Sans" pitchFamily="34" charset="-120"/>
              </a:rPr>
              <a:t>Sử</a:t>
            </a:r>
            <a:r>
              <a:rPr lang="en-US" sz="1296" b="1" dirty="0">
                <a:solidFill>
                  <a:srgbClr val="FFFFFF"/>
                </a:solidFill>
                <a:latin typeface="Noto Sans" pitchFamily="34" charset="0"/>
                <a:ea typeface="Noto Sans" pitchFamily="34" charset="-122"/>
                <a:cs typeface="Noto Sans" pitchFamily="34" charset="-120"/>
              </a:rPr>
              <a:t> </a:t>
            </a:r>
            <a:r>
              <a:rPr lang="en-US" sz="1296" b="1" dirty="0" err="1">
                <a:solidFill>
                  <a:srgbClr val="FFFFFF"/>
                </a:solidFill>
                <a:latin typeface="Noto Sans" pitchFamily="34" charset="0"/>
                <a:ea typeface="Noto Sans" pitchFamily="34" charset="-122"/>
                <a:cs typeface="Noto Sans" pitchFamily="34" charset="-120"/>
              </a:rPr>
              <a:t>dụng</a:t>
            </a:r>
            <a:r>
              <a:rPr lang="en-US" sz="1296" b="1" dirty="0">
                <a:solidFill>
                  <a:srgbClr val="FFFFFF"/>
                </a:solidFill>
                <a:latin typeface="Noto Sans" pitchFamily="34" charset="0"/>
                <a:ea typeface="Noto Sans" pitchFamily="34" charset="-122"/>
                <a:cs typeface="Noto Sans" pitchFamily="34" charset="-120"/>
              </a:rPr>
              <a:t> </a:t>
            </a:r>
            <a:r>
              <a:rPr lang="en-US" sz="1296" b="1" dirty="0" err="1">
                <a:solidFill>
                  <a:srgbClr val="FFFFFF"/>
                </a:solidFill>
                <a:latin typeface="Noto Sans" pitchFamily="34" charset="0"/>
                <a:ea typeface="Noto Sans" pitchFamily="34" charset="-122"/>
                <a:cs typeface="Noto Sans" pitchFamily="34" charset="-120"/>
              </a:rPr>
              <a:t>cây</a:t>
            </a:r>
            <a:r>
              <a:rPr lang="en-US" sz="1296" b="1" dirty="0">
                <a:solidFill>
                  <a:srgbClr val="FFFFFF"/>
                </a:solidFill>
                <a:latin typeface="Noto Sans" pitchFamily="34" charset="0"/>
                <a:ea typeface="Noto Sans" pitchFamily="34" charset="-122"/>
                <a:cs typeface="Noto Sans" pitchFamily="34" charset="-120"/>
              </a:rPr>
              <a:t> </a:t>
            </a:r>
            <a:r>
              <a:rPr lang="en-US" sz="1296" b="1" dirty="0" err="1">
                <a:solidFill>
                  <a:srgbClr val="FFFFFF"/>
                </a:solidFill>
                <a:latin typeface="Noto Sans" pitchFamily="34" charset="0"/>
                <a:ea typeface="Noto Sans" pitchFamily="34" charset="-122"/>
                <a:cs typeface="Noto Sans" pitchFamily="34" charset="-120"/>
              </a:rPr>
              <a:t>quyết</a:t>
            </a:r>
            <a:r>
              <a:rPr lang="en-US" sz="1296" b="1" dirty="0">
                <a:solidFill>
                  <a:srgbClr val="FFFFFF"/>
                </a:solidFill>
                <a:latin typeface="Noto Sans" pitchFamily="34" charset="0"/>
                <a:ea typeface="Noto Sans" pitchFamily="34" charset="-122"/>
                <a:cs typeface="Noto Sans" pitchFamily="34" charset="-120"/>
              </a:rPr>
              <a:t> </a:t>
            </a:r>
            <a:r>
              <a:rPr lang="en-US" sz="1296" b="1" dirty="0" err="1">
                <a:solidFill>
                  <a:srgbClr val="FFFFFF"/>
                </a:solidFill>
                <a:latin typeface="Noto Sans" pitchFamily="34" charset="0"/>
                <a:ea typeface="Noto Sans" pitchFamily="34" charset="-122"/>
                <a:cs typeface="Noto Sans" pitchFamily="34" charset="-120"/>
              </a:rPr>
              <a:t>định</a:t>
            </a:r>
            <a:r>
              <a:rPr lang="en-US" sz="1296" b="1" dirty="0">
                <a:solidFill>
                  <a:srgbClr val="FFFFFF"/>
                </a:solidFill>
                <a:latin typeface="Noto Sans" pitchFamily="34" charset="0"/>
                <a:ea typeface="Noto Sans" pitchFamily="34" charset="-122"/>
                <a:cs typeface="Noto Sans" pitchFamily="34" charset="-120"/>
              </a:rPr>
              <a:t> </a:t>
            </a:r>
            <a:r>
              <a:rPr lang="en-US" sz="1296" b="1" dirty="0" err="1">
                <a:solidFill>
                  <a:srgbClr val="FFFFFF"/>
                </a:solidFill>
                <a:latin typeface="Noto Sans" pitchFamily="34" charset="0"/>
                <a:ea typeface="Noto Sans" pitchFamily="34" charset="-122"/>
                <a:cs typeface="Noto Sans" pitchFamily="34" charset="-120"/>
              </a:rPr>
              <a:t>chọn</a:t>
            </a:r>
            <a:r>
              <a:rPr lang="en-US" sz="1296" b="1" dirty="0">
                <a:solidFill>
                  <a:srgbClr val="FFFFFF"/>
                </a:solidFill>
                <a:latin typeface="Noto Sans" pitchFamily="34" charset="0"/>
                <a:ea typeface="Noto Sans" pitchFamily="34" charset="-122"/>
                <a:cs typeface="Noto Sans" pitchFamily="34" charset="-120"/>
              </a:rPr>
              <a:t> index​</a:t>
            </a:r>
            <a:endParaRPr lang="en-US" sz="1440" dirty="0"/>
          </a:p>
        </p:txBody>
      </p:sp>
      <p:sp>
        <p:nvSpPr>
          <p:cNvPr id="20" name="Text 12">
            <a:extLst>
              <a:ext uri="{FF2B5EF4-FFF2-40B4-BE49-F238E27FC236}">
                <a16:creationId xmlns:a16="http://schemas.microsoft.com/office/drawing/2014/main" id="{7D484FE2-2C9B-BF00-FF79-E77AAC86CDE3}"/>
              </a:ext>
            </a:extLst>
          </p:cNvPr>
          <p:cNvSpPr/>
          <p:nvPr/>
        </p:nvSpPr>
        <p:spPr>
          <a:xfrm>
            <a:off x="6364247" y="1990650"/>
            <a:ext cx="2309786" cy="812787"/>
          </a:xfrm>
          <a:prstGeom prst="rect">
            <a:avLst/>
          </a:prstGeom>
          <a:noFill/>
          <a:ln/>
        </p:spPr>
        <p:txBody>
          <a:bodyPr wrap="square" lIns="95250" tIns="95250" rIns="95250" bIns="95250" rtlCol="0" anchor="t">
            <a:spAutoFit/>
          </a:bodyPr>
          <a:lstStyle/>
          <a:p>
            <a:pPr algn="ctr">
              <a:spcBef>
                <a:spcPts val="375"/>
              </a:spcBef>
            </a:pPr>
            <a:r>
              <a:rPr lang="vi-VN" sz="1008" dirty="0">
                <a:solidFill>
                  <a:srgbClr val="FFFFFF"/>
                </a:solidFill>
                <a:latin typeface="Noto Sans" pitchFamily="34" charset="0"/>
                <a:ea typeface="Noto Sans" pitchFamily="34" charset="-122"/>
                <a:cs typeface="Noto Sans" pitchFamily="34" charset="-120"/>
              </a:rPr>
              <a:t>Cây quyết định giúp cân bằng tốc độ truy vấn, độ chính xác và chi phí lưu trữ khi chọn loại index phù hợp.​</a:t>
            </a:r>
            <a:endParaRPr lang="en-US" sz="1440" dirty="0"/>
          </a:p>
        </p:txBody>
      </p:sp>
    </p:spTree>
    <p:extLst>
      <p:ext uri="{BB962C8B-B14F-4D97-AF65-F5344CB8AC3E}">
        <p14:creationId xmlns:p14="http://schemas.microsoft.com/office/powerpoint/2010/main" val="17180219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3DE5CCE9-10E2-0762-BEFC-E5E7E2B17C7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36790E5-1028-D292-4D2C-5FFBF26C7774}"/>
              </a:ext>
            </a:extLst>
          </p:cNvPr>
          <p:cNvSpPr/>
          <p:nvPr/>
        </p:nvSpPr>
        <p:spPr>
          <a:xfrm>
            <a:off x="6709417" y="1215473"/>
            <a:ext cx="2140946" cy="1982659"/>
          </a:xfrm>
          <a:prstGeom prst="rect">
            <a:avLst/>
          </a:prstGeom>
          <a:noFill/>
          <a:ln/>
        </p:spPr>
        <p:txBody>
          <a:bodyPr wrap="square" lIns="95250" tIns="95250" rIns="95250" bIns="95250" rtlCol="0" anchor="t">
            <a:spAutoFit/>
          </a:bodyPr>
          <a:lstStyle/>
          <a:p>
            <a:pPr algn="ctr">
              <a:lnSpc>
                <a:spcPct val="112500"/>
              </a:lnSpc>
              <a:spcBef>
                <a:spcPts val="375"/>
              </a:spcBef>
            </a:pPr>
            <a:r>
              <a:rPr lang="en-US" sz="8640" b="1" dirty="0">
                <a:solidFill>
                  <a:srgbClr val="2B76FD">
                    <a:alpha val="60000"/>
                  </a:srgbClr>
                </a:solidFill>
                <a:latin typeface="Noto Sans" pitchFamily="34" charset="0"/>
                <a:ea typeface="Noto Sans" pitchFamily="34" charset="-122"/>
                <a:cs typeface="Noto Sans" pitchFamily="34" charset="-120"/>
              </a:rPr>
              <a:t>06</a:t>
            </a:r>
            <a:endParaRPr lang="en-US" sz="1440" dirty="0"/>
          </a:p>
          <a:p>
            <a:pPr marL="0" indent="0" algn="ctr">
              <a:lnSpc>
                <a:spcPct val="112500"/>
              </a:lnSpc>
              <a:spcBef>
                <a:spcPts val="375"/>
              </a:spcBef>
              <a:buNone/>
            </a:pPr>
            <a:endParaRPr lang="en-US" sz="1440" dirty="0"/>
          </a:p>
        </p:txBody>
      </p:sp>
      <p:sp>
        <p:nvSpPr>
          <p:cNvPr id="3" name="Text 1">
            <a:extLst>
              <a:ext uri="{FF2B5EF4-FFF2-40B4-BE49-F238E27FC236}">
                <a16:creationId xmlns:a16="http://schemas.microsoft.com/office/drawing/2014/main" id="{44ABDD2C-C37F-FD23-5E2F-C3EA584C0973}"/>
              </a:ext>
            </a:extLst>
          </p:cNvPr>
          <p:cNvSpPr/>
          <p:nvPr/>
        </p:nvSpPr>
        <p:spPr>
          <a:xfrm>
            <a:off x="4098516" y="2591079"/>
            <a:ext cx="4294798" cy="569067"/>
          </a:xfrm>
          <a:prstGeom prst="rect">
            <a:avLst/>
          </a:prstGeom>
          <a:noFill/>
          <a:ln/>
        </p:spPr>
        <p:txBody>
          <a:bodyPr wrap="square" lIns="95250" tIns="95250" rIns="95250" bIns="95250" rtlCol="0" anchor="t">
            <a:spAutoFit/>
          </a:bodyPr>
          <a:lstStyle/>
          <a:p>
            <a:pPr marL="0" indent="0" algn="r">
              <a:lnSpc>
                <a:spcPct val="100000"/>
              </a:lnSpc>
              <a:spcBef>
                <a:spcPts val="375"/>
              </a:spcBef>
              <a:buNone/>
            </a:pPr>
            <a:r>
              <a:rPr lang="en-US" sz="2448" b="1" dirty="0">
                <a:solidFill>
                  <a:srgbClr val="2B76FD"/>
                </a:solidFill>
                <a:latin typeface="Noto Sans" pitchFamily="34" charset="0"/>
                <a:ea typeface="Noto Sans" pitchFamily="34" charset="-122"/>
                <a:cs typeface="Noto Sans" pitchFamily="34" charset="-120"/>
              </a:rPr>
              <a:t>Các </a:t>
            </a:r>
            <a:r>
              <a:rPr lang="en-US" sz="2448" b="1" dirty="0" err="1">
                <a:solidFill>
                  <a:srgbClr val="2B76FD"/>
                </a:solidFill>
                <a:latin typeface="Noto Sans" pitchFamily="34" charset="0"/>
                <a:ea typeface="Noto Sans" pitchFamily="34" charset="-122"/>
                <a:cs typeface="Noto Sans" pitchFamily="34" charset="-120"/>
              </a:rPr>
              <a:t>thao</a:t>
            </a:r>
            <a:r>
              <a:rPr lang="en-US" sz="2448" b="1" dirty="0">
                <a:solidFill>
                  <a:srgbClr val="2B76FD"/>
                </a:solidFill>
                <a:latin typeface="Noto Sans" pitchFamily="34" charset="0"/>
                <a:ea typeface="Noto Sans" pitchFamily="34" charset="-122"/>
                <a:cs typeface="Noto Sans" pitchFamily="34" charset="-120"/>
              </a:rPr>
              <a:t> </a:t>
            </a:r>
            <a:r>
              <a:rPr lang="en-US" sz="2448" b="1" dirty="0" err="1">
                <a:solidFill>
                  <a:srgbClr val="2B76FD"/>
                </a:solidFill>
                <a:latin typeface="Noto Sans" pitchFamily="34" charset="0"/>
                <a:ea typeface="Noto Sans" pitchFamily="34" charset="-122"/>
                <a:cs typeface="Noto Sans" pitchFamily="34" charset="-120"/>
              </a:rPr>
              <a:t>tác</a:t>
            </a:r>
            <a:r>
              <a:rPr lang="en-US" sz="2448" b="1" dirty="0">
                <a:solidFill>
                  <a:srgbClr val="2B76FD"/>
                </a:solidFill>
                <a:latin typeface="Noto Sans" pitchFamily="34" charset="0"/>
                <a:ea typeface="Noto Sans" pitchFamily="34" charset="-122"/>
                <a:cs typeface="Noto Sans" pitchFamily="34" charset="-120"/>
              </a:rPr>
              <a:t> </a:t>
            </a:r>
            <a:r>
              <a:rPr lang="en-US" sz="2448" b="1" dirty="0" err="1">
                <a:solidFill>
                  <a:srgbClr val="2B76FD"/>
                </a:solidFill>
                <a:latin typeface="Noto Sans" pitchFamily="34" charset="0"/>
                <a:ea typeface="Noto Sans" pitchFamily="34" charset="-122"/>
                <a:cs typeface="Noto Sans" pitchFamily="34" charset="-120"/>
              </a:rPr>
              <a:t>cơ</a:t>
            </a:r>
            <a:r>
              <a:rPr lang="en-US" sz="2448" b="1" dirty="0">
                <a:solidFill>
                  <a:srgbClr val="2B76FD"/>
                </a:solidFill>
                <a:latin typeface="Noto Sans" pitchFamily="34" charset="0"/>
                <a:ea typeface="Noto Sans" pitchFamily="34" charset="-122"/>
                <a:cs typeface="Noto Sans" pitchFamily="34" charset="-120"/>
              </a:rPr>
              <a:t> </a:t>
            </a:r>
            <a:r>
              <a:rPr lang="en-US" sz="2448" b="1" dirty="0" err="1">
                <a:solidFill>
                  <a:srgbClr val="2B76FD"/>
                </a:solidFill>
                <a:latin typeface="Noto Sans" pitchFamily="34" charset="0"/>
                <a:ea typeface="Noto Sans" pitchFamily="34" charset="-122"/>
                <a:cs typeface="Noto Sans" pitchFamily="34" charset="-120"/>
              </a:rPr>
              <a:t>sở</a:t>
            </a:r>
            <a:r>
              <a:rPr lang="en-US" sz="2448" b="1" dirty="0">
                <a:solidFill>
                  <a:srgbClr val="2B76FD"/>
                </a:solidFill>
                <a:latin typeface="Noto Sans" pitchFamily="34" charset="0"/>
                <a:ea typeface="Noto Sans" pitchFamily="34" charset="-122"/>
                <a:cs typeface="Noto Sans" pitchFamily="34" charset="-120"/>
              </a:rPr>
              <a:t> </a:t>
            </a:r>
            <a:r>
              <a:rPr lang="en-US" sz="2448" b="1" dirty="0" err="1">
                <a:solidFill>
                  <a:srgbClr val="2B76FD"/>
                </a:solidFill>
                <a:latin typeface="Noto Sans" pitchFamily="34" charset="0"/>
                <a:ea typeface="Noto Sans" pitchFamily="34" charset="-122"/>
                <a:cs typeface="Noto Sans" pitchFamily="34" charset="-120"/>
              </a:rPr>
              <a:t>dữ</a:t>
            </a:r>
            <a:r>
              <a:rPr lang="en-US" sz="2448" b="1" dirty="0">
                <a:solidFill>
                  <a:srgbClr val="2B76FD"/>
                </a:solidFill>
                <a:latin typeface="Noto Sans" pitchFamily="34" charset="0"/>
                <a:ea typeface="Noto Sans" pitchFamily="34" charset="-122"/>
                <a:cs typeface="Noto Sans" pitchFamily="34" charset="-120"/>
              </a:rPr>
              <a:t> </a:t>
            </a:r>
            <a:r>
              <a:rPr lang="en-US" sz="2448" b="1" dirty="0" err="1">
                <a:solidFill>
                  <a:srgbClr val="2B76FD"/>
                </a:solidFill>
                <a:latin typeface="Noto Sans" pitchFamily="34" charset="0"/>
                <a:ea typeface="Noto Sans" pitchFamily="34" charset="-122"/>
                <a:cs typeface="Noto Sans" pitchFamily="34" charset="-120"/>
              </a:rPr>
              <a:t>liệu</a:t>
            </a:r>
            <a:endParaRPr lang="en-US" sz="1440" dirty="0"/>
          </a:p>
        </p:txBody>
      </p:sp>
    </p:spTree>
    <p:extLst>
      <p:ext uri="{BB962C8B-B14F-4D97-AF65-F5344CB8AC3E}">
        <p14:creationId xmlns:p14="http://schemas.microsoft.com/office/powerpoint/2010/main" val="42813747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1E5D9820-E67B-D053-1C9D-49161ADE359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E6ACE55-8A0B-29A4-1245-EC257C107ED6}"/>
              </a:ext>
            </a:extLst>
          </p:cNvPr>
          <p:cNvSpPr/>
          <p:nvPr/>
        </p:nvSpPr>
        <p:spPr>
          <a:xfrm>
            <a:off x="396558" y="328468"/>
            <a:ext cx="8396337" cy="546881"/>
          </a:xfrm>
          <a:prstGeom prst="rect">
            <a:avLst/>
          </a:prstGeom>
          <a:noFill/>
          <a:ln/>
        </p:spPr>
        <p:txBody>
          <a:bodyPr wrap="square" lIns="95250" tIns="95250" rIns="95250" bIns="95250" rtlCol="0" anchor="t">
            <a:spAutoFit/>
          </a:bodyPr>
          <a:lstStyle/>
          <a:p>
            <a:pPr marL="0" indent="0" algn="ctr">
              <a:lnSpc>
                <a:spcPct val="112500"/>
              </a:lnSpc>
              <a:spcBef>
                <a:spcPts val="375"/>
              </a:spcBef>
              <a:buNone/>
            </a:pPr>
            <a:r>
              <a:rPr lang="en-US" sz="2160" b="1" dirty="0">
                <a:solidFill>
                  <a:srgbClr val="193AB9"/>
                </a:solidFill>
                <a:latin typeface="Noto Sans" pitchFamily="34" charset="0"/>
                <a:ea typeface="Noto Sans" pitchFamily="34" charset="-122"/>
                <a:cs typeface="Noto Sans" pitchFamily="34" charset="-120"/>
              </a:rPr>
              <a:t>6. CÁC THAO TÁC VỚI CƠ SỞ DỮ LIỆU</a:t>
            </a:r>
            <a:endParaRPr lang="en-US" sz="1440" dirty="0"/>
          </a:p>
        </p:txBody>
      </p:sp>
      <p:sp>
        <p:nvSpPr>
          <p:cNvPr id="3" name="Shape 1">
            <a:extLst>
              <a:ext uri="{FF2B5EF4-FFF2-40B4-BE49-F238E27FC236}">
                <a16:creationId xmlns:a16="http://schemas.microsoft.com/office/drawing/2014/main" id="{7EECEC60-CED9-0EB9-7D6B-1BDD2801E25F}"/>
              </a:ext>
            </a:extLst>
          </p:cNvPr>
          <p:cNvSpPr/>
          <p:nvPr/>
        </p:nvSpPr>
        <p:spPr>
          <a:xfrm>
            <a:off x="5998674" y="1057430"/>
            <a:ext cx="2850038" cy="508935"/>
          </a:xfrm>
          <a:custGeom>
            <a:avLst/>
            <a:gdLst/>
            <a:ahLst/>
            <a:cxnLst/>
            <a:rect l="l" t="t" r="r" b="b"/>
            <a:pathLst>
              <a:path w="2850038" h="508935">
                <a:moveTo>
                  <a:pt x="254468" y="0"/>
                </a:moveTo>
                <a:moveTo>
                  <a:pt x="254468" y="0"/>
                </a:moveTo>
                <a:lnTo>
                  <a:pt x="2595571" y="0"/>
                </a:lnTo>
                <a:quadBezTo>
                  <a:pt x="2850038" y="0"/>
                  <a:pt x="2850038" y="254468"/>
                </a:quadBezTo>
                <a:lnTo>
                  <a:pt x="2850038" y="254468"/>
                </a:lnTo>
                <a:quadBezTo>
                  <a:pt x="2850038" y="508935"/>
                  <a:pt x="2595571" y="508935"/>
                </a:quadBezTo>
                <a:lnTo>
                  <a:pt x="254468" y="508935"/>
                </a:lnTo>
                <a:quadBezTo>
                  <a:pt x="0" y="508935"/>
                  <a:pt x="0" y="254468"/>
                </a:quadBezTo>
                <a:lnTo>
                  <a:pt x="0" y="254468"/>
                </a:lnTo>
                <a:quadBezTo>
                  <a:pt x="0" y="0"/>
                  <a:pt x="254468" y="0"/>
                </a:quadBezTo>
                <a:close/>
              </a:path>
            </a:pathLst>
          </a:custGeom>
          <a:solidFill>
            <a:srgbClr val="379EFC"/>
          </a:solidFill>
          <a:ln/>
        </p:spPr>
        <p:txBody>
          <a:bodyPr/>
          <a:lstStyle/>
          <a:p>
            <a:endParaRPr lang="en-US"/>
          </a:p>
        </p:txBody>
      </p:sp>
      <p:sp>
        <p:nvSpPr>
          <p:cNvPr id="4" name="Shape 2">
            <a:extLst>
              <a:ext uri="{FF2B5EF4-FFF2-40B4-BE49-F238E27FC236}">
                <a16:creationId xmlns:a16="http://schemas.microsoft.com/office/drawing/2014/main" id="{DAD0247E-74BE-C9F4-607C-8A9E344D7796}"/>
              </a:ext>
            </a:extLst>
          </p:cNvPr>
          <p:cNvSpPr/>
          <p:nvPr/>
        </p:nvSpPr>
        <p:spPr>
          <a:xfrm>
            <a:off x="5998674" y="2024444"/>
            <a:ext cx="2850038" cy="508935"/>
          </a:xfrm>
          <a:custGeom>
            <a:avLst/>
            <a:gdLst/>
            <a:ahLst/>
            <a:cxnLst/>
            <a:rect l="l" t="t" r="r" b="b"/>
            <a:pathLst>
              <a:path w="2850038" h="508935">
                <a:moveTo>
                  <a:pt x="254468" y="0"/>
                </a:moveTo>
                <a:moveTo>
                  <a:pt x="254468" y="0"/>
                </a:moveTo>
                <a:lnTo>
                  <a:pt x="2595571" y="0"/>
                </a:lnTo>
                <a:quadBezTo>
                  <a:pt x="2850038" y="0"/>
                  <a:pt x="2850038" y="254468"/>
                </a:quadBezTo>
                <a:lnTo>
                  <a:pt x="2850038" y="254468"/>
                </a:lnTo>
                <a:quadBezTo>
                  <a:pt x="2850038" y="508935"/>
                  <a:pt x="2595571" y="508935"/>
                </a:quadBezTo>
                <a:lnTo>
                  <a:pt x="254468" y="508935"/>
                </a:lnTo>
                <a:quadBezTo>
                  <a:pt x="0" y="508935"/>
                  <a:pt x="0" y="254468"/>
                </a:quadBezTo>
                <a:lnTo>
                  <a:pt x="0" y="254468"/>
                </a:lnTo>
                <a:quadBezTo>
                  <a:pt x="0" y="0"/>
                  <a:pt x="254468" y="0"/>
                </a:quadBezTo>
                <a:close/>
              </a:path>
            </a:pathLst>
          </a:custGeom>
          <a:solidFill>
            <a:srgbClr val="2B76FD"/>
          </a:solidFill>
          <a:ln/>
        </p:spPr>
        <p:txBody>
          <a:bodyPr/>
          <a:lstStyle/>
          <a:p>
            <a:endParaRPr lang="en-US"/>
          </a:p>
        </p:txBody>
      </p:sp>
      <p:sp>
        <p:nvSpPr>
          <p:cNvPr id="5" name="Shape 3">
            <a:extLst>
              <a:ext uri="{FF2B5EF4-FFF2-40B4-BE49-F238E27FC236}">
                <a16:creationId xmlns:a16="http://schemas.microsoft.com/office/drawing/2014/main" id="{58887F17-B9AD-0163-A8E6-871B624B2680}"/>
              </a:ext>
            </a:extLst>
          </p:cNvPr>
          <p:cNvSpPr/>
          <p:nvPr/>
        </p:nvSpPr>
        <p:spPr>
          <a:xfrm>
            <a:off x="5998674" y="2991458"/>
            <a:ext cx="2850038" cy="508935"/>
          </a:xfrm>
          <a:custGeom>
            <a:avLst/>
            <a:gdLst/>
            <a:ahLst/>
            <a:cxnLst/>
            <a:rect l="l" t="t" r="r" b="b"/>
            <a:pathLst>
              <a:path w="2850038" h="508935">
                <a:moveTo>
                  <a:pt x="254468" y="0"/>
                </a:moveTo>
                <a:moveTo>
                  <a:pt x="254468" y="0"/>
                </a:moveTo>
                <a:lnTo>
                  <a:pt x="2595571" y="0"/>
                </a:lnTo>
                <a:quadBezTo>
                  <a:pt x="2850038" y="0"/>
                  <a:pt x="2850038" y="254468"/>
                </a:quadBezTo>
                <a:lnTo>
                  <a:pt x="2850038" y="254468"/>
                </a:lnTo>
                <a:quadBezTo>
                  <a:pt x="2850038" y="508935"/>
                  <a:pt x="2595571" y="508935"/>
                </a:quadBezTo>
                <a:lnTo>
                  <a:pt x="254468" y="508935"/>
                </a:lnTo>
                <a:quadBezTo>
                  <a:pt x="0" y="508935"/>
                  <a:pt x="0" y="254468"/>
                </a:quadBezTo>
                <a:lnTo>
                  <a:pt x="0" y="254468"/>
                </a:lnTo>
                <a:quadBezTo>
                  <a:pt x="0" y="0"/>
                  <a:pt x="254468" y="0"/>
                </a:quadBezTo>
                <a:close/>
              </a:path>
            </a:pathLst>
          </a:custGeom>
          <a:solidFill>
            <a:srgbClr val="379EFC"/>
          </a:solidFill>
          <a:ln/>
        </p:spPr>
        <p:txBody>
          <a:bodyPr/>
          <a:lstStyle/>
          <a:p>
            <a:pPr algn="ctr">
              <a:spcBef>
                <a:spcPts val="375"/>
              </a:spcBef>
            </a:pPr>
            <a:r>
              <a:rPr lang="en-US" b="1" dirty="0" err="1">
                <a:solidFill>
                  <a:srgbClr val="FFFFFF"/>
                </a:solidFill>
                <a:latin typeface="Noto Sans" pitchFamily="34" charset="0"/>
                <a:ea typeface="Noto Sans" pitchFamily="34" charset="-122"/>
                <a:cs typeface="Noto Sans" pitchFamily="34" charset="-120"/>
              </a:rPr>
              <a:t>Tìm</a:t>
            </a:r>
            <a:r>
              <a:rPr lang="en-US" b="1" dirty="0">
                <a:solidFill>
                  <a:srgbClr val="FFFFFF"/>
                </a:solidFill>
                <a:latin typeface="Noto Sans" pitchFamily="34" charset="0"/>
                <a:ea typeface="Noto Sans" pitchFamily="34" charset="-122"/>
                <a:cs typeface="Noto Sans" pitchFamily="34" charset="-120"/>
              </a:rPr>
              <a:t> </a:t>
            </a:r>
            <a:r>
              <a:rPr lang="en-US" b="1" dirty="0" err="1">
                <a:solidFill>
                  <a:srgbClr val="FFFFFF"/>
                </a:solidFill>
                <a:latin typeface="Noto Sans" pitchFamily="34" charset="0"/>
                <a:ea typeface="Noto Sans" pitchFamily="34" charset="-122"/>
                <a:cs typeface="Noto Sans" pitchFamily="34" charset="-120"/>
              </a:rPr>
              <a:t>kiếm</a:t>
            </a:r>
            <a:r>
              <a:rPr lang="en-US" b="1" dirty="0">
                <a:solidFill>
                  <a:srgbClr val="FFFFFF"/>
                </a:solidFill>
                <a:latin typeface="Noto Sans" pitchFamily="34" charset="0"/>
                <a:ea typeface="Noto Sans" pitchFamily="34" charset="-122"/>
                <a:cs typeface="Noto Sans" pitchFamily="34" charset="-120"/>
              </a:rPr>
              <a:t> </a:t>
            </a:r>
            <a:r>
              <a:rPr lang="en-US" b="1" dirty="0" err="1">
                <a:solidFill>
                  <a:srgbClr val="FFFFFF"/>
                </a:solidFill>
                <a:latin typeface="Noto Sans" pitchFamily="34" charset="0"/>
                <a:ea typeface="Noto Sans" pitchFamily="34" charset="-122"/>
                <a:cs typeface="Noto Sans" pitchFamily="34" charset="-120"/>
              </a:rPr>
              <a:t>theo</a:t>
            </a:r>
            <a:r>
              <a:rPr lang="en-US" b="1" dirty="0">
                <a:solidFill>
                  <a:srgbClr val="FFFFFF"/>
                </a:solidFill>
                <a:latin typeface="Noto Sans" pitchFamily="34" charset="0"/>
                <a:ea typeface="Noto Sans" pitchFamily="34" charset="-122"/>
                <a:cs typeface="Noto Sans" pitchFamily="34" charset="-120"/>
              </a:rPr>
              <a:t> </a:t>
            </a:r>
            <a:r>
              <a:rPr lang="en-US" b="1" dirty="0" err="1">
                <a:solidFill>
                  <a:srgbClr val="FFFFFF"/>
                </a:solidFill>
                <a:latin typeface="Noto Sans" pitchFamily="34" charset="0"/>
                <a:ea typeface="Noto Sans" pitchFamily="34" charset="-122"/>
                <a:cs typeface="Noto Sans" pitchFamily="34" charset="-120"/>
              </a:rPr>
              <a:t>bộ</a:t>
            </a:r>
            <a:r>
              <a:rPr lang="en-US" b="1" dirty="0">
                <a:solidFill>
                  <a:srgbClr val="FFFFFF"/>
                </a:solidFill>
                <a:latin typeface="Noto Sans" pitchFamily="34" charset="0"/>
                <a:ea typeface="Noto Sans" pitchFamily="34" charset="-122"/>
                <a:cs typeface="Noto Sans" pitchFamily="34" charset="-120"/>
              </a:rPr>
              <a:t> </a:t>
            </a:r>
            <a:r>
              <a:rPr lang="en-US" b="1" dirty="0" err="1">
                <a:solidFill>
                  <a:srgbClr val="FFFFFF"/>
                </a:solidFill>
                <a:latin typeface="Noto Sans" pitchFamily="34" charset="0"/>
                <a:ea typeface="Noto Sans" pitchFamily="34" charset="-122"/>
                <a:cs typeface="Noto Sans" pitchFamily="34" charset="-120"/>
              </a:rPr>
              <a:t>lọc</a:t>
            </a:r>
            <a:endParaRPr lang="en-US" dirty="0"/>
          </a:p>
        </p:txBody>
      </p:sp>
      <p:sp>
        <p:nvSpPr>
          <p:cNvPr id="6" name="Shape 4">
            <a:extLst>
              <a:ext uri="{FF2B5EF4-FFF2-40B4-BE49-F238E27FC236}">
                <a16:creationId xmlns:a16="http://schemas.microsoft.com/office/drawing/2014/main" id="{678495BF-5ABA-2523-AB76-61ABB3A0B09C}"/>
              </a:ext>
            </a:extLst>
          </p:cNvPr>
          <p:cNvSpPr/>
          <p:nvPr/>
        </p:nvSpPr>
        <p:spPr>
          <a:xfrm>
            <a:off x="5998674" y="3958473"/>
            <a:ext cx="2850038" cy="508935"/>
          </a:xfrm>
          <a:custGeom>
            <a:avLst/>
            <a:gdLst/>
            <a:ahLst/>
            <a:cxnLst/>
            <a:rect l="l" t="t" r="r" b="b"/>
            <a:pathLst>
              <a:path w="2850038" h="508935">
                <a:moveTo>
                  <a:pt x="254468" y="0"/>
                </a:moveTo>
                <a:moveTo>
                  <a:pt x="254468" y="0"/>
                </a:moveTo>
                <a:lnTo>
                  <a:pt x="2595571" y="0"/>
                </a:lnTo>
                <a:quadBezTo>
                  <a:pt x="2850038" y="0"/>
                  <a:pt x="2850038" y="254468"/>
                </a:quadBezTo>
                <a:lnTo>
                  <a:pt x="2850038" y="254468"/>
                </a:lnTo>
                <a:quadBezTo>
                  <a:pt x="2850038" y="508935"/>
                  <a:pt x="2595571" y="508935"/>
                </a:quadBezTo>
                <a:lnTo>
                  <a:pt x="254468" y="508935"/>
                </a:lnTo>
                <a:quadBezTo>
                  <a:pt x="0" y="508935"/>
                  <a:pt x="0" y="254468"/>
                </a:quadBezTo>
                <a:lnTo>
                  <a:pt x="0" y="254468"/>
                </a:lnTo>
                <a:quadBezTo>
                  <a:pt x="0" y="0"/>
                  <a:pt x="254468" y="0"/>
                </a:quadBezTo>
                <a:close/>
              </a:path>
            </a:pathLst>
          </a:custGeom>
          <a:solidFill>
            <a:srgbClr val="2B76FD"/>
          </a:solidFill>
          <a:ln/>
        </p:spPr>
        <p:txBody>
          <a:bodyPr/>
          <a:lstStyle/>
          <a:p>
            <a:endParaRPr lang="en-US" dirty="0"/>
          </a:p>
        </p:txBody>
      </p:sp>
      <p:sp>
        <p:nvSpPr>
          <p:cNvPr id="7" name="Shape 5">
            <a:extLst>
              <a:ext uri="{FF2B5EF4-FFF2-40B4-BE49-F238E27FC236}">
                <a16:creationId xmlns:a16="http://schemas.microsoft.com/office/drawing/2014/main" id="{32BA168C-B592-F601-D699-4C98790C9204}"/>
              </a:ext>
            </a:extLst>
          </p:cNvPr>
          <p:cNvSpPr/>
          <p:nvPr/>
        </p:nvSpPr>
        <p:spPr>
          <a:xfrm>
            <a:off x="3659174" y="1851600"/>
            <a:ext cx="1810472" cy="1810472"/>
          </a:xfrm>
          <a:custGeom>
            <a:avLst/>
            <a:gdLst/>
            <a:ahLst/>
            <a:cxnLst/>
            <a:rect l="l" t="t" r="r" b="b"/>
            <a:pathLst>
              <a:path w="1810472" h="1810472">
                <a:moveTo>
                  <a:pt x="905236" y="0"/>
                </a:moveTo>
                <a:moveTo>
                  <a:pt x="905236" y="0"/>
                </a:moveTo>
                <a:cubicBezTo>
                  <a:pt x="1404849" y="0"/>
                  <a:pt x="1810472" y="405623"/>
                  <a:pt x="1810472" y="905236"/>
                </a:cubicBezTo>
                <a:cubicBezTo>
                  <a:pt x="1810472" y="1404849"/>
                  <a:pt x="1404849" y="1810472"/>
                  <a:pt x="905236" y="1810472"/>
                </a:cubicBezTo>
                <a:cubicBezTo>
                  <a:pt x="405623" y="1810472"/>
                  <a:pt x="0" y="1404849"/>
                  <a:pt x="0" y="905236"/>
                </a:cubicBezTo>
                <a:cubicBezTo>
                  <a:pt x="0" y="405623"/>
                  <a:pt x="405623" y="0"/>
                  <a:pt x="905236" y="0"/>
                </a:cubicBezTo>
                <a:close/>
              </a:path>
            </a:pathLst>
          </a:custGeom>
          <a:solidFill>
            <a:srgbClr val="2B76FD">
              <a:alpha val="10000"/>
            </a:srgbClr>
          </a:solidFill>
          <a:ln/>
        </p:spPr>
        <p:txBody>
          <a:bodyPr/>
          <a:lstStyle/>
          <a:p>
            <a:endParaRPr lang="en-US"/>
          </a:p>
        </p:txBody>
      </p:sp>
      <p:sp>
        <p:nvSpPr>
          <p:cNvPr id="8" name="Shape 6">
            <a:extLst>
              <a:ext uri="{FF2B5EF4-FFF2-40B4-BE49-F238E27FC236}">
                <a16:creationId xmlns:a16="http://schemas.microsoft.com/office/drawing/2014/main" id="{2FAAD2FC-E50F-4A8C-6733-0B9EC29D3537}"/>
              </a:ext>
            </a:extLst>
          </p:cNvPr>
          <p:cNvSpPr/>
          <p:nvPr/>
        </p:nvSpPr>
        <p:spPr>
          <a:xfrm>
            <a:off x="5700700" y="1310463"/>
            <a:ext cx="305747" cy="0"/>
          </a:xfrm>
          <a:custGeom>
            <a:avLst/>
            <a:gdLst/>
            <a:ahLst/>
            <a:cxnLst/>
            <a:rect l="l" t="t" r="r" b="b"/>
            <a:pathLst>
              <a:path w="305747">
                <a:moveTo>
                  <a:pt x="0" y="0"/>
                </a:moveTo>
                <a:moveTo>
                  <a:pt x="0" y="0"/>
                </a:moveTo>
                <a:lnTo>
                  <a:pt x="305747" y="0"/>
                </a:lnTo>
              </a:path>
            </a:pathLst>
          </a:custGeom>
          <a:noFill/>
          <a:ln w="10603">
            <a:solidFill>
              <a:srgbClr val="379EFC"/>
            </a:solidFill>
            <a:prstDash val="solid"/>
            <a:headEnd type="none"/>
            <a:tailEnd type="none"/>
          </a:ln>
        </p:spPr>
        <p:txBody>
          <a:bodyPr/>
          <a:lstStyle/>
          <a:p>
            <a:endParaRPr lang="en-US"/>
          </a:p>
        </p:txBody>
      </p:sp>
      <p:sp>
        <p:nvSpPr>
          <p:cNvPr id="9" name="Shape 7">
            <a:extLst>
              <a:ext uri="{FF2B5EF4-FFF2-40B4-BE49-F238E27FC236}">
                <a16:creationId xmlns:a16="http://schemas.microsoft.com/office/drawing/2014/main" id="{4863DA2C-2892-1FBC-1579-20F0A6F291AF}"/>
              </a:ext>
            </a:extLst>
          </p:cNvPr>
          <p:cNvSpPr/>
          <p:nvPr/>
        </p:nvSpPr>
        <p:spPr>
          <a:xfrm>
            <a:off x="5696360" y="1306681"/>
            <a:ext cx="0" cy="2908546"/>
          </a:xfrm>
          <a:custGeom>
            <a:avLst/>
            <a:gdLst/>
            <a:ahLst/>
            <a:cxnLst/>
            <a:rect l="l" t="t" r="r" b="b"/>
            <a:pathLst>
              <a:path h="2908546">
                <a:moveTo>
                  <a:pt x="0" y="0"/>
                </a:moveTo>
                <a:moveTo>
                  <a:pt x="0" y="0"/>
                </a:moveTo>
                <a:lnTo>
                  <a:pt x="0" y="2908546"/>
                </a:lnTo>
              </a:path>
            </a:pathLst>
          </a:custGeom>
          <a:noFill/>
          <a:ln w="10603">
            <a:solidFill>
              <a:srgbClr val="379EFC"/>
            </a:solidFill>
            <a:prstDash val="solid"/>
            <a:headEnd type="none"/>
            <a:tailEnd type="none"/>
          </a:ln>
        </p:spPr>
        <p:txBody>
          <a:bodyPr/>
          <a:lstStyle/>
          <a:p>
            <a:endParaRPr lang="en-US"/>
          </a:p>
        </p:txBody>
      </p:sp>
      <p:sp>
        <p:nvSpPr>
          <p:cNvPr id="10" name="Shape 8">
            <a:extLst>
              <a:ext uri="{FF2B5EF4-FFF2-40B4-BE49-F238E27FC236}">
                <a16:creationId xmlns:a16="http://schemas.microsoft.com/office/drawing/2014/main" id="{0226F532-2095-29B3-7135-FB43F74F2A0F}"/>
              </a:ext>
            </a:extLst>
          </p:cNvPr>
          <p:cNvSpPr/>
          <p:nvPr/>
        </p:nvSpPr>
        <p:spPr>
          <a:xfrm>
            <a:off x="5469646" y="2756836"/>
            <a:ext cx="218927" cy="0"/>
          </a:xfrm>
          <a:custGeom>
            <a:avLst/>
            <a:gdLst/>
            <a:ahLst/>
            <a:cxnLst/>
            <a:rect l="l" t="t" r="r" b="b"/>
            <a:pathLst>
              <a:path w="218927">
                <a:moveTo>
                  <a:pt x="0" y="0"/>
                </a:moveTo>
                <a:moveTo>
                  <a:pt x="0" y="0"/>
                </a:moveTo>
                <a:lnTo>
                  <a:pt x="218927" y="0"/>
                </a:lnTo>
              </a:path>
            </a:pathLst>
          </a:custGeom>
          <a:noFill/>
          <a:ln w="10603">
            <a:solidFill>
              <a:srgbClr val="379EFC"/>
            </a:solidFill>
            <a:prstDash val="solid"/>
            <a:headEnd type="none"/>
            <a:tailEnd type="none"/>
          </a:ln>
        </p:spPr>
        <p:txBody>
          <a:bodyPr/>
          <a:lstStyle/>
          <a:p>
            <a:endParaRPr lang="en-US"/>
          </a:p>
        </p:txBody>
      </p:sp>
      <p:sp>
        <p:nvSpPr>
          <p:cNvPr id="11" name="Shape 9">
            <a:extLst>
              <a:ext uri="{FF2B5EF4-FFF2-40B4-BE49-F238E27FC236}">
                <a16:creationId xmlns:a16="http://schemas.microsoft.com/office/drawing/2014/main" id="{2F901A1F-F72B-C895-EFA9-B73F7EA59A01}"/>
              </a:ext>
            </a:extLst>
          </p:cNvPr>
          <p:cNvSpPr/>
          <p:nvPr/>
        </p:nvSpPr>
        <p:spPr>
          <a:xfrm>
            <a:off x="5698198" y="2280303"/>
            <a:ext cx="305747" cy="0"/>
          </a:xfrm>
          <a:custGeom>
            <a:avLst/>
            <a:gdLst/>
            <a:ahLst/>
            <a:cxnLst/>
            <a:rect l="l" t="t" r="r" b="b"/>
            <a:pathLst>
              <a:path w="305747">
                <a:moveTo>
                  <a:pt x="0" y="0"/>
                </a:moveTo>
                <a:moveTo>
                  <a:pt x="0" y="0"/>
                </a:moveTo>
                <a:lnTo>
                  <a:pt x="305747" y="0"/>
                </a:lnTo>
              </a:path>
            </a:pathLst>
          </a:custGeom>
          <a:noFill/>
          <a:ln w="10603">
            <a:solidFill>
              <a:srgbClr val="379EFC"/>
            </a:solidFill>
            <a:prstDash val="solid"/>
            <a:headEnd type="none"/>
            <a:tailEnd type="none"/>
          </a:ln>
        </p:spPr>
        <p:txBody>
          <a:bodyPr/>
          <a:lstStyle/>
          <a:p>
            <a:endParaRPr lang="en-US"/>
          </a:p>
        </p:txBody>
      </p:sp>
      <p:sp>
        <p:nvSpPr>
          <p:cNvPr id="12" name="Shape 10">
            <a:extLst>
              <a:ext uri="{FF2B5EF4-FFF2-40B4-BE49-F238E27FC236}">
                <a16:creationId xmlns:a16="http://schemas.microsoft.com/office/drawing/2014/main" id="{8C647D7A-A87C-7A22-1459-5AB13876132C}"/>
              </a:ext>
            </a:extLst>
          </p:cNvPr>
          <p:cNvSpPr/>
          <p:nvPr/>
        </p:nvSpPr>
        <p:spPr>
          <a:xfrm>
            <a:off x="5696673" y="3253727"/>
            <a:ext cx="305747" cy="0"/>
          </a:xfrm>
          <a:custGeom>
            <a:avLst/>
            <a:gdLst/>
            <a:ahLst/>
            <a:cxnLst/>
            <a:rect l="l" t="t" r="r" b="b"/>
            <a:pathLst>
              <a:path w="305747">
                <a:moveTo>
                  <a:pt x="0" y="0"/>
                </a:moveTo>
                <a:moveTo>
                  <a:pt x="0" y="0"/>
                </a:moveTo>
                <a:lnTo>
                  <a:pt x="305747" y="0"/>
                </a:lnTo>
              </a:path>
            </a:pathLst>
          </a:custGeom>
          <a:noFill/>
          <a:ln w="10603">
            <a:solidFill>
              <a:srgbClr val="379EFC"/>
            </a:solidFill>
            <a:prstDash val="solid"/>
            <a:headEnd type="none"/>
            <a:tailEnd type="none"/>
          </a:ln>
        </p:spPr>
        <p:txBody>
          <a:bodyPr/>
          <a:lstStyle/>
          <a:p>
            <a:endParaRPr lang="en-US"/>
          </a:p>
        </p:txBody>
      </p:sp>
      <p:sp>
        <p:nvSpPr>
          <p:cNvPr id="13" name="Shape 11">
            <a:extLst>
              <a:ext uri="{FF2B5EF4-FFF2-40B4-BE49-F238E27FC236}">
                <a16:creationId xmlns:a16="http://schemas.microsoft.com/office/drawing/2014/main" id="{0E201F9B-CE48-9E56-B94A-FBA6DCCE4057}"/>
              </a:ext>
            </a:extLst>
          </p:cNvPr>
          <p:cNvSpPr/>
          <p:nvPr/>
        </p:nvSpPr>
        <p:spPr>
          <a:xfrm>
            <a:off x="5698198" y="4218205"/>
            <a:ext cx="305747" cy="0"/>
          </a:xfrm>
          <a:custGeom>
            <a:avLst/>
            <a:gdLst/>
            <a:ahLst/>
            <a:cxnLst/>
            <a:rect l="l" t="t" r="r" b="b"/>
            <a:pathLst>
              <a:path w="305747">
                <a:moveTo>
                  <a:pt x="0" y="0"/>
                </a:moveTo>
                <a:moveTo>
                  <a:pt x="0" y="0"/>
                </a:moveTo>
                <a:lnTo>
                  <a:pt x="305747" y="0"/>
                </a:lnTo>
              </a:path>
            </a:pathLst>
          </a:custGeom>
          <a:noFill/>
          <a:ln w="10603">
            <a:solidFill>
              <a:srgbClr val="379EFC"/>
            </a:solidFill>
            <a:prstDash val="solid"/>
            <a:headEnd type="none"/>
            <a:tailEnd type="none"/>
          </a:ln>
        </p:spPr>
        <p:txBody>
          <a:bodyPr/>
          <a:lstStyle/>
          <a:p>
            <a:endParaRPr lang="en-US"/>
          </a:p>
        </p:txBody>
      </p:sp>
      <p:sp>
        <p:nvSpPr>
          <p:cNvPr id="14" name="Shape 12">
            <a:extLst>
              <a:ext uri="{FF2B5EF4-FFF2-40B4-BE49-F238E27FC236}">
                <a16:creationId xmlns:a16="http://schemas.microsoft.com/office/drawing/2014/main" id="{49CA7D33-9E47-43ED-821C-686365B93F51}"/>
              </a:ext>
            </a:extLst>
          </p:cNvPr>
          <p:cNvSpPr/>
          <p:nvPr/>
        </p:nvSpPr>
        <p:spPr>
          <a:xfrm>
            <a:off x="3100387" y="1322876"/>
            <a:ext cx="305747" cy="0"/>
          </a:xfrm>
          <a:custGeom>
            <a:avLst/>
            <a:gdLst/>
            <a:ahLst/>
            <a:cxnLst/>
            <a:rect l="l" t="t" r="r" b="b"/>
            <a:pathLst>
              <a:path w="305747">
                <a:moveTo>
                  <a:pt x="0" y="0"/>
                </a:moveTo>
                <a:moveTo>
                  <a:pt x="0" y="0"/>
                </a:moveTo>
                <a:lnTo>
                  <a:pt x="305747" y="0"/>
                </a:lnTo>
              </a:path>
            </a:pathLst>
          </a:custGeom>
          <a:noFill/>
          <a:ln w="10603">
            <a:solidFill>
              <a:srgbClr val="379EFC"/>
            </a:solidFill>
            <a:prstDash val="solid"/>
            <a:headEnd type="none"/>
            <a:tailEnd type="none"/>
          </a:ln>
        </p:spPr>
        <p:txBody>
          <a:bodyPr/>
          <a:lstStyle/>
          <a:p>
            <a:endParaRPr lang="en-US"/>
          </a:p>
        </p:txBody>
      </p:sp>
      <p:sp>
        <p:nvSpPr>
          <p:cNvPr id="15" name="Shape 13">
            <a:extLst>
              <a:ext uri="{FF2B5EF4-FFF2-40B4-BE49-F238E27FC236}">
                <a16:creationId xmlns:a16="http://schemas.microsoft.com/office/drawing/2014/main" id="{BBEDDCB0-8552-EFFB-7509-8869C7FCEFD4}"/>
              </a:ext>
            </a:extLst>
          </p:cNvPr>
          <p:cNvSpPr/>
          <p:nvPr/>
        </p:nvSpPr>
        <p:spPr>
          <a:xfrm>
            <a:off x="3410970" y="1319094"/>
            <a:ext cx="0" cy="2944489"/>
          </a:xfrm>
          <a:custGeom>
            <a:avLst/>
            <a:gdLst/>
            <a:ahLst/>
            <a:cxnLst/>
            <a:rect l="l" t="t" r="r" b="b"/>
            <a:pathLst>
              <a:path h="2944489">
                <a:moveTo>
                  <a:pt x="0" y="0"/>
                </a:moveTo>
                <a:moveTo>
                  <a:pt x="0" y="0"/>
                </a:moveTo>
                <a:lnTo>
                  <a:pt x="0" y="2944489"/>
                </a:lnTo>
              </a:path>
            </a:pathLst>
          </a:custGeom>
          <a:noFill/>
          <a:ln w="10603">
            <a:solidFill>
              <a:srgbClr val="379EFC"/>
            </a:solidFill>
            <a:prstDash val="solid"/>
            <a:headEnd type="none"/>
            <a:tailEnd type="none"/>
          </a:ln>
        </p:spPr>
        <p:txBody>
          <a:bodyPr/>
          <a:lstStyle/>
          <a:p>
            <a:endParaRPr lang="en-US"/>
          </a:p>
        </p:txBody>
      </p:sp>
      <p:sp>
        <p:nvSpPr>
          <p:cNvPr id="16" name="Shape 14">
            <a:extLst>
              <a:ext uri="{FF2B5EF4-FFF2-40B4-BE49-F238E27FC236}">
                <a16:creationId xmlns:a16="http://schemas.microsoft.com/office/drawing/2014/main" id="{6B97B484-98B9-85B9-2B70-609FC6BAB969}"/>
              </a:ext>
            </a:extLst>
          </p:cNvPr>
          <p:cNvSpPr/>
          <p:nvPr/>
        </p:nvSpPr>
        <p:spPr>
          <a:xfrm>
            <a:off x="3415473" y="2756836"/>
            <a:ext cx="218927" cy="0"/>
          </a:xfrm>
          <a:custGeom>
            <a:avLst/>
            <a:gdLst/>
            <a:ahLst/>
            <a:cxnLst/>
            <a:rect l="l" t="t" r="r" b="b"/>
            <a:pathLst>
              <a:path w="218927">
                <a:moveTo>
                  <a:pt x="0" y="0"/>
                </a:moveTo>
                <a:moveTo>
                  <a:pt x="0" y="0"/>
                </a:moveTo>
                <a:lnTo>
                  <a:pt x="218927" y="0"/>
                </a:lnTo>
              </a:path>
            </a:pathLst>
          </a:custGeom>
          <a:noFill/>
          <a:ln w="10603">
            <a:solidFill>
              <a:srgbClr val="379EFC"/>
            </a:solidFill>
            <a:prstDash val="solid"/>
            <a:headEnd type="none"/>
            <a:tailEnd type="none"/>
          </a:ln>
        </p:spPr>
        <p:txBody>
          <a:bodyPr/>
          <a:lstStyle/>
          <a:p>
            <a:endParaRPr lang="en-US"/>
          </a:p>
        </p:txBody>
      </p:sp>
      <p:sp>
        <p:nvSpPr>
          <p:cNvPr id="17" name="Shape 15">
            <a:extLst>
              <a:ext uri="{FF2B5EF4-FFF2-40B4-BE49-F238E27FC236}">
                <a16:creationId xmlns:a16="http://schemas.microsoft.com/office/drawing/2014/main" id="{5FBEF0FB-B946-F5FD-5B6E-C7A52917CB59}"/>
              </a:ext>
            </a:extLst>
          </p:cNvPr>
          <p:cNvSpPr/>
          <p:nvPr/>
        </p:nvSpPr>
        <p:spPr>
          <a:xfrm>
            <a:off x="3097885" y="2292716"/>
            <a:ext cx="305747" cy="0"/>
          </a:xfrm>
          <a:custGeom>
            <a:avLst/>
            <a:gdLst/>
            <a:ahLst/>
            <a:cxnLst/>
            <a:rect l="l" t="t" r="r" b="b"/>
            <a:pathLst>
              <a:path w="305747">
                <a:moveTo>
                  <a:pt x="0" y="0"/>
                </a:moveTo>
                <a:moveTo>
                  <a:pt x="0" y="0"/>
                </a:moveTo>
                <a:lnTo>
                  <a:pt x="305747" y="0"/>
                </a:lnTo>
              </a:path>
            </a:pathLst>
          </a:custGeom>
          <a:noFill/>
          <a:ln w="10603">
            <a:solidFill>
              <a:srgbClr val="379EFC"/>
            </a:solidFill>
            <a:prstDash val="solid"/>
            <a:headEnd type="none"/>
            <a:tailEnd type="none"/>
          </a:ln>
        </p:spPr>
        <p:txBody>
          <a:bodyPr/>
          <a:lstStyle/>
          <a:p>
            <a:endParaRPr lang="en-US"/>
          </a:p>
        </p:txBody>
      </p:sp>
      <p:sp>
        <p:nvSpPr>
          <p:cNvPr id="18" name="Shape 16">
            <a:extLst>
              <a:ext uri="{FF2B5EF4-FFF2-40B4-BE49-F238E27FC236}">
                <a16:creationId xmlns:a16="http://schemas.microsoft.com/office/drawing/2014/main" id="{1570F436-0B6B-8111-566F-E79EAED6B799}"/>
              </a:ext>
            </a:extLst>
          </p:cNvPr>
          <p:cNvSpPr/>
          <p:nvPr/>
        </p:nvSpPr>
        <p:spPr>
          <a:xfrm>
            <a:off x="3096360" y="3266140"/>
            <a:ext cx="305747" cy="0"/>
          </a:xfrm>
          <a:custGeom>
            <a:avLst/>
            <a:gdLst/>
            <a:ahLst/>
            <a:cxnLst/>
            <a:rect l="l" t="t" r="r" b="b"/>
            <a:pathLst>
              <a:path w="305747">
                <a:moveTo>
                  <a:pt x="0" y="0"/>
                </a:moveTo>
                <a:moveTo>
                  <a:pt x="0" y="0"/>
                </a:moveTo>
                <a:lnTo>
                  <a:pt x="305747" y="0"/>
                </a:lnTo>
              </a:path>
            </a:pathLst>
          </a:custGeom>
          <a:noFill/>
          <a:ln w="10603">
            <a:solidFill>
              <a:srgbClr val="379EFC"/>
            </a:solidFill>
            <a:prstDash val="solid"/>
            <a:headEnd type="none"/>
            <a:tailEnd type="none"/>
          </a:ln>
        </p:spPr>
        <p:txBody>
          <a:bodyPr/>
          <a:lstStyle/>
          <a:p>
            <a:endParaRPr lang="en-US"/>
          </a:p>
        </p:txBody>
      </p:sp>
      <p:sp>
        <p:nvSpPr>
          <p:cNvPr id="19" name="Shape 17">
            <a:extLst>
              <a:ext uri="{FF2B5EF4-FFF2-40B4-BE49-F238E27FC236}">
                <a16:creationId xmlns:a16="http://schemas.microsoft.com/office/drawing/2014/main" id="{486DAC0D-EE8D-D7EF-994F-74D8E83085D8}"/>
              </a:ext>
            </a:extLst>
          </p:cNvPr>
          <p:cNvSpPr/>
          <p:nvPr/>
        </p:nvSpPr>
        <p:spPr>
          <a:xfrm>
            <a:off x="3097885" y="4248906"/>
            <a:ext cx="305747" cy="0"/>
          </a:xfrm>
          <a:custGeom>
            <a:avLst/>
            <a:gdLst/>
            <a:ahLst/>
            <a:cxnLst/>
            <a:rect l="l" t="t" r="r" b="b"/>
            <a:pathLst>
              <a:path w="305747">
                <a:moveTo>
                  <a:pt x="0" y="0"/>
                </a:moveTo>
                <a:moveTo>
                  <a:pt x="0" y="0"/>
                </a:moveTo>
                <a:lnTo>
                  <a:pt x="305747" y="0"/>
                </a:lnTo>
              </a:path>
            </a:pathLst>
          </a:custGeom>
          <a:noFill/>
          <a:ln w="10603">
            <a:solidFill>
              <a:srgbClr val="379EFC"/>
            </a:solidFill>
            <a:prstDash val="solid"/>
            <a:headEnd type="none"/>
            <a:tailEnd type="none"/>
          </a:ln>
        </p:spPr>
        <p:txBody>
          <a:bodyPr/>
          <a:lstStyle/>
          <a:p>
            <a:endParaRPr lang="en-US"/>
          </a:p>
        </p:txBody>
      </p:sp>
      <p:sp>
        <p:nvSpPr>
          <p:cNvPr id="20" name="Shape 18">
            <a:extLst>
              <a:ext uri="{FF2B5EF4-FFF2-40B4-BE49-F238E27FC236}">
                <a16:creationId xmlns:a16="http://schemas.microsoft.com/office/drawing/2014/main" id="{11A1A6A5-1A4D-B091-9340-C052D3A290BA}"/>
              </a:ext>
            </a:extLst>
          </p:cNvPr>
          <p:cNvSpPr/>
          <p:nvPr/>
        </p:nvSpPr>
        <p:spPr>
          <a:xfrm>
            <a:off x="259028" y="1064626"/>
            <a:ext cx="2850038" cy="508935"/>
          </a:xfrm>
          <a:custGeom>
            <a:avLst/>
            <a:gdLst/>
            <a:ahLst/>
            <a:cxnLst/>
            <a:rect l="l" t="t" r="r" b="b"/>
            <a:pathLst>
              <a:path w="2850038" h="508935">
                <a:moveTo>
                  <a:pt x="254468" y="0"/>
                </a:moveTo>
                <a:moveTo>
                  <a:pt x="254468" y="0"/>
                </a:moveTo>
                <a:lnTo>
                  <a:pt x="2595571" y="0"/>
                </a:lnTo>
                <a:quadBezTo>
                  <a:pt x="2850038" y="0"/>
                  <a:pt x="2850038" y="254468"/>
                </a:quadBezTo>
                <a:lnTo>
                  <a:pt x="2850038" y="254468"/>
                </a:lnTo>
                <a:quadBezTo>
                  <a:pt x="2850038" y="508935"/>
                  <a:pt x="2595571" y="508935"/>
                </a:quadBezTo>
                <a:lnTo>
                  <a:pt x="254468" y="508935"/>
                </a:lnTo>
                <a:quadBezTo>
                  <a:pt x="0" y="508935"/>
                  <a:pt x="0" y="254468"/>
                </a:quadBezTo>
                <a:lnTo>
                  <a:pt x="0" y="254468"/>
                </a:lnTo>
                <a:quadBezTo>
                  <a:pt x="0" y="0"/>
                  <a:pt x="254468" y="0"/>
                </a:quadBezTo>
                <a:close/>
              </a:path>
            </a:pathLst>
          </a:custGeom>
          <a:solidFill>
            <a:srgbClr val="379EFC"/>
          </a:solidFill>
          <a:ln/>
        </p:spPr>
        <p:txBody>
          <a:bodyPr/>
          <a:lstStyle/>
          <a:p>
            <a:endParaRPr lang="en-US"/>
          </a:p>
        </p:txBody>
      </p:sp>
      <p:sp>
        <p:nvSpPr>
          <p:cNvPr id="21" name="Shape 19">
            <a:extLst>
              <a:ext uri="{FF2B5EF4-FFF2-40B4-BE49-F238E27FC236}">
                <a16:creationId xmlns:a16="http://schemas.microsoft.com/office/drawing/2014/main" id="{8C9AB016-5D6F-302F-6FD7-DC45672C4882}"/>
              </a:ext>
            </a:extLst>
          </p:cNvPr>
          <p:cNvSpPr/>
          <p:nvPr/>
        </p:nvSpPr>
        <p:spPr>
          <a:xfrm>
            <a:off x="259028" y="2032290"/>
            <a:ext cx="2850038" cy="508935"/>
          </a:xfrm>
          <a:custGeom>
            <a:avLst/>
            <a:gdLst/>
            <a:ahLst/>
            <a:cxnLst/>
            <a:rect l="l" t="t" r="r" b="b"/>
            <a:pathLst>
              <a:path w="2850038" h="508935">
                <a:moveTo>
                  <a:pt x="254468" y="0"/>
                </a:moveTo>
                <a:moveTo>
                  <a:pt x="254468" y="0"/>
                </a:moveTo>
                <a:lnTo>
                  <a:pt x="2595571" y="0"/>
                </a:lnTo>
                <a:quadBezTo>
                  <a:pt x="2850038" y="0"/>
                  <a:pt x="2850038" y="254468"/>
                </a:quadBezTo>
                <a:lnTo>
                  <a:pt x="2850038" y="254468"/>
                </a:lnTo>
                <a:quadBezTo>
                  <a:pt x="2850038" y="508935"/>
                  <a:pt x="2595571" y="508935"/>
                </a:quadBezTo>
                <a:lnTo>
                  <a:pt x="254468" y="508935"/>
                </a:lnTo>
                <a:quadBezTo>
                  <a:pt x="0" y="508935"/>
                  <a:pt x="0" y="254468"/>
                </a:quadBezTo>
                <a:lnTo>
                  <a:pt x="0" y="254468"/>
                </a:lnTo>
                <a:quadBezTo>
                  <a:pt x="0" y="0"/>
                  <a:pt x="254468" y="0"/>
                </a:quadBezTo>
                <a:close/>
              </a:path>
            </a:pathLst>
          </a:custGeom>
          <a:solidFill>
            <a:srgbClr val="2B76FD"/>
          </a:solidFill>
          <a:ln/>
        </p:spPr>
        <p:txBody>
          <a:bodyPr/>
          <a:lstStyle/>
          <a:p>
            <a:endParaRPr lang="en-US" dirty="0"/>
          </a:p>
        </p:txBody>
      </p:sp>
      <p:sp>
        <p:nvSpPr>
          <p:cNvPr id="22" name="Shape 20">
            <a:extLst>
              <a:ext uri="{FF2B5EF4-FFF2-40B4-BE49-F238E27FC236}">
                <a16:creationId xmlns:a16="http://schemas.microsoft.com/office/drawing/2014/main" id="{D9743706-E126-FE78-2315-6389A0FD8DDE}"/>
              </a:ext>
            </a:extLst>
          </p:cNvPr>
          <p:cNvSpPr/>
          <p:nvPr/>
        </p:nvSpPr>
        <p:spPr>
          <a:xfrm>
            <a:off x="259028" y="2998389"/>
            <a:ext cx="2850038" cy="508935"/>
          </a:xfrm>
          <a:custGeom>
            <a:avLst/>
            <a:gdLst/>
            <a:ahLst/>
            <a:cxnLst/>
            <a:rect l="l" t="t" r="r" b="b"/>
            <a:pathLst>
              <a:path w="2850038" h="508935">
                <a:moveTo>
                  <a:pt x="254468" y="0"/>
                </a:moveTo>
                <a:moveTo>
                  <a:pt x="254468" y="0"/>
                </a:moveTo>
                <a:lnTo>
                  <a:pt x="2595571" y="0"/>
                </a:lnTo>
                <a:quadBezTo>
                  <a:pt x="2850038" y="0"/>
                  <a:pt x="2850038" y="254468"/>
                </a:quadBezTo>
                <a:lnTo>
                  <a:pt x="2850038" y="254468"/>
                </a:lnTo>
                <a:quadBezTo>
                  <a:pt x="2850038" y="508935"/>
                  <a:pt x="2595571" y="508935"/>
                </a:quadBezTo>
                <a:lnTo>
                  <a:pt x="254468" y="508935"/>
                </a:lnTo>
                <a:quadBezTo>
                  <a:pt x="0" y="508935"/>
                  <a:pt x="0" y="254468"/>
                </a:quadBezTo>
                <a:lnTo>
                  <a:pt x="0" y="254468"/>
                </a:lnTo>
                <a:quadBezTo>
                  <a:pt x="0" y="0"/>
                  <a:pt x="254468" y="0"/>
                </a:quadBezTo>
                <a:close/>
              </a:path>
            </a:pathLst>
          </a:custGeom>
          <a:solidFill>
            <a:srgbClr val="379EFC"/>
          </a:solidFill>
          <a:ln/>
        </p:spPr>
        <p:txBody>
          <a:bodyPr/>
          <a:lstStyle/>
          <a:p>
            <a:endParaRPr lang="en-US" dirty="0"/>
          </a:p>
        </p:txBody>
      </p:sp>
      <p:sp>
        <p:nvSpPr>
          <p:cNvPr id="23" name="Shape 21">
            <a:extLst>
              <a:ext uri="{FF2B5EF4-FFF2-40B4-BE49-F238E27FC236}">
                <a16:creationId xmlns:a16="http://schemas.microsoft.com/office/drawing/2014/main" id="{4A1B5769-A467-3836-FED1-3E8990909130}"/>
              </a:ext>
            </a:extLst>
          </p:cNvPr>
          <p:cNvSpPr/>
          <p:nvPr/>
        </p:nvSpPr>
        <p:spPr>
          <a:xfrm>
            <a:off x="259028" y="3976761"/>
            <a:ext cx="2850038" cy="508935"/>
          </a:xfrm>
          <a:custGeom>
            <a:avLst/>
            <a:gdLst/>
            <a:ahLst/>
            <a:cxnLst/>
            <a:rect l="l" t="t" r="r" b="b"/>
            <a:pathLst>
              <a:path w="2850038" h="508935">
                <a:moveTo>
                  <a:pt x="254468" y="0"/>
                </a:moveTo>
                <a:moveTo>
                  <a:pt x="254468" y="0"/>
                </a:moveTo>
                <a:lnTo>
                  <a:pt x="2595571" y="0"/>
                </a:lnTo>
                <a:quadBezTo>
                  <a:pt x="2850038" y="0"/>
                  <a:pt x="2850038" y="254468"/>
                </a:quadBezTo>
                <a:lnTo>
                  <a:pt x="2850038" y="254468"/>
                </a:lnTo>
                <a:quadBezTo>
                  <a:pt x="2850038" y="508935"/>
                  <a:pt x="2595571" y="508935"/>
                </a:quadBezTo>
                <a:lnTo>
                  <a:pt x="254468" y="508935"/>
                </a:lnTo>
                <a:quadBezTo>
                  <a:pt x="0" y="508935"/>
                  <a:pt x="0" y="254468"/>
                </a:quadBezTo>
                <a:lnTo>
                  <a:pt x="0" y="254468"/>
                </a:lnTo>
                <a:quadBezTo>
                  <a:pt x="0" y="0"/>
                  <a:pt x="254468" y="0"/>
                </a:quadBezTo>
                <a:close/>
              </a:path>
            </a:pathLst>
          </a:custGeom>
          <a:solidFill>
            <a:srgbClr val="2B76FD"/>
          </a:solidFill>
          <a:ln/>
        </p:spPr>
        <p:txBody>
          <a:bodyPr/>
          <a:lstStyle/>
          <a:p>
            <a:endParaRPr lang="en-US" dirty="0"/>
          </a:p>
        </p:txBody>
      </p:sp>
      <p:sp>
        <p:nvSpPr>
          <p:cNvPr id="24" name="Text 22">
            <a:extLst>
              <a:ext uri="{FF2B5EF4-FFF2-40B4-BE49-F238E27FC236}">
                <a16:creationId xmlns:a16="http://schemas.microsoft.com/office/drawing/2014/main" id="{E0FCB40A-AA9A-E6C3-EBC3-62BFCCD4D9E1}"/>
              </a:ext>
            </a:extLst>
          </p:cNvPr>
          <p:cNvSpPr/>
          <p:nvPr/>
        </p:nvSpPr>
        <p:spPr>
          <a:xfrm>
            <a:off x="295672" y="1095066"/>
            <a:ext cx="2776752" cy="448056"/>
          </a:xfrm>
          <a:prstGeom prst="rect">
            <a:avLst/>
          </a:prstGeom>
          <a:noFill/>
          <a:ln/>
        </p:spPr>
        <p:txBody>
          <a:bodyPr wrap="square" lIns="95250" tIns="95250" rIns="95250" bIns="95250" rtlCol="0" anchor="ctr"/>
          <a:lstStyle/>
          <a:p>
            <a:pPr marL="0" indent="0" algn="ctr">
              <a:lnSpc>
                <a:spcPct val="100000"/>
              </a:lnSpc>
              <a:spcBef>
                <a:spcPts val="375"/>
              </a:spcBef>
              <a:buNone/>
            </a:pPr>
            <a:r>
              <a:rPr lang="en-US" sz="1440" b="1" dirty="0" err="1">
                <a:solidFill>
                  <a:srgbClr val="FFFFFF"/>
                </a:solidFill>
                <a:latin typeface="Noto Sans" pitchFamily="34" charset="0"/>
                <a:ea typeface="Noto Sans" pitchFamily="34" charset="-122"/>
                <a:cs typeface="Noto Sans" pitchFamily="34" charset="-120"/>
              </a:rPr>
              <a:t>Thêm</a:t>
            </a:r>
            <a:r>
              <a:rPr lang="en-US" sz="1440" b="1" dirty="0">
                <a:solidFill>
                  <a:srgbClr val="FFFFFF"/>
                </a:solidFill>
                <a:latin typeface="Noto Sans" pitchFamily="34" charset="0"/>
                <a:ea typeface="Noto Sans" pitchFamily="34" charset="-122"/>
                <a:cs typeface="Noto Sans" pitchFamily="34" charset="-120"/>
              </a:rPr>
              <a:t> vector </a:t>
            </a:r>
            <a:endParaRPr lang="en-US" sz="1440" dirty="0"/>
          </a:p>
        </p:txBody>
      </p:sp>
      <p:pic>
        <p:nvPicPr>
          <p:cNvPr id="25" name="Image 0" descr="https://sgw-dx.xf-yun.com/api/v1/sparkdesk/1600593683_fm9ont1721702941887-01709398541764393.png?authorization=c2ltcGxlLWp3dCBhaz1zcGFya2Rlc2s4MDAwMDAwMDAwMDE7ZXhwPTMyOTg1MDI5NDI7YWxnbz1obWFjLXNoYTI1NjtzaWc9YlBnV1pOdjhqZnhwRldiUmUyTmJFUENOV1pMaGFpdEVmbHdBbWd3OXRCdz0=&amp;x_location=7YfmxI7B7uKO7jlRxIftd6eZdo==">
            <a:extLst>
              <a:ext uri="{FF2B5EF4-FFF2-40B4-BE49-F238E27FC236}">
                <a16:creationId xmlns:a16="http://schemas.microsoft.com/office/drawing/2014/main" id="{E23B8FE0-E960-D12E-F614-5FCE368995F9}"/>
              </a:ext>
            </a:extLst>
          </p:cNvPr>
          <p:cNvPicPr>
            <a:picLocks noChangeAspect="1"/>
          </p:cNvPicPr>
          <p:nvPr/>
        </p:nvPicPr>
        <p:blipFill>
          <a:blip r:embed="rId4"/>
          <a:srcRect l="21910" r="21910"/>
          <a:stretch/>
        </p:blipFill>
        <p:spPr>
          <a:xfrm>
            <a:off x="3786615" y="1979042"/>
            <a:ext cx="1555589" cy="1555589"/>
          </a:xfrm>
          <a:prstGeom prst="ellipse">
            <a:avLst/>
          </a:prstGeom>
        </p:spPr>
      </p:pic>
      <p:sp>
        <p:nvSpPr>
          <p:cNvPr id="26" name="Text 23">
            <a:extLst>
              <a:ext uri="{FF2B5EF4-FFF2-40B4-BE49-F238E27FC236}">
                <a16:creationId xmlns:a16="http://schemas.microsoft.com/office/drawing/2014/main" id="{5F09A7D5-A93B-E2C7-ED1A-58254B88DA4C}"/>
              </a:ext>
            </a:extLst>
          </p:cNvPr>
          <p:cNvSpPr/>
          <p:nvPr/>
        </p:nvSpPr>
        <p:spPr>
          <a:xfrm>
            <a:off x="6035317" y="1087869"/>
            <a:ext cx="2776752" cy="448056"/>
          </a:xfrm>
          <a:prstGeom prst="rect">
            <a:avLst/>
          </a:prstGeom>
          <a:noFill/>
          <a:ln/>
        </p:spPr>
        <p:txBody>
          <a:bodyPr wrap="square" lIns="95250" tIns="95250" rIns="95250" bIns="95250" rtlCol="0" anchor="ctr"/>
          <a:lstStyle/>
          <a:p>
            <a:pPr marL="0" indent="0" algn="ctr">
              <a:lnSpc>
                <a:spcPct val="100000"/>
              </a:lnSpc>
              <a:spcBef>
                <a:spcPts val="375"/>
              </a:spcBef>
              <a:buNone/>
            </a:pPr>
            <a:r>
              <a:rPr lang="en-US" sz="1440" b="1" dirty="0" err="1">
                <a:solidFill>
                  <a:srgbClr val="FFFFFF"/>
                </a:solidFill>
                <a:latin typeface="Noto Sans" pitchFamily="34" charset="0"/>
                <a:ea typeface="Noto Sans" pitchFamily="34" charset="-122"/>
                <a:cs typeface="Noto Sans" pitchFamily="34" charset="-120"/>
              </a:rPr>
              <a:t>Hỗ</a:t>
            </a:r>
            <a:r>
              <a:rPr lang="en-US" sz="1440" b="1" dirty="0">
                <a:solidFill>
                  <a:srgbClr val="FFFFFF"/>
                </a:solidFill>
                <a:latin typeface="Noto Sans" pitchFamily="34" charset="0"/>
                <a:ea typeface="Noto Sans" pitchFamily="34" charset="-122"/>
                <a:cs typeface="Noto Sans" pitchFamily="34" charset="-120"/>
              </a:rPr>
              <a:t> </a:t>
            </a:r>
            <a:r>
              <a:rPr lang="en-US" sz="1440" b="1" dirty="0" err="1">
                <a:solidFill>
                  <a:srgbClr val="FFFFFF"/>
                </a:solidFill>
                <a:latin typeface="Noto Sans" pitchFamily="34" charset="0"/>
                <a:ea typeface="Noto Sans" pitchFamily="34" charset="-122"/>
                <a:cs typeface="Noto Sans" pitchFamily="34" charset="-120"/>
              </a:rPr>
              <a:t>trợ</a:t>
            </a:r>
            <a:r>
              <a:rPr lang="en-US" sz="1440" b="1" dirty="0">
                <a:solidFill>
                  <a:srgbClr val="FFFFFF"/>
                </a:solidFill>
                <a:latin typeface="Noto Sans" pitchFamily="34" charset="0"/>
                <a:ea typeface="Noto Sans" pitchFamily="34" charset="-122"/>
                <a:cs typeface="Noto Sans" pitchFamily="34" charset="-120"/>
              </a:rPr>
              <a:t> </a:t>
            </a:r>
            <a:r>
              <a:rPr lang="en-US" sz="1440" b="1" dirty="0" err="1">
                <a:solidFill>
                  <a:srgbClr val="FFFFFF"/>
                </a:solidFill>
                <a:latin typeface="Noto Sans" pitchFamily="34" charset="0"/>
                <a:ea typeface="Noto Sans" pitchFamily="34" charset="-122"/>
                <a:cs typeface="Noto Sans" pitchFamily="34" charset="-120"/>
              </a:rPr>
              <a:t>cập</a:t>
            </a:r>
            <a:r>
              <a:rPr lang="en-US" sz="1440" b="1" dirty="0">
                <a:solidFill>
                  <a:srgbClr val="FFFFFF"/>
                </a:solidFill>
                <a:latin typeface="Noto Sans" pitchFamily="34" charset="0"/>
                <a:ea typeface="Noto Sans" pitchFamily="34" charset="-122"/>
                <a:cs typeface="Noto Sans" pitchFamily="34" charset="-120"/>
              </a:rPr>
              <a:t> </a:t>
            </a:r>
            <a:r>
              <a:rPr lang="en-US" sz="1440" b="1" dirty="0" err="1">
                <a:solidFill>
                  <a:srgbClr val="FFFFFF"/>
                </a:solidFill>
                <a:latin typeface="Noto Sans" pitchFamily="34" charset="0"/>
                <a:ea typeface="Noto Sans" pitchFamily="34" charset="-122"/>
                <a:cs typeface="Noto Sans" pitchFamily="34" charset="-120"/>
              </a:rPr>
              <a:t>nhật</a:t>
            </a:r>
            <a:r>
              <a:rPr lang="en-US" sz="1440" b="1" dirty="0">
                <a:solidFill>
                  <a:srgbClr val="FFFFFF"/>
                </a:solidFill>
                <a:latin typeface="Noto Sans" pitchFamily="34" charset="0"/>
                <a:ea typeface="Noto Sans" pitchFamily="34" charset="-122"/>
                <a:cs typeface="Noto Sans" pitchFamily="34" charset="-120"/>
              </a:rPr>
              <a:t> </a:t>
            </a:r>
            <a:r>
              <a:rPr lang="en-US" sz="1440" b="1" dirty="0" err="1">
                <a:solidFill>
                  <a:srgbClr val="FFFFFF"/>
                </a:solidFill>
                <a:latin typeface="Noto Sans" pitchFamily="34" charset="0"/>
                <a:ea typeface="Noto Sans" pitchFamily="34" charset="-122"/>
                <a:cs typeface="Noto Sans" pitchFamily="34" charset="-120"/>
              </a:rPr>
              <a:t>động</a:t>
            </a:r>
            <a:endParaRPr lang="en-US" sz="1440" dirty="0"/>
          </a:p>
        </p:txBody>
      </p:sp>
      <p:sp>
        <p:nvSpPr>
          <p:cNvPr id="27" name="Text 24">
            <a:extLst>
              <a:ext uri="{FF2B5EF4-FFF2-40B4-BE49-F238E27FC236}">
                <a16:creationId xmlns:a16="http://schemas.microsoft.com/office/drawing/2014/main" id="{3439E17B-D236-C5B0-9FE7-4A441F7F23E8}"/>
              </a:ext>
            </a:extLst>
          </p:cNvPr>
          <p:cNvSpPr/>
          <p:nvPr/>
        </p:nvSpPr>
        <p:spPr>
          <a:xfrm>
            <a:off x="295672" y="2062729"/>
            <a:ext cx="2776752" cy="448056"/>
          </a:xfrm>
          <a:prstGeom prst="rect">
            <a:avLst/>
          </a:prstGeom>
          <a:noFill/>
          <a:ln/>
        </p:spPr>
        <p:txBody>
          <a:bodyPr wrap="square" lIns="95250" tIns="95250" rIns="95250" bIns="95250" rtlCol="0" anchor="ctr"/>
          <a:lstStyle/>
          <a:p>
            <a:pPr marL="0" indent="0" algn="ctr">
              <a:lnSpc>
                <a:spcPct val="100000"/>
              </a:lnSpc>
              <a:spcBef>
                <a:spcPts val="375"/>
              </a:spcBef>
              <a:buNone/>
            </a:pPr>
            <a:r>
              <a:rPr lang="en-US" sz="1440" b="1" dirty="0" err="1">
                <a:solidFill>
                  <a:srgbClr val="FFFFFF"/>
                </a:solidFill>
                <a:latin typeface="Noto Sans" pitchFamily="34" charset="0"/>
                <a:ea typeface="Noto Sans" pitchFamily="34" charset="-122"/>
                <a:cs typeface="Noto Sans" pitchFamily="34" charset="-120"/>
              </a:rPr>
              <a:t>Xóa</a:t>
            </a:r>
            <a:r>
              <a:rPr lang="en-US" sz="1440" b="1" dirty="0">
                <a:solidFill>
                  <a:srgbClr val="FFFFFF"/>
                </a:solidFill>
                <a:latin typeface="Noto Sans" pitchFamily="34" charset="0"/>
                <a:ea typeface="Noto Sans" pitchFamily="34" charset="-122"/>
                <a:cs typeface="Noto Sans" pitchFamily="34" charset="-120"/>
              </a:rPr>
              <a:t> vector</a:t>
            </a:r>
            <a:endParaRPr lang="en-US" sz="1440" dirty="0"/>
          </a:p>
        </p:txBody>
      </p:sp>
      <p:sp>
        <p:nvSpPr>
          <p:cNvPr id="28" name="Text 25">
            <a:extLst>
              <a:ext uri="{FF2B5EF4-FFF2-40B4-BE49-F238E27FC236}">
                <a16:creationId xmlns:a16="http://schemas.microsoft.com/office/drawing/2014/main" id="{C9CBDBDD-302B-93D5-459F-5547F6D1E424}"/>
              </a:ext>
            </a:extLst>
          </p:cNvPr>
          <p:cNvSpPr/>
          <p:nvPr/>
        </p:nvSpPr>
        <p:spPr>
          <a:xfrm>
            <a:off x="6035317" y="2054884"/>
            <a:ext cx="2776752" cy="448056"/>
          </a:xfrm>
          <a:prstGeom prst="rect">
            <a:avLst/>
          </a:prstGeom>
          <a:noFill/>
          <a:ln/>
        </p:spPr>
        <p:txBody>
          <a:bodyPr wrap="square" lIns="95250" tIns="95250" rIns="95250" bIns="95250" rtlCol="0" anchor="ctr"/>
          <a:lstStyle/>
          <a:p>
            <a:pPr marL="0" indent="0" algn="ctr">
              <a:lnSpc>
                <a:spcPct val="100000"/>
              </a:lnSpc>
              <a:spcBef>
                <a:spcPts val="375"/>
              </a:spcBef>
              <a:buNone/>
            </a:pPr>
            <a:r>
              <a:rPr lang="en-US" sz="1440" b="1" dirty="0" err="1">
                <a:solidFill>
                  <a:srgbClr val="FFFFFF"/>
                </a:solidFill>
                <a:latin typeface="Noto Sans" pitchFamily="34" charset="0"/>
                <a:ea typeface="Noto Sans" pitchFamily="34" charset="-122"/>
                <a:cs typeface="Noto Sans" pitchFamily="34" charset="-120"/>
              </a:rPr>
              <a:t>Tìm</a:t>
            </a:r>
            <a:r>
              <a:rPr lang="en-US" sz="1440" b="1" dirty="0">
                <a:solidFill>
                  <a:srgbClr val="FFFFFF"/>
                </a:solidFill>
                <a:latin typeface="Noto Sans" pitchFamily="34" charset="0"/>
                <a:ea typeface="Noto Sans" pitchFamily="34" charset="-122"/>
                <a:cs typeface="Noto Sans" pitchFamily="34" charset="-120"/>
              </a:rPr>
              <a:t> </a:t>
            </a:r>
            <a:r>
              <a:rPr lang="en-US" sz="1440" b="1" dirty="0" err="1">
                <a:solidFill>
                  <a:srgbClr val="FFFFFF"/>
                </a:solidFill>
                <a:latin typeface="Noto Sans" pitchFamily="34" charset="0"/>
                <a:ea typeface="Noto Sans" pitchFamily="34" charset="-122"/>
                <a:cs typeface="Noto Sans" pitchFamily="34" charset="-120"/>
              </a:rPr>
              <a:t>kiếm</a:t>
            </a:r>
            <a:r>
              <a:rPr lang="en-US" sz="1440" b="1" dirty="0">
                <a:solidFill>
                  <a:srgbClr val="FFFFFF"/>
                </a:solidFill>
                <a:latin typeface="Noto Sans" pitchFamily="34" charset="0"/>
                <a:ea typeface="Noto Sans" pitchFamily="34" charset="-122"/>
                <a:cs typeface="Noto Sans" pitchFamily="34" charset="-120"/>
              </a:rPr>
              <a:t> </a:t>
            </a:r>
            <a:r>
              <a:rPr lang="en-US" sz="1440" b="1" dirty="0" err="1">
                <a:solidFill>
                  <a:srgbClr val="FFFFFF"/>
                </a:solidFill>
                <a:latin typeface="Noto Sans" pitchFamily="34" charset="0"/>
                <a:ea typeface="Noto Sans" pitchFamily="34" charset="-122"/>
                <a:cs typeface="Noto Sans" pitchFamily="34" charset="-120"/>
              </a:rPr>
              <a:t>theo</a:t>
            </a:r>
            <a:r>
              <a:rPr lang="en-US" sz="1440" b="1" dirty="0">
                <a:solidFill>
                  <a:srgbClr val="FFFFFF"/>
                </a:solidFill>
                <a:latin typeface="Noto Sans" pitchFamily="34" charset="0"/>
                <a:ea typeface="Noto Sans" pitchFamily="34" charset="-122"/>
                <a:cs typeface="Noto Sans" pitchFamily="34" charset="-120"/>
              </a:rPr>
              <a:t> metadata</a:t>
            </a:r>
            <a:endParaRPr lang="en-US" sz="1440" dirty="0"/>
          </a:p>
        </p:txBody>
      </p:sp>
      <p:sp>
        <p:nvSpPr>
          <p:cNvPr id="29" name="Text 26">
            <a:extLst>
              <a:ext uri="{FF2B5EF4-FFF2-40B4-BE49-F238E27FC236}">
                <a16:creationId xmlns:a16="http://schemas.microsoft.com/office/drawing/2014/main" id="{896A5668-6E67-6CAF-2CC9-9DDA2B171717}"/>
              </a:ext>
            </a:extLst>
          </p:cNvPr>
          <p:cNvSpPr/>
          <p:nvPr/>
        </p:nvSpPr>
        <p:spPr>
          <a:xfrm>
            <a:off x="295672" y="2996825"/>
            <a:ext cx="2776752" cy="512064"/>
          </a:xfrm>
          <a:prstGeom prst="rect">
            <a:avLst/>
          </a:prstGeom>
          <a:noFill/>
          <a:ln/>
        </p:spPr>
        <p:txBody>
          <a:bodyPr wrap="square" lIns="95250" tIns="95250" rIns="95250" bIns="95250" rtlCol="0" anchor="ctr"/>
          <a:lstStyle/>
          <a:p>
            <a:pPr marL="0" indent="0" algn="ctr">
              <a:lnSpc>
                <a:spcPct val="100000"/>
              </a:lnSpc>
              <a:spcBef>
                <a:spcPts val="375"/>
              </a:spcBef>
              <a:buNone/>
            </a:pPr>
            <a:r>
              <a:rPr lang="en-US" sz="1440" b="1" dirty="0" err="1">
                <a:solidFill>
                  <a:srgbClr val="FFFFFF"/>
                </a:solidFill>
                <a:latin typeface="Noto Sans" pitchFamily="34" charset="0"/>
                <a:ea typeface="Noto Sans" pitchFamily="34" charset="-122"/>
                <a:cs typeface="Noto Sans" pitchFamily="34" charset="-120"/>
              </a:rPr>
              <a:t>Cập</a:t>
            </a:r>
            <a:r>
              <a:rPr lang="en-US" sz="1440" b="1" dirty="0">
                <a:solidFill>
                  <a:srgbClr val="FFFFFF"/>
                </a:solidFill>
                <a:latin typeface="Noto Sans" pitchFamily="34" charset="0"/>
                <a:ea typeface="Noto Sans" pitchFamily="34" charset="-122"/>
                <a:cs typeface="Noto Sans" pitchFamily="34" charset="-120"/>
              </a:rPr>
              <a:t> </a:t>
            </a:r>
            <a:r>
              <a:rPr lang="en-US" sz="1440" b="1" dirty="0" err="1">
                <a:solidFill>
                  <a:srgbClr val="FFFFFF"/>
                </a:solidFill>
                <a:latin typeface="Noto Sans" pitchFamily="34" charset="0"/>
                <a:ea typeface="Noto Sans" pitchFamily="34" charset="-122"/>
                <a:cs typeface="Noto Sans" pitchFamily="34" charset="-120"/>
              </a:rPr>
              <a:t>nhật</a:t>
            </a:r>
            <a:r>
              <a:rPr lang="en-US" sz="1440" b="1" dirty="0">
                <a:solidFill>
                  <a:srgbClr val="FFFFFF"/>
                </a:solidFill>
                <a:latin typeface="Noto Sans" pitchFamily="34" charset="0"/>
                <a:ea typeface="Noto Sans" pitchFamily="34" charset="-122"/>
                <a:cs typeface="Noto Sans" pitchFamily="34" charset="-120"/>
              </a:rPr>
              <a:t> vector</a:t>
            </a:r>
            <a:endParaRPr lang="en-US" sz="1440" dirty="0"/>
          </a:p>
        </p:txBody>
      </p:sp>
      <p:sp>
        <p:nvSpPr>
          <p:cNvPr id="30" name="Text 27">
            <a:extLst>
              <a:ext uri="{FF2B5EF4-FFF2-40B4-BE49-F238E27FC236}">
                <a16:creationId xmlns:a16="http://schemas.microsoft.com/office/drawing/2014/main" id="{F93AB0BD-5B58-69D1-A5E7-FF17C4F1BA0C}"/>
              </a:ext>
            </a:extLst>
          </p:cNvPr>
          <p:cNvSpPr/>
          <p:nvPr/>
        </p:nvSpPr>
        <p:spPr>
          <a:xfrm>
            <a:off x="6035317" y="3021898"/>
            <a:ext cx="2776752" cy="448056"/>
          </a:xfrm>
          <a:prstGeom prst="rect">
            <a:avLst/>
          </a:prstGeom>
          <a:noFill/>
          <a:ln/>
        </p:spPr>
        <p:txBody>
          <a:bodyPr wrap="square" lIns="95250" tIns="95250" rIns="95250" bIns="95250" rtlCol="0" anchor="ctr"/>
          <a:lstStyle/>
          <a:p>
            <a:pPr marL="0" indent="0" algn="ctr">
              <a:lnSpc>
                <a:spcPct val="100000"/>
              </a:lnSpc>
              <a:spcBef>
                <a:spcPts val="375"/>
              </a:spcBef>
              <a:buNone/>
            </a:pPr>
            <a:endParaRPr lang="en-US" sz="1440" dirty="0"/>
          </a:p>
        </p:txBody>
      </p:sp>
      <p:sp>
        <p:nvSpPr>
          <p:cNvPr id="31" name="Text 28">
            <a:extLst>
              <a:ext uri="{FF2B5EF4-FFF2-40B4-BE49-F238E27FC236}">
                <a16:creationId xmlns:a16="http://schemas.microsoft.com/office/drawing/2014/main" id="{D3162008-3423-ED9F-3093-E8177EC7CEA0}"/>
              </a:ext>
            </a:extLst>
          </p:cNvPr>
          <p:cNvSpPr/>
          <p:nvPr/>
        </p:nvSpPr>
        <p:spPr>
          <a:xfrm>
            <a:off x="295672" y="4007200"/>
            <a:ext cx="2776752" cy="448056"/>
          </a:xfrm>
          <a:prstGeom prst="rect">
            <a:avLst/>
          </a:prstGeom>
          <a:noFill/>
          <a:ln/>
        </p:spPr>
        <p:txBody>
          <a:bodyPr wrap="square" lIns="95250" tIns="95250" rIns="95250" bIns="95250" rtlCol="0" anchor="ctr"/>
          <a:lstStyle/>
          <a:p>
            <a:pPr marL="0" indent="0" algn="ctr">
              <a:lnSpc>
                <a:spcPct val="100000"/>
              </a:lnSpc>
              <a:spcBef>
                <a:spcPts val="375"/>
              </a:spcBef>
              <a:buNone/>
            </a:pPr>
            <a:r>
              <a:rPr lang="en-US" sz="1440" b="1" dirty="0" err="1">
                <a:solidFill>
                  <a:srgbClr val="FFFFFF"/>
                </a:solidFill>
                <a:latin typeface="Noto Sans" pitchFamily="34" charset="0"/>
                <a:ea typeface="Noto Sans" pitchFamily="34" charset="-122"/>
                <a:cs typeface="Noto Sans" pitchFamily="34" charset="-120"/>
              </a:rPr>
              <a:t>Hỗ</a:t>
            </a:r>
            <a:r>
              <a:rPr lang="en-US" sz="1440" b="1" dirty="0">
                <a:solidFill>
                  <a:srgbClr val="FFFFFF"/>
                </a:solidFill>
                <a:latin typeface="Noto Sans" pitchFamily="34" charset="0"/>
                <a:ea typeface="Noto Sans" pitchFamily="34" charset="-122"/>
                <a:cs typeface="Noto Sans" pitchFamily="34" charset="-120"/>
              </a:rPr>
              <a:t> </a:t>
            </a:r>
            <a:r>
              <a:rPr lang="en-US" sz="1440" b="1" dirty="0" err="1">
                <a:solidFill>
                  <a:srgbClr val="FFFFFF"/>
                </a:solidFill>
                <a:latin typeface="Noto Sans" pitchFamily="34" charset="0"/>
                <a:ea typeface="Noto Sans" pitchFamily="34" charset="-122"/>
                <a:cs typeface="Noto Sans" pitchFamily="34" charset="-120"/>
              </a:rPr>
              <a:t>trợ</a:t>
            </a:r>
            <a:r>
              <a:rPr lang="en-US" sz="1440" b="1" dirty="0">
                <a:solidFill>
                  <a:srgbClr val="FFFFFF"/>
                </a:solidFill>
                <a:latin typeface="Noto Sans" pitchFamily="34" charset="0"/>
                <a:ea typeface="Noto Sans" pitchFamily="34" charset="-122"/>
                <a:cs typeface="Noto Sans" pitchFamily="34" charset="-120"/>
              </a:rPr>
              <a:t> ID </a:t>
            </a:r>
            <a:r>
              <a:rPr lang="en-US" sz="1440" b="1" dirty="0" err="1">
                <a:solidFill>
                  <a:srgbClr val="FFFFFF"/>
                </a:solidFill>
                <a:latin typeface="Noto Sans" pitchFamily="34" charset="0"/>
                <a:ea typeface="Noto Sans" pitchFamily="34" charset="-122"/>
                <a:cs typeface="Noto Sans" pitchFamily="34" charset="-120"/>
              </a:rPr>
              <a:t>tuần</a:t>
            </a:r>
            <a:r>
              <a:rPr lang="en-US" sz="1440" b="1" dirty="0">
                <a:solidFill>
                  <a:srgbClr val="FFFFFF"/>
                </a:solidFill>
                <a:latin typeface="Noto Sans" pitchFamily="34" charset="0"/>
                <a:ea typeface="Noto Sans" pitchFamily="34" charset="-122"/>
                <a:cs typeface="Noto Sans" pitchFamily="34" charset="-120"/>
              </a:rPr>
              <a:t> </a:t>
            </a:r>
            <a:r>
              <a:rPr lang="en-US" sz="1440" b="1" dirty="0" err="1">
                <a:solidFill>
                  <a:srgbClr val="FFFFFF"/>
                </a:solidFill>
                <a:latin typeface="Noto Sans" pitchFamily="34" charset="0"/>
                <a:ea typeface="Noto Sans" pitchFamily="34" charset="-122"/>
                <a:cs typeface="Noto Sans" pitchFamily="34" charset="-120"/>
              </a:rPr>
              <a:t>tự</a:t>
            </a:r>
            <a:r>
              <a:rPr lang="en-US" sz="1440" b="1" dirty="0">
                <a:solidFill>
                  <a:srgbClr val="FFFFFF"/>
                </a:solidFill>
                <a:latin typeface="Noto Sans" pitchFamily="34" charset="0"/>
                <a:ea typeface="Noto Sans" pitchFamily="34" charset="-122"/>
                <a:cs typeface="Noto Sans" pitchFamily="34" charset="-120"/>
              </a:rPr>
              <a:t> </a:t>
            </a:r>
            <a:r>
              <a:rPr lang="en-US" sz="1440" b="1" dirty="0" err="1">
                <a:solidFill>
                  <a:srgbClr val="FFFFFF"/>
                </a:solidFill>
                <a:latin typeface="Noto Sans" pitchFamily="34" charset="0"/>
                <a:ea typeface="Noto Sans" pitchFamily="34" charset="-122"/>
                <a:cs typeface="Noto Sans" pitchFamily="34" charset="-120"/>
              </a:rPr>
              <a:t>và</a:t>
            </a:r>
            <a:r>
              <a:rPr lang="en-US" sz="1440" b="1" dirty="0">
                <a:solidFill>
                  <a:srgbClr val="FFFFFF"/>
                </a:solidFill>
                <a:latin typeface="Noto Sans" pitchFamily="34" charset="0"/>
                <a:ea typeface="Noto Sans" pitchFamily="34" charset="-122"/>
                <a:cs typeface="Noto Sans" pitchFamily="34" charset="-120"/>
              </a:rPr>
              <a:t> </a:t>
            </a:r>
            <a:r>
              <a:rPr lang="en-US" sz="1440" b="1" dirty="0" err="1">
                <a:solidFill>
                  <a:srgbClr val="FFFFFF"/>
                </a:solidFill>
                <a:latin typeface="Noto Sans" pitchFamily="34" charset="0"/>
                <a:ea typeface="Noto Sans" pitchFamily="34" charset="-122"/>
                <a:cs typeface="Noto Sans" pitchFamily="34" charset="-120"/>
              </a:rPr>
              <a:t>tùy</a:t>
            </a:r>
            <a:r>
              <a:rPr lang="en-US" sz="1440" b="1" dirty="0">
                <a:solidFill>
                  <a:srgbClr val="FFFFFF"/>
                </a:solidFill>
                <a:latin typeface="Noto Sans" pitchFamily="34" charset="0"/>
                <a:ea typeface="Noto Sans" pitchFamily="34" charset="-122"/>
                <a:cs typeface="Noto Sans" pitchFamily="34" charset="-120"/>
              </a:rPr>
              <a:t> </a:t>
            </a:r>
            <a:r>
              <a:rPr lang="en-US" sz="1440" b="1" dirty="0" err="1">
                <a:solidFill>
                  <a:srgbClr val="FFFFFF"/>
                </a:solidFill>
                <a:latin typeface="Noto Sans" pitchFamily="34" charset="0"/>
                <a:ea typeface="Noto Sans" pitchFamily="34" charset="-122"/>
                <a:cs typeface="Noto Sans" pitchFamily="34" charset="-120"/>
              </a:rPr>
              <a:t>chọn</a:t>
            </a:r>
            <a:endParaRPr lang="en-US" sz="1440" dirty="0"/>
          </a:p>
        </p:txBody>
      </p:sp>
      <p:sp>
        <p:nvSpPr>
          <p:cNvPr id="32" name="Text 29">
            <a:extLst>
              <a:ext uri="{FF2B5EF4-FFF2-40B4-BE49-F238E27FC236}">
                <a16:creationId xmlns:a16="http://schemas.microsoft.com/office/drawing/2014/main" id="{A4B6CDB4-67A3-CFBF-679D-3F19775C35A2}"/>
              </a:ext>
            </a:extLst>
          </p:cNvPr>
          <p:cNvSpPr/>
          <p:nvPr/>
        </p:nvSpPr>
        <p:spPr>
          <a:xfrm>
            <a:off x="6035317" y="3988912"/>
            <a:ext cx="2776752" cy="448056"/>
          </a:xfrm>
          <a:prstGeom prst="rect">
            <a:avLst/>
          </a:prstGeom>
          <a:noFill/>
          <a:ln/>
        </p:spPr>
        <p:txBody>
          <a:bodyPr wrap="square" lIns="95250" tIns="95250" rIns="95250" bIns="95250" rtlCol="0" anchor="ctr"/>
          <a:lstStyle/>
          <a:p>
            <a:pPr marL="0" indent="0" algn="ctr">
              <a:lnSpc>
                <a:spcPct val="100000"/>
              </a:lnSpc>
              <a:spcBef>
                <a:spcPts val="375"/>
              </a:spcBef>
              <a:buNone/>
            </a:pPr>
            <a:r>
              <a:rPr lang="en-US" sz="1440" b="1" dirty="0" err="1">
                <a:solidFill>
                  <a:srgbClr val="FFFFFF"/>
                </a:solidFill>
                <a:latin typeface="Noto Sans" pitchFamily="34" charset="0"/>
                <a:ea typeface="Noto Sans" pitchFamily="34" charset="-122"/>
                <a:cs typeface="Noto Sans" pitchFamily="34" charset="-120"/>
              </a:rPr>
              <a:t>Tích</a:t>
            </a:r>
            <a:r>
              <a:rPr lang="en-US" sz="1440" b="1" dirty="0">
                <a:solidFill>
                  <a:srgbClr val="FFFFFF"/>
                </a:solidFill>
                <a:latin typeface="Noto Sans" pitchFamily="34" charset="0"/>
                <a:ea typeface="Noto Sans" pitchFamily="34" charset="-122"/>
                <a:cs typeface="Noto Sans" pitchFamily="34" charset="-120"/>
              </a:rPr>
              <a:t> </a:t>
            </a:r>
            <a:r>
              <a:rPr lang="en-US" sz="1440" b="1" dirty="0" err="1">
                <a:solidFill>
                  <a:srgbClr val="FFFFFF"/>
                </a:solidFill>
                <a:latin typeface="Noto Sans" pitchFamily="34" charset="0"/>
                <a:ea typeface="Noto Sans" pitchFamily="34" charset="-122"/>
                <a:cs typeface="Noto Sans" pitchFamily="34" charset="-120"/>
              </a:rPr>
              <a:t>hợp</a:t>
            </a:r>
            <a:r>
              <a:rPr lang="en-US" sz="1440" b="1" dirty="0">
                <a:solidFill>
                  <a:srgbClr val="FFFFFF"/>
                </a:solidFill>
                <a:latin typeface="Noto Sans" pitchFamily="34" charset="0"/>
                <a:ea typeface="Noto Sans" pitchFamily="34" charset="-122"/>
                <a:cs typeface="Noto Sans" pitchFamily="34" charset="-120"/>
              </a:rPr>
              <a:t> </a:t>
            </a:r>
            <a:r>
              <a:rPr lang="en-US" sz="1440" b="1" dirty="0" err="1">
                <a:solidFill>
                  <a:srgbClr val="FFFFFF"/>
                </a:solidFill>
                <a:latin typeface="Noto Sans" pitchFamily="34" charset="0"/>
                <a:ea typeface="Noto Sans" pitchFamily="34" charset="-122"/>
                <a:cs typeface="Noto Sans" pitchFamily="34" charset="-120"/>
              </a:rPr>
              <a:t>lưu</a:t>
            </a:r>
            <a:r>
              <a:rPr lang="en-US" sz="1440" b="1" dirty="0">
                <a:solidFill>
                  <a:srgbClr val="FFFFFF"/>
                </a:solidFill>
                <a:latin typeface="Noto Sans" pitchFamily="34" charset="0"/>
                <a:ea typeface="Noto Sans" pitchFamily="34" charset="-122"/>
                <a:cs typeface="Noto Sans" pitchFamily="34" charset="-120"/>
              </a:rPr>
              <a:t> </a:t>
            </a:r>
            <a:r>
              <a:rPr lang="en-US" sz="1440" b="1" dirty="0" err="1">
                <a:solidFill>
                  <a:srgbClr val="FFFFFF"/>
                </a:solidFill>
                <a:latin typeface="Noto Sans" pitchFamily="34" charset="0"/>
                <a:ea typeface="Noto Sans" pitchFamily="34" charset="-122"/>
                <a:cs typeface="Noto Sans" pitchFamily="34" charset="-120"/>
              </a:rPr>
              <a:t>trữ</a:t>
            </a:r>
            <a:r>
              <a:rPr lang="en-US" sz="1440" b="1" dirty="0">
                <a:solidFill>
                  <a:srgbClr val="FFFFFF"/>
                </a:solidFill>
                <a:latin typeface="Noto Sans" pitchFamily="34" charset="0"/>
                <a:ea typeface="Noto Sans" pitchFamily="34" charset="-122"/>
                <a:cs typeface="Noto Sans" pitchFamily="34" charset="-120"/>
              </a:rPr>
              <a:t> </a:t>
            </a:r>
            <a:r>
              <a:rPr lang="en-US" sz="1440" b="1" dirty="0" err="1">
                <a:solidFill>
                  <a:srgbClr val="FFFFFF"/>
                </a:solidFill>
                <a:latin typeface="Noto Sans" pitchFamily="34" charset="0"/>
                <a:ea typeface="Noto Sans" pitchFamily="34" charset="-122"/>
                <a:cs typeface="Noto Sans" pitchFamily="34" charset="-120"/>
              </a:rPr>
              <a:t>ngoài</a:t>
            </a:r>
            <a:endParaRPr lang="en-US" sz="1440" dirty="0"/>
          </a:p>
        </p:txBody>
      </p:sp>
      <p:pic>
        <p:nvPicPr>
          <p:cNvPr id="34" name="Picture 33">
            <a:extLst>
              <a:ext uri="{FF2B5EF4-FFF2-40B4-BE49-F238E27FC236}">
                <a16:creationId xmlns:a16="http://schemas.microsoft.com/office/drawing/2014/main" id="{2AB6B058-7BD1-F747-627D-E0D71676B45F}"/>
              </a:ext>
            </a:extLst>
          </p:cNvPr>
          <p:cNvPicPr>
            <a:picLocks noChangeAspect="1"/>
          </p:cNvPicPr>
          <p:nvPr/>
        </p:nvPicPr>
        <p:blipFill>
          <a:blip r:embed="rId5"/>
          <a:stretch>
            <a:fillRect/>
          </a:stretch>
        </p:blipFill>
        <p:spPr>
          <a:xfrm>
            <a:off x="3674860" y="1677676"/>
            <a:ext cx="1810472" cy="2329524"/>
          </a:xfrm>
          <a:prstGeom prst="rect">
            <a:avLst/>
          </a:prstGeom>
        </p:spPr>
      </p:pic>
    </p:spTree>
    <p:extLst>
      <p:ext uri="{BB962C8B-B14F-4D97-AF65-F5344CB8AC3E}">
        <p14:creationId xmlns:p14="http://schemas.microsoft.com/office/powerpoint/2010/main" val="38458686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623205" y="1041171"/>
            <a:ext cx="2140946" cy="1828800"/>
          </a:xfrm>
          <a:prstGeom prst="rect">
            <a:avLst/>
          </a:prstGeom>
          <a:noFill/>
          <a:ln/>
        </p:spPr>
        <p:txBody>
          <a:bodyPr wrap="square" lIns="95250" tIns="95250" rIns="95250" bIns="95250" rtlCol="0" anchor="t">
            <a:spAutoFit/>
          </a:bodyPr>
          <a:lstStyle/>
          <a:p>
            <a:pPr marL="0" indent="0" algn="ctr">
              <a:lnSpc>
                <a:spcPct val="112500"/>
              </a:lnSpc>
              <a:spcBef>
                <a:spcPts val="375"/>
              </a:spcBef>
              <a:buNone/>
            </a:pPr>
            <a:r>
              <a:rPr lang="en-US" sz="8640" b="1" dirty="0">
                <a:solidFill>
                  <a:srgbClr val="2B76FD">
                    <a:alpha val="60000"/>
                  </a:srgbClr>
                </a:solidFill>
                <a:latin typeface="Noto Sans" pitchFamily="34" charset="0"/>
                <a:ea typeface="Noto Sans" pitchFamily="34" charset="-122"/>
                <a:cs typeface="Noto Sans" pitchFamily="34" charset="-120"/>
              </a:rPr>
              <a:t>07</a:t>
            </a:r>
            <a:endParaRPr lang="en-US" sz="1440" dirty="0"/>
          </a:p>
        </p:txBody>
      </p:sp>
      <p:sp>
        <p:nvSpPr>
          <p:cNvPr id="3" name="Text 1"/>
          <p:cNvSpPr/>
          <p:nvPr/>
        </p:nvSpPr>
        <p:spPr>
          <a:xfrm>
            <a:off x="4098516" y="2591079"/>
            <a:ext cx="4294798" cy="621792"/>
          </a:xfrm>
          <a:prstGeom prst="rect">
            <a:avLst/>
          </a:prstGeom>
          <a:noFill/>
          <a:ln/>
        </p:spPr>
        <p:txBody>
          <a:bodyPr wrap="square" lIns="95250" tIns="95250" rIns="95250" bIns="95250" rtlCol="0" anchor="t">
            <a:spAutoFit/>
          </a:bodyPr>
          <a:lstStyle/>
          <a:p>
            <a:pPr marL="0" indent="0" algn="r">
              <a:lnSpc>
                <a:spcPct val="100000"/>
              </a:lnSpc>
              <a:spcBef>
                <a:spcPts val="375"/>
              </a:spcBef>
              <a:buNone/>
            </a:pPr>
            <a:r>
              <a:rPr lang="en-US" sz="2880" b="1" dirty="0">
                <a:solidFill>
                  <a:srgbClr val="2B76FD"/>
                </a:solidFill>
                <a:latin typeface="Noto Sans" pitchFamily="34" charset="0"/>
                <a:ea typeface="Noto Sans" pitchFamily="34" charset="-122"/>
                <a:cs typeface="Noto Sans" pitchFamily="34" charset="-120"/>
              </a:rPr>
              <a:t>ỨNG DỤNG CỦA FAISS</a:t>
            </a:r>
            <a:endParaRPr lang="en-US" sz="144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96558" y="328468"/>
            <a:ext cx="8396337" cy="594360"/>
          </a:xfrm>
          <a:prstGeom prst="rect">
            <a:avLst/>
          </a:prstGeom>
          <a:noFill/>
          <a:ln/>
        </p:spPr>
        <p:txBody>
          <a:bodyPr wrap="square" lIns="95250" tIns="95250" rIns="95250" bIns="95250" rtlCol="0" anchor="t">
            <a:spAutoFit/>
          </a:bodyPr>
          <a:lstStyle/>
          <a:p>
            <a:pPr marL="0" indent="0">
              <a:lnSpc>
                <a:spcPct val="112500"/>
              </a:lnSpc>
              <a:spcBef>
                <a:spcPts val="375"/>
              </a:spcBef>
              <a:buNone/>
            </a:pPr>
            <a:r>
              <a:rPr lang="en-US" sz="2160" b="1" dirty="0">
                <a:solidFill>
                  <a:srgbClr val="193AB9"/>
                </a:solidFill>
                <a:latin typeface="Noto Sans" pitchFamily="34" charset="0"/>
                <a:ea typeface="Noto Sans" pitchFamily="34" charset="-122"/>
                <a:cs typeface="Noto Sans" pitchFamily="34" charset="-120"/>
              </a:rPr>
              <a:t>7.1. Chỉ mục quy mô nghìn tỷ</a:t>
            </a:r>
            <a:endParaRPr lang="en-US" sz="1440" dirty="0"/>
          </a:p>
        </p:txBody>
      </p:sp>
      <p:pic>
        <p:nvPicPr>
          <p:cNvPr id="3" name="Image 0" descr="preencoded.png"/>
          <p:cNvPicPr>
            <a:picLocks noChangeAspect="1"/>
          </p:cNvPicPr>
          <p:nvPr/>
        </p:nvPicPr>
        <p:blipFill>
          <a:blip r:embed="rId4"/>
          <a:stretch>
            <a:fillRect/>
          </a:stretch>
        </p:blipFill>
        <p:spPr>
          <a:xfrm flipH="1">
            <a:off x="4678070" y="2200369"/>
            <a:ext cx="4079970" cy="2157506"/>
          </a:xfrm>
          <a:prstGeom prst="rect">
            <a:avLst/>
          </a:prstGeom>
        </p:spPr>
      </p:pic>
      <p:pic>
        <p:nvPicPr>
          <p:cNvPr id="4" name="Image 1" descr="preencoded.png"/>
          <p:cNvPicPr>
            <a:picLocks noChangeAspect="1"/>
          </p:cNvPicPr>
          <p:nvPr/>
        </p:nvPicPr>
        <p:blipFill>
          <a:blip r:embed="rId5"/>
          <a:stretch>
            <a:fillRect/>
          </a:stretch>
        </p:blipFill>
        <p:spPr>
          <a:xfrm>
            <a:off x="385960" y="1334533"/>
            <a:ext cx="4079970" cy="1430189"/>
          </a:xfrm>
          <a:prstGeom prst="rect">
            <a:avLst/>
          </a:prstGeom>
        </p:spPr>
      </p:pic>
      <p:sp>
        <p:nvSpPr>
          <p:cNvPr id="5" name="Shape 1"/>
          <p:cNvSpPr/>
          <p:nvPr/>
        </p:nvSpPr>
        <p:spPr>
          <a:xfrm>
            <a:off x="4582396" y="1340510"/>
            <a:ext cx="0" cy="3802544"/>
          </a:xfrm>
          <a:custGeom>
            <a:avLst/>
            <a:gdLst/>
            <a:ahLst/>
            <a:cxnLst/>
            <a:rect l="l" t="t" r="r" b="b"/>
            <a:pathLst>
              <a:path h="3802544">
                <a:moveTo>
                  <a:pt x="0" y="0"/>
                </a:moveTo>
                <a:moveTo>
                  <a:pt x="0" y="0"/>
                </a:moveTo>
                <a:lnTo>
                  <a:pt x="0" y="3802544"/>
                </a:lnTo>
              </a:path>
            </a:pathLst>
          </a:custGeom>
          <a:noFill/>
          <a:ln w="19050">
            <a:solidFill>
              <a:srgbClr val="2B76FD">
                <a:alpha val="14902"/>
              </a:srgbClr>
            </a:solidFill>
            <a:prstDash val="solid"/>
            <a:headEnd type="none"/>
            <a:tailEnd type="none"/>
          </a:ln>
        </p:spPr>
        <p:txBody>
          <a:bodyPr/>
          <a:lstStyle/>
          <a:p>
            <a:endParaRPr lang="en-US"/>
          </a:p>
        </p:txBody>
      </p:sp>
      <p:sp>
        <p:nvSpPr>
          <p:cNvPr id="6" name="Shape 2"/>
          <p:cNvSpPr/>
          <p:nvPr/>
        </p:nvSpPr>
        <p:spPr>
          <a:xfrm>
            <a:off x="4490956" y="1318664"/>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2B76FD"/>
          </a:solidFill>
          <a:ln/>
        </p:spPr>
        <p:txBody>
          <a:bodyPr/>
          <a:lstStyle/>
          <a:p>
            <a:endParaRPr lang="en-US"/>
          </a:p>
        </p:txBody>
      </p:sp>
      <p:pic>
        <p:nvPicPr>
          <p:cNvPr id="7" name="Image 2" descr="preencoded.png"/>
          <p:cNvPicPr>
            <a:picLocks noChangeAspect="1"/>
          </p:cNvPicPr>
          <p:nvPr/>
        </p:nvPicPr>
        <p:blipFill>
          <a:blip r:embed="rId6"/>
          <a:stretch>
            <a:fillRect/>
          </a:stretch>
        </p:blipFill>
        <p:spPr>
          <a:xfrm>
            <a:off x="396558" y="3466433"/>
            <a:ext cx="4079970" cy="1129400"/>
          </a:xfrm>
          <a:prstGeom prst="rect">
            <a:avLst/>
          </a:prstGeom>
        </p:spPr>
      </p:pic>
      <p:sp>
        <p:nvSpPr>
          <p:cNvPr id="8" name="Shape 3"/>
          <p:cNvSpPr/>
          <p:nvPr/>
        </p:nvSpPr>
        <p:spPr>
          <a:xfrm>
            <a:off x="4490956" y="2112832"/>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90CF5B"/>
          </a:solidFill>
          <a:ln/>
        </p:spPr>
        <p:txBody>
          <a:bodyPr/>
          <a:lstStyle/>
          <a:p>
            <a:endParaRPr lang="en-US"/>
          </a:p>
        </p:txBody>
      </p:sp>
      <p:sp>
        <p:nvSpPr>
          <p:cNvPr id="9" name="Shape 4"/>
          <p:cNvSpPr/>
          <p:nvPr/>
        </p:nvSpPr>
        <p:spPr>
          <a:xfrm>
            <a:off x="4490956" y="3386819"/>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C12A"/>
          </a:solidFill>
          <a:ln/>
        </p:spPr>
        <p:txBody>
          <a:bodyPr/>
          <a:lstStyle/>
          <a:p>
            <a:endParaRPr lang="en-US"/>
          </a:p>
        </p:txBody>
      </p:sp>
      <p:sp>
        <p:nvSpPr>
          <p:cNvPr id="10" name="Text 5"/>
          <p:cNvSpPr/>
          <p:nvPr/>
        </p:nvSpPr>
        <p:spPr>
          <a:xfrm>
            <a:off x="396558" y="890333"/>
            <a:ext cx="3737868" cy="460087"/>
          </a:xfrm>
          <a:prstGeom prst="rect">
            <a:avLst/>
          </a:prstGeom>
          <a:noFill/>
          <a:ln/>
        </p:spPr>
        <p:txBody>
          <a:bodyPr wrap="square" lIns="95250" tIns="95250" rIns="95250" bIns="95250" rtlCol="0" anchor="ctr"/>
          <a:lstStyle/>
          <a:p>
            <a:pPr marL="0" indent="0" algn="r">
              <a:lnSpc>
                <a:spcPct val="100000"/>
              </a:lnSpc>
              <a:spcBef>
                <a:spcPts val="375"/>
              </a:spcBef>
              <a:buNone/>
            </a:pPr>
            <a:r>
              <a:rPr lang="en-US" sz="1728" b="1" dirty="0">
                <a:solidFill>
                  <a:srgbClr val="2B76FD"/>
                </a:solidFill>
                <a:latin typeface="Noto Sans" pitchFamily="34" charset="0"/>
                <a:ea typeface="Noto Sans" pitchFamily="34" charset="-122"/>
                <a:cs typeface="Noto Sans" pitchFamily="34" charset="-120"/>
              </a:rPr>
              <a:t>Thông số kỹ thuật</a:t>
            </a:r>
            <a:endParaRPr lang="en-US" sz="1440" dirty="0"/>
          </a:p>
        </p:txBody>
      </p:sp>
      <p:sp>
        <p:nvSpPr>
          <p:cNvPr id="11" name="Text 6"/>
          <p:cNvSpPr/>
          <p:nvPr/>
        </p:nvSpPr>
        <p:spPr>
          <a:xfrm>
            <a:off x="396558" y="1490265"/>
            <a:ext cx="3954818" cy="1161288"/>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en-US" sz="1152" dirty="0">
                <a:solidFill>
                  <a:srgbClr val="FFFFFF"/>
                </a:solidFill>
                <a:latin typeface="Noto Sans" pitchFamily="34" charset="0"/>
                <a:ea typeface="Noto Sans" pitchFamily="34" charset="-122"/>
                <a:cs typeface="Noto Sans" pitchFamily="34" charset="-120"/>
              </a:rPr>
              <a:t>• </a:t>
            </a:r>
            <a:r>
              <a:rPr lang="en-US" sz="1152" b="1" dirty="0">
                <a:solidFill>
                  <a:srgbClr val="FFFFFF"/>
                </a:solidFill>
                <a:latin typeface="Noto Sans" pitchFamily="34" charset="0"/>
                <a:ea typeface="Noto Sans" pitchFamily="34" charset="-122"/>
                <a:cs typeface="Noto Sans" pitchFamily="34" charset="-120"/>
              </a:rPr>
              <a:t>Quy mô</a:t>
            </a:r>
            <a:r>
              <a:rPr lang="en-US" sz="1152" dirty="0">
                <a:solidFill>
                  <a:srgbClr val="FFFFFF"/>
                </a:solidFill>
                <a:latin typeface="Noto Sans" pitchFamily="34" charset="0"/>
                <a:ea typeface="Noto Sans" pitchFamily="34" charset="-122"/>
                <a:cs typeface="Noto Sans" pitchFamily="34" charset="-120"/>
              </a:rPr>
              <a:t>: 1.5 nghìn tỷ vectors (1,500,000,000,000)</a:t>
            </a:r>
            <a:endParaRPr lang="en-US" sz="1440" dirty="0"/>
          </a:p>
          <a:p>
            <a:pPr marL="0" indent="0">
              <a:lnSpc>
                <a:spcPct val="100000"/>
              </a:lnSpc>
              <a:spcBef>
                <a:spcPts val="375"/>
              </a:spcBef>
              <a:buNone/>
            </a:pPr>
            <a:r>
              <a:rPr lang="en-US" sz="1152" dirty="0">
                <a:solidFill>
                  <a:srgbClr val="FFFFFF"/>
                </a:solidFill>
                <a:latin typeface="Noto Sans" pitchFamily="34" charset="0"/>
                <a:ea typeface="Noto Sans" pitchFamily="34" charset="-122"/>
                <a:cs typeface="Noto Sans" pitchFamily="34" charset="-120"/>
              </a:rPr>
              <a:t>• </a:t>
            </a:r>
            <a:r>
              <a:rPr lang="en-US" sz="1152" b="1" dirty="0">
                <a:solidFill>
                  <a:srgbClr val="FFFFFF"/>
                </a:solidFill>
                <a:latin typeface="Noto Sans" pitchFamily="34" charset="0"/>
                <a:ea typeface="Noto Sans" pitchFamily="34" charset="-122"/>
                <a:cs typeface="Noto Sans" pitchFamily="34" charset="-120"/>
              </a:rPr>
              <a:t>Chiều dữ liệu:</a:t>
            </a:r>
            <a:r>
              <a:rPr lang="en-US" sz="1152" dirty="0">
                <a:solidFill>
                  <a:srgbClr val="FFFFFF"/>
                </a:solidFill>
                <a:latin typeface="Noto Sans" pitchFamily="34" charset="0"/>
                <a:ea typeface="Noto Sans" pitchFamily="34" charset="-122"/>
                <a:cs typeface="Noto Sans" pitchFamily="34" charset="-120"/>
              </a:rPr>
              <a:t> 144D</a:t>
            </a:r>
            <a:endParaRPr lang="en-US" sz="1440" dirty="0"/>
          </a:p>
          <a:p>
            <a:pPr marL="0" indent="0">
              <a:lnSpc>
                <a:spcPct val="100000"/>
              </a:lnSpc>
              <a:spcBef>
                <a:spcPts val="375"/>
              </a:spcBef>
              <a:buNone/>
            </a:pPr>
            <a:r>
              <a:rPr lang="en-US" sz="1152" dirty="0">
                <a:solidFill>
                  <a:srgbClr val="FFFFFF"/>
                </a:solidFill>
                <a:latin typeface="Noto Sans" pitchFamily="34" charset="0"/>
                <a:ea typeface="Noto Sans" pitchFamily="34" charset="-122"/>
                <a:cs typeface="Noto Sans" pitchFamily="34" charset="-120"/>
              </a:rPr>
              <a:t>• </a:t>
            </a:r>
            <a:r>
              <a:rPr lang="en-US" sz="1152" b="1" dirty="0">
                <a:solidFill>
                  <a:srgbClr val="FFFFFF"/>
                </a:solidFill>
                <a:latin typeface="Noto Sans" pitchFamily="34" charset="0"/>
                <a:ea typeface="Noto Sans" pitchFamily="34" charset="-122"/>
                <a:cs typeface="Noto Sans" pitchFamily="34" charset="-120"/>
              </a:rPr>
              <a:t>Nén:</a:t>
            </a:r>
            <a:r>
              <a:rPr lang="en-US" sz="1152" dirty="0">
                <a:solidFill>
                  <a:srgbClr val="FFFFFF"/>
                </a:solidFill>
                <a:latin typeface="Noto Sans" pitchFamily="34" charset="0"/>
                <a:ea typeface="Noto Sans" pitchFamily="34" charset="-122"/>
                <a:cs typeface="Noto Sans" pitchFamily="34" charset="-120"/>
              </a:rPr>
              <a:t> PCA → 72D + SQ6 = 54 bytes/vector</a:t>
            </a:r>
            <a:endParaRPr lang="en-US" sz="1440" dirty="0"/>
          </a:p>
          <a:p>
            <a:pPr marL="0" indent="0">
              <a:lnSpc>
                <a:spcPct val="100000"/>
              </a:lnSpc>
              <a:spcBef>
                <a:spcPts val="375"/>
              </a:spcBef>
              <a:buNone/>
            </a:pPr>
            <a:r>
              <a:rPr lang="en-US" sz="1152" dirty="0">
                <a:solidFill>
                  <a:srgbClr val="FFFFFF"/>
                </a:solidFill>
                <a:latin typeface="Noto Sans" pitchFamily="34" charset="0"/>
                <a:ea typeface="Noto Sans" pitchFamily="34" charset="-122"/>
                <a:cs typeface="Noto Sans" pitchFamily="34" charset="-120"/>
              </a:rPr>
              <a:t>• </a:t>
            </a:r>
            <a:r>
              <a:rPr lang="en-US" sz="1152" b="1" dirty="0">
                <a:solidFill>
                  <a:srgbClr val="FFFFFF"/>
                </a:solidFill>
                <a:latin typeface="Noto Sans" pitchFamily="34" charset="0"/>
                <a:ea typeface="Noto Sans" pitchFamily="34" charset="-122"/>
                <a:cs typeface="Noto Sans" pitchFamily="34" charset="-120"/>
              </a:rPr>
              <a:t>Bộ lượng tử hóa:</a:t>
            </a:r>
            <a:r>
              <a:rPr lang="en-US" sz="1152" dirty="0">
                <a:solidFill>
                  <a:srgbClr val="FFFFFF"/>
                </a:solidFill>
                <a:latin typeface="Noto Sans" pitchFamily="34" charset="0"/>
                <a:ea typeface="Noto Sans" pitchFamily="34" charset="-122"/>
                <a:cs typeface="Noto Sans" pitchFamily="34" charset="-120"/>
              </a:rPr>
              <a:t> HNSW với 10 triệu centroids</a:t>
            </a:r>
            <a:endParaRPr lang="en-US" sz="1440" dirty="0"/>
          </a:p>
        </p:txBody>
      </p:sp>
      <p:sp>
        <p:nvSpPr>
          <p:cNvPr id="12" name="Text 7"/>
          <p:cNvSpPr/>
          <p:nvPr/>
        </p:nvSpPr>
        <p:spPr>
          <a:xfrm>
            <a:off x="4882192" y="1740282"/>
            <a:ext cx="3726417" cy="460087"/>
          </a:xfrm>
          <a:prstGeom prst="rect">
            <a:avLst/>
          </a:prstGeom>
          <a:noFill/>
          <a:ln/>
        </p:spPr>
        <p:txBody>
          <a:bodyPr wrap="square" lIns="95250" tIns="95250" rIns="95250" bIns="95250" rtlCol="0" anchor="ctr"/>
          <a:lstStyle/>
          <a:p>
            <a:pPr marL="0" indent="0">
              <a:lnSpc>
                <a:spcPct val="100000"/>
              </a:lnSpc>
              <a:spcBef>
                <a:spcPts val="375"/>
              </a:spcBef>
              <a:buNone/>
            </a:pPr>
            <a:r>
              <a:rPr lang="en-US" sz="1728" b="1" dirty="0">
                <a:solidFill>
                  <a:srgbClr val="90CF5B"/>
                </a:solidFill>
                <a:latin typeface="Noto Sans" pitchFamily="34" charset="0"/>
                <a:ea typeface="Noto Sans" pitchFamily="34" charset="-122"/>
                <a:cs typeface="Noto Sans" pitchFamily="34" charset="-120"/>
              </a:rPr>
              <a:t>Kiến trúc xây dựng</a:t>
            </a:r>
            <a:endParaRPr lang="en-US" sz="1440" dirty="0"/>
          </a:p>
        </p:txBody>
      </p:sp>
      <p:sp>
        <p:nvSpPr>
          <p:cNvPr id="13" name="Text 8"/>
          <p:cNvSpPr/>
          <p:nvPr/>
        </p:nvSpPr>
        <p:spPr>
          <a:xfrm>
            <a:off x="5288436" y="2200369"/>
            <a:ext cx="3469605" cy="2139696"/>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en-US" sz="1152" b="1" dirty="0">
                <a:solidFill>
                  <a:srgbClr val="FFFFFF"/>
                </a:solidFill>
                <a:latin typeface="Noto Sans" pitchFamily="34" charset="0"/>
                <a:ea typeface="Noto Sans" pitchFamily="34" charset="-122"/>
                <a:cs typeface="Noto Sans" pitchFamily="34" charset="-120"/>
              </a:rPr>
              <a:t>Giai đoạn 1: Phân đoạn theo ID</a:t>
            </a:r>
            <a:r>
              <a:rPr lang="en-US" sz="1152" dirty="0">
                <a:solidFill>
                  <a:srgbClr val="FFFFFF"/>
                </a:solidFill>
                <a:latin typeface="Noto Sans" pitchFamily="34" charset="0"/>
                <a:ea typeface="Noto Sans" pitchFamily="34" charset="-122"/>
                <a:cs typeface="Noto Sans" pitchFamily="34" charset="-120"/>
              </a:rPr>
              <a:t> </a:t>
            </a:r>
            <a:endParaRPr lang="en-US" sz="1440" dirty="0"/>
          </a:p>
          <a:p>
            <a:pPr marL="182880" indent="-182880">
              <a:lnSpc>
                <a:spcPct val="100000"/>
              </a:lnSpc>
              <a:spcBef>
                <a:spcPts val="10"/>
              </a:spcBef>
              <a:buSzPct val="100000"/>
              <a:buChar char="•"/>
            </a:pPr>
            <a:r>
              <a:rPr lang="en-US" sz="1152" dirty="0">
                <a:solidFill>
                  <a:srgbClr val="FFFFFF"/>
                </a:solidFill>
                <a:latin typeface="Noto Sans" pitchFamily="34" charset="0"/>
                <a:ea typeface="Noto Sans" pitchFamily="34" charset="-122"/>
                <a:cs typeface="Noto Sans" pitchFamily="34" charset="-120"/>
              </a:rPr>
              <a:t>2000 phân đoạn độc lập, mỗi phân đoạn 256GB RAM </a:t>
            </a:r>
            <a:endParaRPr lang="en-US" sz="1440" dirty="0"/>
          </a:p>
          <a:p>
            <a:pPr marL="0" indent="0">
              <a:lnSpc>
                <a:spcPct val="100000"/>
              </a:lnSpc>
              <a:spcBef>
                <a:spcPts val="375"/>
              </a:spcBef>
              <a:buNone/>
            </a:pPr>
            <a:r>
              <a:rPr lang="en-US" sz="1152" b="1" dirty="0">
                <a:solidFill>
                  <a:srgbClr val="FFFFFF"/>
                </a:solidFill>
                <a:latin typeface="Noto Sans" pitchFamily="34" charset="0"/>
                <a:ea typeface="Noto Sans" pitchFamily="34" charset="-122"/>
                <a:cs typeface="Noto Sans" pitchFamily="34" charset="-120"/>
              </a:rPr>
              <a:t>Giai đoạn 2: Phân đoạn theo danh sách</a:t>
            </a:r>
            <a:endParaRPr lang="en-US" sz="1440" dirty="0"/>
          </a:p>
          <a:p>
            <a:pPr marL="182880" indent="-182880">
              <a:lnSpc>
                <a:spcPct val="100000"/>
              </a:lnSpc>
              <a:spcBef>
                <a:spcPts val="10"/>
              </a:spcBef>
              <a:buSzPct val="100000"/>
              <a:buChar char="•"/>
            </a:pPr>
            <a:r>
              <a:rPr lang="en-US" sz="1152" dirty="0">
                <a:solidFill>
                  <a:srgbClr val="FFFFFF"/>
                </a:solidFill>
                <a:latin typeface="Noto Sans" pitchFamily="34" charset="0"/>
                <a:ea typeface="Noto Sans" pitchFamily="34" charset="-122"/>
                <a:cs typeface="Noto Sans" pitchFamily="34" charset="-120"/>
              </a:rPr>
              <a:t>100 indexes, mỗi index 100k inverted lists </a:t>
            </a:r>
            <a:endParaRPr lang="en-US" sz="1440" dirty="0"/>
          </a:p>
          <a:p>
            <a:pPr marL="182880" indent="-182880">
              <a:lnSpc>
                <a:spcPct val="100000"/>
              </a:lnSpc>
              <a:spcBef>
                <a:spcPts val="10"/>
              </a:spcBef>
              <a:buSzPct val="100000"/>
              <a:buChar char="•"/>
            </a:pPr>
            <a:r>
              <a:rPr lang="en-US" sz="1152" dirty="0">
                <a:solidFill>
                  <a:srgbClr val="FFFFFF"/>
                </a:solidFill>
                <a:latin typeface="Noto Sans" pitchFamily="34" charset="0"/>
                <a:ea typeface="Noto Sans" pitchFamily="34" charset="-122"/>
                <a:cs typeface="Noto Sans" pitchFamily="34" charset="-120"/>
              </a:rPr>
              <a:t>Thực hiện trên 100 máy khác nhau </a:t>
            </a:r>
            <a:endParaRPr lang="en-US" sz="1440" dirty="0"/>
          </a:p>
          <a:p>
            <a:pPr marL="0" indent="0">
              <a:lnSpc>
                <a:spcPct val="100000"/>
              </a:lnSpc>
              <a:spcBef>
                <a:spcPts val="375"/>
              </a:spcBef>
              <a:buNone/>
            </a:pPr>
            <a:r>
              <a:rPr lang="en-US" sz="1152" b="1" dirty="0">
                <a:solidFill>
                  <a:srgbClr val="FFFFFF"/>
                </a:solidFill>
                <a:latin typeface="Noto Sans" pitchFamily="34" charset="0"/>
                <a:ea typeface="Noto Sans" pitchFamily="34" charset="-122"/>
                <a:cs typeface="Noto Sans" pitchFamily="34" charset="-120"/>
              </a:rPr>
              <a:t>Giai đoạn 3: Tải các phân đoạn</a:t>
            </a:r>
            <a:endParaRPr lang="en-US" sz="1440" dirty="0"/>
          </a:p>
          <a:p>
            <a:pPr marL="182880" indent="-182880">
              <a:lnSpc>
                <a:spcPct val="100000"/>
              </a:lnSpc>
              <a:spcBef>
                <a:spcPts val="10"/>
              </a:spcBef>
              <a:buSzPct val="100000"/>
              <a:buChar char="•"/>
            </a:pPr>
            <a:r>
              <a:rPr lang="en-US" sz="1152" dirty="0">
                <a:solidFill>
                  <a:srgbClr val="FFFFFF"/>
                </a:solidFill>
                <a:latin typeface="Noto Sans" pitchFamily="34" charset="0"/>
                <a:ea typeface="Noto Sans" pitchFamily="34" charset="-122"/>
                <a:cs typeface="Noto Sans" pitchFamily="34" charset="-120"/>
              </a:rPr>
              <a:t>Ánh xạ bộ nhớ tất cả 100 indexes = 83 TiB</a:t>
            </a:r>
            <a:endParaRPr lang="en-US" sz="1440" dirty="0"/>
          </a:p>
        </p:txBody>
      </p:sp>
      <p:sp>
        <p:nvSpPr>
          <p:cNvPr id="14" name="Text 9"/>
          <p:cNvSpPr/>
          <p:nvPr/>
        </p:nvSpPr>
        <p:spPr>
          <a:xfrm>
            <a:off x="396558" y="3708651"/>
            <a:ext cx="3612716" cy="649224"/>
          </a:xfrm>
          <a:prstGeom prst="rect">
            <a:avLst/>
          </a:prstGeom>
          <a:noFill/>
          <a:ln/>
        </p:spPr>
        <p:txBody>
          <a:bodyPr wrap="square" lIns="95250" tIns="95250" rIns="95250" bIns="95250" rtlCol="0" anchor="t">
            <a:spAutoFit/>
          </a:bodyPr>
          <a:lstStyle/>
          <a:p>
            <a:pPr marL="182880" indent="-182880">
              <a:lnSpc>
                <a:spcPct val="100000"/>
              </a:lnSpc>
              <a:spcBef>
                <a:spcPts val="10"/>
              </a:spcBef>
              <a:buSzPct val="100000"/>
              <a:buChar char="•"/>
            </a:pPr>
            <a:r>
              <a:rPr lang="en-US" sz="1152" dirty="0">
                <a:solidFill>
                  <a:srgbClr val="FFFFFF"/>
                </a:solidFill>
                <a:latin typeface="Noto Sans" pitchFamily="34" charset="0"/>
                <a:ea typeface="Noto Sans" pitchFamily="34" charset="-122"/>
                <a:cs typeface="Noto Sans" pitchFamily="34" charset="-120"/>
              </a:rPr>
              <a:t>Phân phối tìm kiếm trên 20 máy chủ trung gian</a:t>
            </a:r>
            <a:endParaRPr lang="en-US" sz="1440" dirty="0"/>
          </a:p>
          <a:p>
            <a:pPr marL="182880" indent="-182880">
              <a:lnSpc>
                <a:spcPct val="100000"/>
              </a:lnSpc>
              <a:spcBef>
                <a:spcPts val="10"/>
              </a:spcBef>
              <a:buSzPct val="100000"/>
              <a:buChar char="•"/>
            </a:pPr>
            <a:r>
              <a:rPr lang="en-US" sz="1152" dirty="0">
                <a:solidFill>
                  <a:srgbClr val="FFFFFF"/>
                </a:solidFill>
                <a:latin typeface="Noto Sans" pitchFamily="34" charset="0"/>
                <a:ea typeface="Noto Sans" pitchFamily="34" charset="-122"/>
                <a:cs typeface="Noto Sans" pitchFamily="34" charset="-120"/>
              </a:rPr>
              <a:t>Thời gian tìm kiếm: ~1 giây/query</a:t>
            </a:r>
            <a:r>
              <a:rPr lang="en-US" sz="1008" dirty="0">
                <a:solidFill>
                  <a:srgbClr val="FFFFFF"/>
                </a:solidFill>
                <a:latin typeface="Noto Sans" pitchFamily="34" charset="0"/>
                <a:ea typeface="Noto Sans" pitchFamily="34" charset="-122"/>
                <a:cs typeface="Noto Sans" pitchFamily="34" charset="-120"/>
              </a:rPr>
              <a:t> </a:t>
            </a:r>
            <a:endParaRPr lang="en-US" sz="1440" dirty="0"/>
          </a:p>
        </p:txBody>
      </p:sp>
      <p:sp>
        <p:nvSpPr>
          <p:cNvPr id="15" name="Text 10"/>
          <p:cNvSpPr/>
          <p:nvPr/>
        </p:nvSpPr>
        <p:spPr>
          <a:xfrm>
            <a:off x="396558" y="3004859"/>
            <a:ext cx="3737868" cy="460087"/>
          </a:xfrm>
          <a:prstGeom prst="rect">
            <a:avLst/>
          </a:prstGeom>
          <a:noFill/>
          <a:ln/>
        </p:spPr>
        <p:txBody>
          <a:bodyPr wrap="square" lIns="95250" tIns="95250" rIns="95250" bIns="95250" rtlCol="0" anchor="ctr"/>
          <a:lstStyle/>
          <a:p>
            <a:pPr marL="0" indent="0" algn="r">
              <a:lnSpc>
                <a:spcPct val="100000"/>
              </a:lnSpc>
              <a:spcBef>
                <a:spcPts val="375"/>
              </a:spcBef>
              <a:buNone/>
            </a:pPr>
            <a:r>
              <a:rPr lang="en-US" sz="1728" b="1" dirty="0">
                <a:solidFill>
                  <a:srgbClr val="FFC12A"/>
                </a:solidFill>
                <a:latin typeface="Noto Sans" pitchFamily="34" charset="0"/>
                <a:ea typeface="Noto Sans" pitchFamily="34" charset="-122"/>
                <a:cs typeface="Noto Sans" pitchFamily="34" charset="-120"/>
              </a:rPr>
              <a:t>Hiệu năng</a:t>
            </a:r>
            <a:endParaRPr lang="en-US" sz="144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96558" y="328468"/>
            <a:ext cx="8396337" cy="594360"/>
          </a:xfrm>
          <a:prstGeom prst="rect">
            <a:avLst/>
          </a:prstGeom>
          <a:noFill/>
          <a:ln/>
        </p:spPr>
        <p:txBody>
          <a:bodyPr wrap="square" lIns="95250" tIns="95250" rIns="95250" bIns="95250" rtlCol="0" anchor="t">
            <a:spAutoFit/>
          </a:bodyPr>
          <a:lstStyle/>
          <a:p>
            <a:pPr marL="0" indent="0">
              <a:lnSpc>
                <a:spcPct val="112500"/>
              </a:lnSpc>
              <a:spcBef>
                <a:spcPts val="375"/>
              </a:spcBef>
              <a:buNone/>
            </a:pPr>
            <a:r>
              <a:rPr lang="en-US" sz="2160" b="1" dirty="0">
                <a:solidFill>
                  <a:srgbClr val="193AB9"/>
                </a:solidFill>
                <a:latin typeface="Noto Sans" pitchFamily="34" charset="0"/>
                <a:ea typeface="Noto Sans" pitchFamily="34" charset="-122"/>
                <a:cs typeface="Noto Sans" pitchFamily="34" charset="-120"/>
              </a:rPr>
              <a:t>7.2. Truy xuất văn bản</a:t>
            </a:r>
            <a:endParaRPr lang="en-US" sz="1440" dirty="0"/>
          </a:p>
        </p:txBody>
      </p:sp>
      <p:sp>
        <p:nvSpPr>
          <p:cNvPr id="3" name="Shape 1"/>
          <p:cNvSpPr/>
          <p:nvPr/>
        </p:nvSpPr>
        <p:spPr>
          <a:xfrm>
            <a:off x="969294" y="1053316"/>
            <a:ext cx="3535716" cy="3301782"/>
          </a:xfrm>
          <a:custGeom>
            <a:avLst/>
            <a:gdLst/>
            <a:ahLst/>
            <a:cxnLst/>
            <a:rect l="l" t="t" r="r" b="b"/>
            <a:pathLst>
              <a:path w="3535716" h="3301782">
                <a:moveTo>
                  <a:pt x="328378" y="0"/>
                </a:moveTo>
                <a:moveTo>
                  <a:pt x="328378" y="0"/>
                </a:moveTo>
                <a:lnTo>
                  <a:pt x="3207338" y="0"/>
                </a:lnTo>
                <a:quadBezTo>
                  <a:pt x="3535716" y="0"/>
                  <a:pt x="3535716" y="412723"/>
                </a:quadBezTo>
                <a:lnTo>
                  <a:pt x="3535716" y="2889059"/>
                </a:lnTo>
                <a:quadBezTo>
                  <a:pt x="3535716" y="3301782"/>
                  <a:pt x="3207338" y="3301782"/>
                </a:quadBezTo>
                <a:lnTo>
                  <a:pt x="328378" y="3301782"/>
                </a:lnTo>
                <a:quadBezTo>
                  <a:pt x="0" y="3301782"/>
                  <a:pt x="0" y="2889059"/>
                </a:quadBezTo>
                <a:lnTo>
                  <a:pt x="0" y="412723"/>
                </a:lnTo>
                <a:quadBezTo>
                  <a:pt x="0" y="0"/>
                  <a:pt x="328378" y="0"/>
                </a:quadBezTo>
                <a:close/>
              </a:path>
            </a:pathLst>
          </a:custGeom>
          <a:solidFill>
            <a:srgbClr val="2B76FD">
              <a:alpha val="0"/>
            </a:srgbClr>
          </a:solidFill>
          <a:ln w="19050">
            <a:solidFill>
              <a:srgbClr val="2B76FD"/>
            </a:solidFill>
            <a:prstDash val="solid"/>
          </a:ln>
        </p:spPr>
        <p:txBody>
          <a:bodyPr/>
          <a:lstStyle/>
          <a:p>
            <a:endParaRPr lang="en-US"/>
          </a:p>
        </p:txBody>
      </p:sp>
      <p:sp>
        <p:nvSpPr>
          <p:cNvPr id="4" name="Shape 2"/>
          <p:cNvSpPr/>
          <p:nvPr/>
        </p:nvSpPr>
        <p:spPr>
          <a:xfrm>
            <a:off x="436897" y="3884168"/>
            <a:ext cx="2744447" cy="241698"/>
          </a:xfrm>
          <a:custGeom>
            <a:avLst/>
            <a:gdLst/>
            <a:ahLst/>
            <a:cxnLst/>
            <a:rect l="l" t="t" r="r" b="b"/>
            <a:pathLst>
              <a:path w="2744447" h="241698">
                <a:moveTo>
                  <a:pt x="0" y="0"/>
                </a:moveTo>
                <a:moveTo>
                  <a:pt x="0" y="0"/>
                </a:moveTo>
                <a:lnTo>
                  <a:pt x="2744447" y="0"/>
                </a:lnTo>
                <a:lnTo>
                  <a:pt x="2744447" y="241698"/>
                </a:lnTo>
                <a:lnTo>
                  <a:pt x="0" y="241698"/>
                </a:lnTo>
                <a:close/>
              </a:path>
            </a:pathLst>
          </a:custGeom>
          <a:solidFill>
            <a:srgbClr val="2B76FD"/>
          </a:solidFill>
          <a:ln/>
        </p:spPr>
        <p:txBody>
          <a:bodyPr/>
          <a:lstStyle/>
          <a:p>
            <a:endParaRPr lang="en-US"/>
          </a:p>
        </p:txBody>
      </p:sp>
      <p:sp>
        <p:nvSpPr>
          <p:cNvPr id="5" name="Shape 3"/>
          <p:cNvSpPr/>
          <p:nvPr/>
        </p:nvSpPr>
        <p:spPr>
          <a:xfrm>
            <a:off x="4779772" y="1053316"/>
            <a:ext cx="3535716" cy="3301782"/>
          </a:xfrm>
          <a:custGeom>
            <a:avLst/>
            <a:gdLst/>
            <a:ahLst/>
            <a:cxnLst/>
            <a:rect l="l" t="t" r="r" b="b"/>
            <a:pathLst>
              <a:path w="3535716" h="3301782">
                <a:moveTo>
                  <a:pt x="328378" y="0"/>
                </a:moveTo>
                <a:moveTo>
                  <a:pt x="328378" y="0"/>
                </a:moveTo>
                <a:lnTo>
                  <a:pt x="3207338" y="0"/>
                </a:lnTo>
                <a:quadBezTo>
                  <a:pt x="3535716" y="0"/>
                  <a:pt x="3535716" y="412723"/>
                </a:quadBezTo>
                <a:lnTo>
                  <a:pt x="3535716" y="2889059"/>
                </a:lnTo>
                <a:quadBezTo>
                  <a:pt x="3535716" y="3301782"/>
                  <a:pt x="3207338" y="3301782"/>
                </a:quadBezTo>
                <a:lnTo>
                  <a:pt x="328378" y="3301782"/>
                </a:lnTo>
                <a:quadBezTo>
                  <a:pt x="0" y="3301782"/>
                  <a:pt x="0" y="2889059"/>
                </a:quadBezTo>
                <a:lnTo>
                  <a:pt x="0" y="412723"/>
                </a:lnTo>
                <a:quadBezTo>
                  <a:pt x="0" y="0"/>
                  <a:pt x="328378" y="0"/>
                </a:quadBezTo>
                <a:close/>
              </a:path>
            </a:pathLst>
          </a:custGeom>
          <a:solidFill>
            <a:srgbClr val="2B76FD">
              <a:alpha val="0"/>
            </a:srgbClr>
          </a:solidFill>
          <a:ln w="19050">
            <a:solidFill>
              <a:srgbClr val="379EFC"/>
            </a:solidFill>
            <a:prstDash val="solid"/>
          </a:ln>
        </p:spPr>
        <p:txBody>
          <a:bodyPr/>
          <a:lstStyle/>
          <a:p>
            <a:endParaRPr lang="en-US"/>
          </a:p>
        </p:txBody>
      </p:sp>
      <p:sp>
        <p:nvSpPr>
          <p:cNvPr id="6" name="Shape 4"/>
          <p:cNvSpPr/>
          <p:nvPr/>
        </p:nvSpPr>
        <p:spPr>
          <a:xfrm>
            <a:off x="5962655" y="3884168"/>
            <a:ext cx="2744447" cy="241698"/>
          </a:xfrm>
          <a:custGeom>
            <a:avLst/>
            <a:gdLst/>
            <a:ahLst/>
            <a:cxnLst/>
            <a:rect l="l" t="t" r="r" b="b"/>
            <a:pathLst>
              <a:path w="2744447" h="241698">
                <a:moveTo>
                  <a:pt x="0" y="0"/>
                </a:moveTo>
                <a:moveTo>
                  <a:pt x="0" y="0"/>
                </a:moveTo>
                <a:lnTo>
                  <a:pt x="2744447" y="0"/>
                </a:lnTo>
                <a:lnTo>
                  <a:pt x="2744447" y="241698"/>
                </a:lnTo>
                <a:lnTo>
                  <a:pt x="0" y="241698"/>
                </a:lnTo>
                <a:close/>
              </a:path>
            </a:pathLst>
          </a:custGeom>
          <a:solidFill>
            <a:srgbClr val="379EFC"/>
          </a:solidFill>
          <a:ln/>
        </p:spPr>
        <p:txBody>
          <a:bodyPr/>
          <a:lstStyle/>
          <a:p>
            <a:endParaRPr lang="en-US"/>
          </a:p>
        </p:txBody>
      </p:sp>
      <p:sp>
        <p:nvSpPr>
          <p:cNvPr id="7" name="Text 5"/>
          <p:cNvSpPr/>
          <p:nvPr/>
        </p:nvSpPr>
        <p:spPr>
          <a:xfrm>
            <a:off x="1069878" y="1308624"/>
            <a:ext cx="3379781" cy="667512"/>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en-US" sz="1584" b="1" dirty="0">
                <a:solidFill>
                  <a:srgbClr val="2B76FD"/>
                </a:solidFill>
                <a:latin typeface="Noto Sans" pitchFamily="34" charset="0"/>
                <a:ea typeface="Noto Sans" pitchFamily="34" charset="-122"/>
                <a:cs typeface="Noto Sans" pitchFamily="34" charset="-120"/>
              </a:rPr>
              <a:t>Ứng dụng ANNS cho truy xuất thông tin</a:t>
            </a:r>
            <a:endParaRPr lang="en-US" sz="1440" dirty="0"/>
          </a:p>
        </p:txBody>
      </p:sp>
      <p:sp>
        <p:nvSpPr>
          <p:cNvPr id="8" name="Text 6"/>
          <p:cNvSpPr/>
          <p:nvPr/>
        </p:nvSpPr>
        <p:spPr>
          <a:xfrm>
            <a:off x="1047261" y="1985280"/>
            <a:ext cx="3379781" cy="1636776"/>
          </a:xfrm>
          <a:prstGeom prst="rect">
            <a:avLst/>
          </a:prstGeom>
          <a:noFill/>
          <a:ln/>
        </p:spPr>
        <p:txBody>
          <a:bodyPr wrap="square" lIns="95250" tIns="95250" rIns="95250" bIns="95250" rtlCol="0" anchor="t">
            <a:spAutoFit/>
          </a:bodyPr>
          <a:lstStyle/>
          <a:p>
            <a:pPr marL="228600" indent="-228600">
              <a:lnSpc>
                <a:spcPct val="100000"/>
              </a:lnSpc>
              <a:spcBef>
                <a:spcPts val="10"/>
              </a:spcBef>
              <a:buSzPct val="100000"/>
              <a:buChar char="•"/>
            </a:pPr>
            <a:r>
              <a:rPr lang="en-US" sz="1440" dirty="0">
                <a:solidFill>
                  <a:srgbClr val="00070F"/>
                </a:solidFill>
                <a:latin typeface="Noto Sans" pitchFamily="34" charset="0"/>
                <a:ea typeface="Noto Sans" pitchFamily="34" charset="-122"/>
                <a:cs typeface="Noto Sans" pitchFamily="34" charset="-120"/>
              </a:rPr>
              <a:t>Kiểm tra sự thật (Fact checking)</a:t>
            </a:r>
            <a:endParaRPr lang="en-US" sz="1440" dirty="0"/>
          </a:p>
          <a:p>
            <a:pPr marL="228600" indent="-228600">
              <a:lnSpc>
                <a:spcPct val="100000"/>
              </a:lnSpc>
              <a:spcBef>
                <a:spcPts val="10"/>
              </a:spcBef>
              <a:buSzPct val="100000"/>
              <a:buChar char="•"/>
            </a:pPr>
            <a:r>
              <a:rPr lang="en-US" sz="1440" dirty="0">
                <a:solidFill>
                  <a:srgbClr val="00070F"/>
                </a:solidFill>
                <a:latin typeface="Noto Sans" pitchFamily="34" charset="0"/>
                <a:ea typeface="Noto Sans" pitchFamily="34" charset="-122"/>
                <a:cs typeface="Noto Sans" pitchFamily="34" charset="-120"/>
              </a:rPr>
              <a:t>Liên kết thực thể (Entity linking)</a:t>
            </a:r>
            <a:endParaRPr lang="en-US" sz="1440" dirty="0"/>
          </a:p>
          <a:p>
            <a:pPr marL="228600" indent="-228600">
              <a:lnSpc>
                <a:spcPct val="100000"/>
              </a:lnSpc>
              <a:spcBef>
                <a:spcPts val="10"/>
              </a:spcBef>
              <a:buSzPct val="100000"/>
              <a:buChar char="•"/>
            </a:pPr>
            <a:r>
              <a:rPr lang="en-US" sz="1440" dirty="0">
                <a:solidFill>
                  <a:srgbClr val="00070F"/>
                </a:solidFill>
                <a:latin typeface="Noto Sans" pitchFamily="34" charset="0"/>
                <a:ea typeface="Noto Sans" pitchFamily="34" charset="-122"/>
                <a:cs typeface="Noto Sans" pitchFamily="34" charset="-120"/>
              </a:rPr>
              <a:t>Điền thông tin vào chỗ trống (Slot filling)</a:t>
            </a:r>
            <a:endParaRPr lang="en-US" sz="1440" dirty="0"/>
          </a:p>
          <a:p>
            <a:pPr marL="228600" indent="-228600">
              <a:lnSpc>
                <a:spcPct val="100000"/>
              </a:lnSpc>
              <a:spcBef>
                <a:spcPts val="10"/>
              </a:spcBef>
              <a:buSzPct val="100000"/>
              <a:buChar char="•"/>
            </a:pPr>
            <a:r>
              <a:rPr lang="en-US" sz="1440" dirty="0">
                <a:solidFill>
                  <a:srgbClr val="00070F"/>
                </a:solidFill>
                <a:latin typeface="Noto Sans" pitchFamily="34" charset="0"/>
                <a:ea typeface="Noto Sans" pitchFamily="34" charset="-122"/>
                <a:cs typeface="Noto Sans" pitchFamily="34" charset="-120"/>
              </a:rPr>
              <a:t>Hỏi đáp miền mở (Open-domain question answering)</a:t>
            </a:r>
            <a:endParaRPr lang="en-US" sz="1440" dirty="0"/>
          </a:p>
        </p:txBody>
      </p:sp>
      <p:sp>
        <p:nvSpPr>
          <p:cNvPr id="9" name="Text 7"/>
          <p:cNvSpPr/>
          <p:nvPr/>
        </p:nvSpPr>
        <p:spPr>
          <a:xfrm>
            <a:off x="5042642" y="1272048"/>
            <a:ext cx="3272847" cy="758952"/>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en-US" sz="1728" b="1" dirty="0">
                <a:solidFill>
                  <a:srgbClr val="2B76FD"/>
                </a:solidFill>
                <a:latin typeface="Noto Sans" pitchFamily="34" charset="0"/>
                <a:ea typeface="Noto Sans" pitchFamily="34" charset="-122"/>
                <a:cs typeface="Noto Sans" pitchFamily="34" charset="-120"/>
              </a:rPr>
              <a:t>Tích hợp với mô hình</a:t>
            </a:r>
            <a:endParaRPr lang="en-US" sz="1440" dirty="0"/>
          </a:p>
          <a:p>
            <a:pPr marL="0" indent="0">
              <a:lnSpc>
                <a:spcPct val="100000"/>
              </a:lnSpc>
              <a:spcBef>
                <a:spcPts val="375"/>
              </a:spcBef>
              <a:buNone/>
            </a:pPr>
            <a:r>
              <a:rPr lang="en-US" sz="1728" b="1" dirty="0">
                <a:solidFill>
                  <a:srgbClr val="2B76FD"/>
                </a:solidFill>
                <a:latin typeface="Noto Sans" pitchFamily="34" charset="0"/>
                <a:ea typeface="Noto Sans" pitchFamily="34" charset="-122"/>
                <a:cs typeface="Noto Sans" pitchFamily="34" charset="-120"/>
              </a:rPr>
              <a:t>ngôn ngữ</a:t>
            </a:r>
            <a:endParaRPr lang="en-US" sz="1440" dirty="0"/>
          </a:p>
        </p:txBody>
      </p:sp>
      <p:sp>
        <p:nvSpPr>
          <p:cNvPr id="10" name="Text 8"/>
          <p:cNvSpPr/>
          <p:nvPr/>
        </p:nvSpPr>
        <p:spPr>
          <a:xfrm>
            <a:off x="4982046" y="2041267"/>
            <a:ext cx="3333442" cy="1325880"/>
          </a:xfrm>
          <a:prstGeom prst="rect">
            <a:avLst/>
          </a:prstGeom>
          <a:noFill/>
          <a:ln/>
        </p:spPr>
        <p:txBody>
          <a:bodyPr wrap="square" lIns="95250" tIns="95250" rIns="95250" bIns="95250" rtlCol="0" anchor="t">
            <a:spAutoFit/>
          </a:bodyPr>
          <a:lstStyle/>
          <a:p>
            <a:pPr marL="228600" indent="-228600">
              <a:lnSpc>
                <a:spcPct val="100000"/>
              </a:lnSpc>
              <a:spcBef>
                <a:spcPts val="10"/>
              </a:spcBef>
              <a:buSzPct val="100000"/>
              <a:buChar char="•"/>
            </a:pPr>
            <a:r>
              <a:rPr lang="en-US" sz="1440" dirty="0">
                <a:solidFill>
                  <a:srgbClr val="00070F"/>
                </a:solidFill>
                <a:latin typeface="Noto Sans" pitchFamily="34" charset="0"/>
                <a:ea typeface="Noto Sans" pitchFamily="34" charset="-122"/>
                <a:cs typeface="Noto Sans" pitchFamily="34" charset="-120"/>
              </a:rPr>
              <a:t>Cải thiện độ chính xác (accuracy)</a:t>
            </a:r>
            <a:endParaRPr lang="en-US" sz="1440" dirty="0"/>
          </a:p>
          <a:p>
            <a:pPr marL="228600" indent="-228600">
              <a:lnSpc>
                <a:spcPct val="100000"/>
              </a:lnSpc>
              <a:spcBef>
                <a:spcPts val="10"/>
              </a:spcBef>
              <a:buSzPct val="100000"/>
              <a:buChar char="•"/>
            </a:pPr>
            <a:r>
              <a:rPr lang="en-US" sz="1440" dirty="0">
                <a:solidFill>
                  <a:srgbClr val="00070F"/>
                </a:solidFill>
                <a:latin typeface="Noto Sans" pitchFamily="34" charset="0"/>
                <a:ea typeface="Noto Sans" pitchFamily="34" charset="-122"/>
                <a:cs typeface="Noto Sans" pitchFamily="34" charset="-120"/>
              </a:rPr>
              <a:t>Tăng tính thực tế của thông tin (factuality)</a:t>
            </a:r>
            <a:endParaRPr lang="en-US" sz="1440" dirty="0"/>
          </a:p>
          <a:p>
            <a:pPr marL="228600" indent="-228600">
              <a:lnSpc>
                <a:spcPct val="100000"/>
              </a:lnSpc>
              <a:spcBef>
                <a:spcPts val="10"/>
              </a:spcBef>
              <a:buSzPct val="100000"/>
              <a:buChar char="•"/>
            </a:pPr>
            <a:r>
              <a:rPr lang="en-US" sz="1440" dirty="0">
                <a:solidFill>
                  <a:srgbClr val="00070F"/>
                </a:solidFill>
                <a:latin typeface="Noto Sans" pitchFamily="34" charset="0"/>
                <a:ea typeface="Noto Sans" pitchFamily="34" charset="-122"/>
                <a:cs typeface="Noto Sans" pitchFamily="34" charset="-120"/>
              </a:rPr>
              <a:t>Ví dụ: RAG (Retrieval-Augmented Generation)</a:t>
            </a:r>
            <a:endParaRPr lang="en-US" sz="144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96558" y="328468"/>
            <a:ext cx="8396337" cy="594360"/>
          </a:xfrm>
          <a:prstGeom prst="rect">
            <a:avLst/>
          </a:prstGeom>
          <a:noFill/>
          <a:ln/>
        </p:spPr>
        <p:txBody>
          <a:bodyPr wrap="square" lIns="95250" tIns="95250" rIns="95250" bIns="95250" rtlCol="0" anchor="t">
            <a:spAutoFit/>
          </a:bodyPr>
          <a:lstStyle/>
          <a:p>
            <a:pPr marL="0" indent="0">
              <a:lnSpc>
                <a:spcPct val="112500"/>
              </a:lnSpc>
              <a:spcBef>
                <a:spcPts val="375"/>
              </a:spcBef>
              <a:buNone/>
            </a:pPr>
            <a:r>
              <a:rPr lang="en-US" sz="2160" b="1" dirty="0">
                <a:solidFill>
                  <a:srgbClr val="193AB9"/>
                </a:solidFill>
                <a:latin typeface="Noto Sans" pitchFamily="34" charset="0"/>
                <a:ea typeface="Noto Sans" pitchFamily="34" charset="-122"/>
                <a:cs typeface="Noto Sans" pitchFamily="34" charset="-120"/>
              </a:rPr>
              <a:t>7.3. Khai thác dữ liệu</a:t>
            </a:r>
            <a:endParaRPr lang="en-US" sz="1440" dirty="0"/>
          </a:p>
        </p:txBody>
      </p:sp>
      <p:pic>
        <p:nvPicPr>
          <p:cNvPr id="3" name="Image 0" descr="preencoded.png"/>
          <p:cNvPicPr>
            <a:picLocks noChangeAspect="1"/>
          </p:cNvPicPr>
          <p:nvPr/>
        </p:nvPicPr>
        <p:blipFill>
          <a:blip r:embed="rId4"/>
          <a:stretch>
            <a:fillRect/>
          </a:stretch>
        </p:blipFill>
        <p:spPr>
          <a:xfrm>
            <a:off x="268706" y="979050"/>
            <a:ext cx="8606588" cy="1715737"/>
          </a:xfrm>
          <a:prstGeom prst="rect">
            <a:avLst/>
          </a:prstGeom>
        </p:spPr>
      </p:pic>
      <p:sp>
        <p:nvSpPr>
          <p:cNvPr id="4" name="Text 1"/>
          <p:cNvSpPr/>
          <p:nvPr/>
        </p:nvSpPr>
        <p:spPr>
          <a:xfrm>
            <a:off x="7851223" y="1146369"/>
            <a:ext cx="709231" cy="1280160"/>
          </a:xfrm>
          <a:prstGeom prst="rect">
            <a:avLst/>
          </a:prstGeom>
          <a:noFill/>
          <a:ln/>
        </p:spPr>
        <p:txBody>
          <a:bodyPr wrap="square" lIns="95250" tIns="95250" rIns="95250" bIns="95250" rtlCol="0" anchor="t">
            <a:spAutoFit/>
          </a:bodyPr>
          <a:lstStyle/>
          <a:p>
            <a:pPr marL="0" indent="0" algn="ctr">
              <a:lnSpc>
                <a:spcPct val="112500"/>
              </a:lnSpc>
              <a:spcBef>
                <a:spcPts val="375"/>
              </a:spcBef>
              <a:buNone/>
            </a:pPr>
            <a:r>
              <a:rPr lang="en-US" sz="5760" b="1" i="1" dirty="0">
                <a:solidFill>
                  <a:srgbClr val="2B76FD"/>
                </a:solidFill>
                <a:latin typeface="Noto Sans" pitchFamily="34" charset="0"/>
                <a:ea typeface="Noto Sans" pitchFamily="34" charset="-122"/>
                <a:cs typeface="Noto Sans" pitchFamily="34" charset="-120"/>
              </a:rPr>
              <a:t>1</a:t>
            </a:r>
            <a:endParaRPr lang="en-US" sz="1440" dirty="0"/>
          </a:p>
        </p:txBody>
      </p:sp>
      <p:sp>
        <p:nvSpPr>
          <p:cNvPr id="5" name="Shape 2"/>
          <p:cNvSpPr/>
          <p:nvPr/>
        </p:nvSpPr>
        <p:spPr>
          <a:xfrm>
            <a:off x="8875294" y="1443749"/>
            <a:ext cx="0" cy="728870"/>
          </a:xfrm>
          <a:custGeom>
            <a:avLst/>
            <a:gdLst/>
            <a:ahLst/>
            <a:cxnLst/>
            <a:rect l="l" t="t" r="r" b="b"/>
            <a:pathLst>
              <a:path h="728870">
                <a:moveTo>
                  <a:pt x="0" y="0"/>
                </a:moveTo>
                <a:moveTo>
                  <a:pt x="0" y="0"/>
                </a:moveTo>
                <a:lnTo>
                  <a:pt x="0" y="728870"/>
                </a:lnTo>
              </a:path>
            </a:pathLst>
          </a:custGeom>
          <a:noFill/>
          <a:ln w="61656">
            <a:solidFill>
              <a:srgbClr val="2B76FD"/>
            </a:solidFill>
            <a:prstDash val="solid"/>
            <a:headEnd type="none"/>
            <a:tailEnd type="none"/>
          </a:ln>
        </p:spPr>
        <p:txBody>
          <a:bodyPr/>
          <a:lstStyle/>
          <a:p>
            <a:endParaRPr lang="en-US"/>
          </a:p>
        </p:txBody>
      </p:sp>
      <p:sp>
        <p:nvSpPr>
          <p:cNvPr id="6" name="Shape 3"/>
          <p:cNvSpPr/>
          <p:nvPr/>
        </p:nvSpPr>
        <p:spPr>
          <a:xfrm>
            <a:off x="465286" y="1089419"/>
            <a:ext cx="6840043" cy="554726"/>
          </a:xfrm>
          <a:custGeom>
            <a:avLst/>
            <a:gdLst/>
            <a:ahLst/>
            <a:cxnLst/>
            <a:rect l="l" t="t" r="r" b="b"/>
            <a:pathLst>
              <a:path w="6840043" h="554726">
                <a:moveTo>
                  <a:pt x="170135" y="0"/>
                </a:moveTo>
                <a:moveTo>
                  <a:pt x="170135" y="0"/>
                </a:moveTo>
                <a:lnTo>
                  <a:pt x="6669908" y="0"/>
                </a:lnTo>
                <a:quadBezTo>
                  <a:pt x="6840043" y="0"/>
                  <a:pt x="6840043" y="170135"/>
                </a:quadBezTo>
                <a:lnTo>
                  <a:pt x="6840043" y="384591"/>
                </a:lnTo>
                <a:quadBezTo>
                  <a:pt x="6840043" y="554726"/>
                  <a:pt x="6669908" y="554726"/>
                </a:quadBezTo>
                <a:lnTo>
                  <a:pt x="170135" y="554726"/>
                </a:lnTo>
                <a:quadBezTo>
                  <a:pt x="0" y="554726"/>
                  <a:pt x="0" y="384591"/>
                </a:quadBezTo>
                <a:lnTo>
                  <a:pt x="0" y="170135"/>
                </a:lnTo>
                <a:quadBezTo>
                  <a:pt x="0" y="0"/>
                  <a:pt x="170135" y="0"/>
                </a:quadBezTo>
                <a:close/>
              </a:path>
            </a:pathLst>
          </a:custGeom>
          <a:solidFill>
            <a:srgbClr val="2B76FD"/>
          </a:solidFill>
          <a:ln/>
        </p:spPr>
        <p:txBody>
          <a:bodyPr/>
          <a:lstStyle/>
          <a:p>
            <a:endParaRPr lang="en-US"/>
          </a:p>
        </p:txBody>
      </p:sp>
      <p:sp>
        <p:nvSpPr>
          <p:cNvPr id="7" name="Shape 4"/>
          <p:cNvSpPr/>
          <p:nvPr/>
        </p:nvSpPr>
        <p:spPr>
          <a:xfrm>
            <a:off x="465286" y="1723752"/>
            <a:ext cx="6793875" cy="0"/>
          </a:xfrm>
          <a:custGeom>
            <a:avLst/>
            <a:gdLst/>
            <a:ahLst/>
            <a:cxnLst/>
            <a:rect l="l" t="t" r="r" b="b"/>
            <a:pathLst>
              <a:path w="6793875">
                <a:moveTo>
                  <a:pt x="0" y="0"/>
                </a:moveTo>
                <a:moveTo>
                  <a:pt x="0" y="0"/>
                </a:moveTo>
                <a:lnTo>
                  <a:pt x="6793875" y="0"/>
                </a:lnTo>
              </a:path>
            </a:pathLst>
          </a:custGeom>
          <a:noFill/>
          <a:ln w="20552">
            <a:solidFill>
              <a:srgbClr val="2B76FD">
                <a:alpha val="10196"/>
              </a:srgbClr>
            </a:solidFill>
            <a:prstDash val="solid"/>
            <a:headEnd type="none"/>
            <a:tailEnd type="none"/>
          </a:ln>
        </p:spPr>
        <p:txBody>
          <a:bodyPr/>
          <a:lstStyle/>
          <a:p>
            <a:endParaRPr lang="en-US"/>
          </a:p>
        </p:txBody>
      </p:sp>
      <p:pic>
        <p:nvPicPr>
          <p:cNvPr id="8" name="Image 1" descr="preencoded.png"/>
          <p:cNvPicPr>
            <a:picLocks noChangeAspect="1"/>
          </p:cNvPicPr>
          <p:nvPr/>
        </p:nvPicPr>
        <p:blipFill>
          <a:blip r:embed="rId5"/>
          <a:stretch>
            <a:fillRect/>
          </a:stretch>
        </p:blipFill>
        <p:spPr>
          <a:xfrm>
            <a:off x="268706" y="2852919"/>
            <a:ext cx="8606588" cy="1715737"/>
          </a:xfrm>
          <a:prstGeom prst="rect">
            <a:avLst/>
          </a:prstGeom>
        </p:spPr>
      </p:pic>
      <p:sp>
        <p:nvSpPr>
          <p:cNvPr id="9" name="Text 5"/>
          <p:cNvSpPr/>
          <p:nvPr/>
        </p:nvSpPr>
        <p:spPr>
          <a:xfrm>
            <a:off x="465286" y="3020239"/>
            <a:ext cx="709231" cy="1280160"/>
          </a:xfrm>
          <a:prstGeom prst="rect">
            <a:avLst/>
          </a:prstGeom>
          <a:noFill/>
          <a:ln/>
        </p:spPr>
        <p:txBody>
          <a:bodyPr wrap="square" lIns="95250" tIns="95250" rIns="95250" bIns="95250" rtlCol="0" anchor="t">
            <a:spAutoFit/>
          </a:bodyPr>
          <a:lstStyle/>
          <a:p>
            <a:pPr marL="0" indent="0" algn="ctr">
              <a:lnSpc>
                <a:spcPct val="112500"/>
              </a:lnSpc>
              <a:spcBef>
                <a:spcPts val="375"/>
              </a:spcBef>
              <a:buNone/>
            </a:pPr>
            <a:r>
              <a:rPr lang="en-US" sz="5760" b="1" i="1" dirty="0">
                <a:solidFill>
                  <a:srgbClr val="379EFC"/>
                </a:solidFill>
                <a:latin typeface="Noto Sans" pitchFamily="34" charset="0"/>
                <a:ea typeface="Noto Sans" pitchFamily="34" charset="-122"/>
                <a:cs typeface="Noto Sans" pitchFamily="34" charset="-120"/>
              </a:rPr>
              <a:t>2</a:t>
            </a:r>
            <a:endParaRPr lang="en-US" sz="1440" dirty="0"/>
          </a:p>
        </p:txBody>
      </p:sp>
      <p:sp>
        <p:nvSpPr>
          <p:cNvPr id="10" name="Shape 6"/>
          <p:cNvSpPr/>
          <p:nvPr/>
        </p:nvSpPr>
        <p:spPr>
          <a:xfrm>
            <a:off x="268706" y="3317618"/>
            <a:ext cx="0" cy="728870"/>
          </a:xfrm>
          <a:custGeom>
            <a:avLst/>
            <a:gdLst/>
            <a:ahLst/>
            <a:cxnLst/>
            <a:rect l="l" t="t" r="r" b="b"/>
            <a:pathLst>
              <a:path h="728870">
                <a:moveTo>
                  <a:pt x="0" y="0"/>
                </a:moveTo>
                <a:moveTo>
                  <a:pt x="0" y="0"/>
                </a:moveTo>
                <a:lnTo>
                  <a:pt x="0" y="728870"/>
                </a:lnTo>
              </a:path>
            </a:pathLst>
          </a:custGeom>
          <a:noFill/>
          <a:ln w="61656">
            <a:solidFill>
              <a:srgbClr val="379EFC"/>
            </a:solidFill>
            <a:prstDash val="solid"/>
            <a:headEnd type="none"/>
            <a:tailEnd type="none"/>
          </a:ln>
        </p:spPr>
        <p:txBody>
          <a:bodyPr/>
          <a:lstStyle/>
          <a:p>
            <a:endParaRPr lang="en-US"/>
          </a:p>
        </p:txBody>
      </p:sp>
      <p:sp>
        <p:nvSpPr>
          <p:cNvPr id="11" name="Shape 7"/>
          <p:cNvSpPr/>
          <p:nvPr/>
        </p:nvSpPr>
        <p:spPr>
          <a:xfrm>
            <a:off x="1880921" y="2943454"/>
            <a:ext cx="6839712" cy="555041"/>
          </a:xfrm>
          <a:custGeom>
            <a:avLst/>
            <a:gdLst/>
            <a:ahLst/>
            <a:cxnLst/>
            <a:rect l="l" t="t" r="r" b="b"/>
            <a:pathLst>
              <a:path w="6839712" h="555041">
                <a:moveTo>
                  <a:pt x="170232" y="0"/>
                </a:moveTo>
                <a:moveTo>
                  <a:pt x="170232" y="0"/>
                </a:moveTo>
                <a:lnTo>
                  <a:pt x="6669480" y="0"/>
                </a:lnTo>
                <a:quadBezTo>
                  <a:pt x="6839712" y="0"/>
                  <a:pt x="6839712" y="170232"/>
                </a:quadBezTo>
                <a:lnTo>
                  <a:pt x="6839712" y="384809"/>
                </a:lnTo>
                <a:quadBezTo>
                  <a:pt x="6839712" y="555041"/>
                  <a:pt x="6669480" y="555041"/>
                </a:quadBezTo>
                <a:lnTo>
                  <a:pt x="170232" y="555041"/>
                </a:lnTo>
                <a:quadBezTo>
                  <a:pt x="0" y="555041"/>
                  <a:pt x="0" y="384809"/>
                </a:quadBezTo>
                <a:lnTo>
                  <a:pt x="0" y="170232"/>
                </a:lnTo>
                <a:quadBezTo>
                  <a:pt x="0" y="0"/>
                  <a:pt x="170232" y="0"/>
                </a:quadBezTo>
                <a:close/>
              </a:path>
            </a:pathLst>
          </a:custGeom>
          <a:solidFill>
            <a:srgbClr val="379EFC"/>
          </a:solidFill>
          <a:ln/>
        </p:spPr>
        <p:txBody>
          <a:bodyPr/>
          <a:lstStyle/>
          <a:p>
            <a:endParaRPr lang="en-US"/>
          </a:p>
        </p:txBody>
      </p:sp>
      <p:sp>
        <p:nvSpPr>
          <p:cNvPr id="12" name="Shape 8"/>
          <p:cNvSpPr/>
          <p:nvPr/>
        </p:nvSpPr>
        <p:spPr>
          <a:xfrm>
            <a:off x="1890815" y="3594695"/>
            <a:ext cx="6829818" cy="0"/>
          </a:xfrm>
          <a:custGeom>
            <a:avLst/>
            <a:gdLst/>
            <a:ahLst/>
            <a:cxnLst/>
            <a:rect l="l" t="t" r="r" b="b"/>
            <a:pathLst>
              <a:path w="6829818">
                <a:moveTo>
                  <a:pt x="0" y="0"/>
                </a:moveTo>
                <a:moveTo>
                  <a:pt x="0" y="0"/>
                </a:moveTo>
                <a:lnTo>
                  <a:pt x="6829818" y="0"/>
                </a:lnTo>
              </a:path>
            </a:pathLst>
          </a:custGeom>
          <a:noFill/>
          <a:ln w="20552">
            <a:solidFill>
              <a:srgbClr val="2B76FD">
                <a:alpha val="10196"/>
              </a:srgbClr>
            </a:solidFill>
            <a:prstDash val="solid"/>
            <a:headEnd type="none"/>
            <a:tailEnd type="none"/>
          </a:ln>
        </p:spPr>
        <p:txBody>
          <a:bodyPr/>
          <a:lstStyle/>
          <a:p>
            <a:endParaRPr lang="en-US"/>
          </a:p>
        </p:txBody>
      </p:sp>
      <p:sp>
        <p:nvSpPr>
          <p:cNvPr id="13" name="Text 9"/>
          <p:cNvSpPr/>
          <p:nvPr/>
        </p:nvSpPr>
        <p:spPr>
          <a:xfrm>
            <a:off x="465286" y="1146369"/>
            <a:ext cx="6840043" cy="438912"/>
          </a:xfrm>
          <a:prstGeom prst="rect">
            <a:avLst/>
          </a:prstGeom>
          <a:noFill/>
          <a:ln/>
        </p:spPr>
        <p:txBody>
          <a:bodyPr wrap="square" lIns="95250" tIns="95250" rIns="95250" bIns="95250" rtlCol="0" anchor="t">
            <a:spAutoFit/>
          </a:bodyPr>
          <a:lstStyle/>
          <a:p>
            <a:pPr marL="0" indent="0" algn="ctr">
              <a:lnSpc>
                <a:spcPct val="100000"/>
              </a:lnSpc>
              <a:spcBef>
                <a:spcPts val="375"/>
              </a:spcBef>
              <a:buNone/>
            </a:pPr>
            <a:r>
              <a:rPr lang="en-US" sz="2016" b="1" dirty="0">
                <a:solidFill>
                  <a:srgbClr val="FFFFFF"/>
                </a:solidFill>
                <a:latin typeface="Noto Sans" pitchFamily="34" charset="0"/>
                <a:ea typeface="Noto Sans" pitchFamily="34" charset="-122"/>
                <a:cs typeface="Noto Sans" pitchFamily="34" charset="-120"/>
              </a:rPr>
              <a:t>Khai thác văn bản song ngữ</a:t>
            </a:r>
            <a:endParaRPr lang="en-US" sz="1440" dirty="0"/>
          </a:p>
        </p:txBody>
      </p:sp>
      <p:sp>
        <p:nvSpPr>
          <p:cNvPr id="14" name="Text 10"/>
          <p:cNvSpPr/>
          <p:nvPr/>
        </p:nvSpPr>
        <p:spPr>
          <a:xfrm>
            <a:off x="883393" y="1800454"/>
            <a:ext cx="6840043" cy="775469"/>
          </a:xfrm>
          <a:prstGeom prst="rect">
            <a:avLst/>
          </a:prstGeom>
          <a:noFill/>
          <a:ln/>
        </p:spPr>
        <p:txBody>
          <a:bodyPr wrap="square" lIns="95250" tIns="95250" rIns="95250" bIns="95250" rtlCol="0" anchor="t">
            <a:spAutoFit/>
          </a:bodyPr>
          <a:lstStyle/>
          <a:p>
            <a:pPr marL="285750" indent="-285750">
              <a:lnSpc>
                <a:spcPct val="100000"/>
              </a:lnSpc>
              <a:spcBef>
                <a:spcPts val="375"/>
              </a:spcBef>
              <a:buFont typeface="Arial" panose="020B0604020202020204" pitchFamily="34" charset="0"/>
              <a:buChar char="•"/>
            </a:pPr>
            <a:r>
              <a:rPr lang="en-US" sz="1728" dirty="0" err="1">
                <a:solidFill>
                  <a:srgbClr val="00070F"/>
                </a:solidFill>
                <a:latin typeface="Noto Sans" pitchFamily="34" charset="0"/>
                <a:ea typeface="Noto Sans" pitchFamily="34" charset="-122"/>
                <a:cs typeface="Noto Sans" pitchFamily="34" charset="-120"/>
              </a:rPr>
              <a:t>Tập</a:t>
            </a:r>
            <a:r>
              <a:rPr lang="en-US" sz="1728" dirty="0">
                <a:solidFill>
                  <a:srgbClr val="00070F"/>
                </a:solidFill>
                <a:latin typeface="Noto Sans" pitchFamily="34" charset="0"/>
                <a:ea typeface="Noto Sans" pitchFamily="34" charset="-122"/>
                <a:cs typeface="Noto Sans" pitchFamily="34" charset="-120"/>
              </a:rPr>
              <a:t> dữ liệu văn bản rất lớn được truy xuất </a:t>
            </a:r>
            <a:r>
              <a:rPr lang="en-US" sz="1728" dirty="0" err="1">
                <a:solidFill>
                  <a:srgbClr val="00070F"/>
                </a:solidFill>
                <a:latin typeface="Noto Sans" pitchFamily="34" charset="0"/>
                <a:ea typeface="Noto Sans" pitchFamily="34" charset="-122"/>
                <a:cs typeface="Noto Sans" pitchFamily="34" charset="-120"/>
              </a:rPr>
              <a:t>từ</a:t>
            </a:r>
            <a:r>
              <a:rPr lang="en-US" sz="1728" dirty="0">
                <a:solidFill>
                  <a:srgbClr val="00070F"/>
                </a:solidFill>
                <a:latin typeface="Noto Sans" pitchFamily="34" charset="0"/>
                <a:ea typeface="Noto Sans" pitchFamily="34" charset="-122"/>
                <a:cs typeface="Noto Sans" pitchFamily="34" charset="-120"/>
              </a:rPr>
              <a:t> web</a:t>
            </a:r>
            <a:endParaRPr lang="vi-VN" sz="1440" dirty="0"/>
          </a:p>
          <a:p>
            <a:pPr marL="285750" indent="-285750">
              <a:lnSpc>
                <a:spcPct val="100000"/>
              </a:lnSpc>
              <a:spcBef>
                <a:spcPts val="375"/>
              </a:spcBef>
              <a:buFont typeface="Arial" panose="020B0604020202020204" pitchFamily="34" charset="0"/>
              <a:buChar char="•"/>
            </a:pPr>
            <a:r>
              <a:rPr lang="en-US" sz="1728" dirty="0" err="1">
                <a:solidFill>
                  <a:srgbClr val="00070F"/>
                </a:solidFill>
                <a:latin typeface="Noto Sans" pitchFamily="34" charset="0"/>
                <a:ea typeface="Noto Sans" pitchFamily="34" charset="-122"/>
                <a:cs typeface="Noto Sans" pitchFamily="34" charset="-120"/>
              </a:rPr>
              <a:t>Xây</a:t>
            </a:r>
            <a:r>
              <a:rPr lang="en-US" sz="1728" dirty="0">
                <a:solidFill>
                  <a:srgbClr val="00070F"/>
                </a:solidFill>
                <a:latin typeface="Noto Sans" pitchFamily="34" charset="0"/>
                <a:ea typeface="Noto Sans" pitchFamily="34" charset="-122"/>
                <a:cs typeface="Noto Sans" pitchFamily="34" charset="-120"/>
              </a:rPr>
              <a:t> dựng kho dữ liệu cho máy dịch</a:t>
            </a:r>
            <a:endParaRPr lang="en-US" sz="1440" dirty="0"/>
          </a:p>
        </p:txBody>
      </p:sp>
      <p:sp>
        <p:nvSpPr>
          <p:cNvPr id="15" name="Text 11"/>
          <p:cNvSpPr/>
          <p:nvPr/>
        </p:nvSpPr>
        <p:spPr>
          <a:xfrm>
            <a:off x="1880921" y="2976023"/>
            <a:ext cx="6839712" cy="438912"/>
          </a:xfrm>
          <a:prstGeom prst="rect">
            <a:avLst/>
          </a:prstGeom>
          <a:noFill/>
          <a:ln/>
        </p:spPr>
        <p:txBody>
          <a:bodyPr wrap="square" lIns="95250" tIns="95250" rIns="95250" bIns="95250" rtlCol="0" anchor="t">
            <a:spAutoFit/>
          </a:bodyPr>
          <a:lstStyle/>
          <a:p>
            <a:pPr marL="0" indent="0" algn="ctr">
              <a:lnSpc>
                <a:spcPct val="100000"/>
              </a:lnSpc>
              <a:spcBef>
                <a:spcPts val="375"/>
              </a:spcBef>
              <a:buNone/>
            </a:pPr>
            <a:r>
              <a:rPr lang="en-US" sz="2016" b="1" dirty="0">
                <a:solidFill>
                  <a:srgbClr val="FFFFFF"/>
                </a:solidFill>
                <a:latin typeface="Noto Sans" pitchFamily="34" charset="0"/>
                <a:ea typeface="Noto Sans" pitchFamily="34" charset="-122"/>
                <a:cs typeface="Noto Sans" pitchFamily="34" charset="-120"/>
              </a:rPr>
              <a:t>Xử lý hình ảnh</a:t>
            </a:r>
            <a:endParaRPr lang="en-US" sz="1440" dirty="0"/>
          </a:p>
        </p:txBody>
      </p:sp>
      <p:sp>
        <p:nvSpPr>
          <p:cNvPr id="16" name="Text 12"/>
          <p:cNvSpPr/>
          <p:nvPr/>
        </p:nvSpPr>
        <p:spPr>
          <a:xfrm>
            <a:off x="1910047" y="3689255"/>
            <a:ext cx="7975665" cy="758952"/>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en-US" sz="1728" dirty="0">
                <a:solidFill>
                  <a:srgbClr val="00070F"/>
                </a:solidFill>
                <a:latin typeface="Noto Sans" pitchFamily="34" charset="0"/>
                <a:ea typeface="Noto Sans" pitchFamily="34" charset="-122"/>
                <a:cs typeface="Noto Sans" pitchFamily="34" charset="-120"/>
              </a:rPr>
              <a:t>• Loại bỏ trùng lặp: Tập dữ liệu chứa 1.3 tỷ hình ảnh</a:t>
            </a:r>
            <a:endParaRPr lang="en-US" sz="1440" dirty="0"/>
          </a:p>
          <a:p>
            <a:pPr marL="0" indent="0">
              <a:lnSpc>
                <a:spcPct val="100000"/>
              </a:lnSpc>
              <a:spcBef>
                <a:spcPts val="375"/>
              </a:spcBef>
              <a:buNone/>
            </a:pPr>
            <a:r>
              <a:rPr lang="en-US" sz="1728" dirty="0">
                <a:solidFill>
                  <a:srgbClr val="00070F"/>
                </a:solidFill>
                <a:latin typeface="Noto Sans" pitchFamily="34" charset="0"/>
                <a:ea typeface="Noto Sans" pitchFamily="34" charset="-122"/>
                <a:cs typeface="Noto Sans" pitchFamily="34" charset="-120"/>
              </a:rPr>
              <a:t>• Quản lý tập dữ liệu: Khai thác tập dữ liệu có phân phối phù hợp </a:t>
            </a:r>
            <a:endParaRPr lang="en-US" sz="144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96558" y="328468"/>
            <a:ext cx="8396337" cy="594360"/>
          </a:xfrm>
          <a:prstGeom prst="rect">
            <a:avLst/>
          </a:prstGeom>
          <a:noFill/>
          <a:ln/>
        </p:spPr>
        <p:txBody>
          <a:bodyPr wrap="square" lIns="95250" tIns="95250" rIns="95250" bIns="95250" rtlCol="0" anchor="t">
            <a:spAutoFit/>
          </a:bodyPr>
          <a:lstStyle/>
          <a:p>
            <a:pPr marL="0" indent="0">
              <a:lnSpc>
                <a:spcPct val="112500"/>
              </a:lnSpc>
              <a:spcBef>
                <a:spcPts val="375"/>
              </a:spcBef>
              <a:buNone/>
            </a:pPr>
            <a:r>
              <a:rPr lang="en-US" sz="2160" b="1" dirty="0">
                <a:solidFill>
                  <a:srgbClr val="193AB9"/>
                </a:solidFill>
                <a:latin typeface="Noto Sans" pitchFamily="34" charset="0"/>
                <a:ea typeface="Noto Sans" pitchFamily="34" charset="-122"/>
                <a:cs typeface="Noto Sans" pitchFamily="34" charset="-120"/>
              </a:rPr>
              <a:t>7.4. Kiểm duyệt nội dung</a:t>
            </a:r>
            <a:endParaRPr lang="en-US" sz="1440" dirty="0"/>
          </a:p>
        </p:txBody>
      </p:sp>
      <p:pic>
        <p:nvPicPr>
          <p:cNvPr id="3" name="Image 0" descr="preencoded.png"/>
          <p:cNvPicPr>
            <a:picLocks noChangeAspect="1"/>
          </p:cNvPicPr>
          <p:nvPr/>
        </p:nvPicPr>
        <p:blipFill>
          <a:blip r:embed="rId4"/>
          <a:stretch>
            <a:fillRect/>
          </a:stretch>
        </p:blipFill>
        <p:spPr>
          <a:xfrm>
            <a:off x="333756" y="937504"/>
            <a:ext cx="8475954" cy="3779797"/>
          </a:xfrm>
          <a:prstGeom prst="rect">
            <a:avLst/>
          </a:prstGeom>
        </p:spPr>
      </p:pic>
      <p:pic>
        <p:nvPicPr>
          <p:cNvPr id="4" name="Image 1" descr="preencoded.png"/>
          <p:cNvPicPr>
            <a:picLocks noChangeAspect="1"/>
          </p:cNvPicPr>
          <p:nvPr/>
        </p:nvPicPr>
        <p:blipFill>
          <a:blip r:embed="rId5"/>
          <a:stretch>
            <a:fillRect/>
          </a:stretch>
        </p:blipFill>
        <p:spPr>
          <a:xfrm>
            <a:off x="704367" y="1076624"/>
            <a:ext cx="2606231" cy="595043"/>
          </a:xfrm>
          <a:prstGeom prst="rect">
            <a:avLst/>
          </a:prstGeom>
        </p:spPr>
      </p:pic>
      <p:sp>
        <p:nvSpPr>
          <p:cNvPr id="5" name="Shape 1"/>
          <p:cNvSpPr/>
          <p:nvPr/>
        </p:nvSpPr>
        <p:spPr>
          <a:xfrm>
            <a:off x="3644348" y="1405780"/>
            <a:ext cx="0" cy="3114261"/>
          </a:xfrm>
          <a:custGeom>
            <a:avLst/>
            <a:gdLst/>
            <a:ahLst/>
            <a:cxnLst/>
            <a:rect l="l" t="t" r="r" b="b"/>
            <a:pathLst>
              <a:path h="3114261">
                <a:moveTo>
                  <a:pt x="0" y="3114261"/>
                </a:moveTo>
                <a:moveTo>
                  <a:pt x="0" y="3114261"/>
                </a:moveTo>
                <a:lnTo>
                  <a:pt x="0" y="0"/>
                </a:lnTo>
              </a:path>
            </a:pathLst>
          </a:custGeom>
          <a:noFill/>
          <a:ln w="19050">
            <a:solidFill>
              <a:srgbClr val="2B76FD"/>
            </a:solidFill>
            <a:prstDash val="solid"/>
            <a:headEnd type="none"/>
            <a:tailEnd type="arrow"/>
          </a:ln>
        </p:spPr>
        <p:txBody>
          <a:bodyPr/>
          <a:lstStyle/>
          <a:p>
            <a:endParaRPr lang="en-US"/>
          </a:p>
        </p:txBody>
      </p:sp>
      <p:sp>
        <p:nvSpPr>
          <p:cNvPr id="6" name="Shape 2"/>
          <p:cNvSpPr/>
          <p:nvPr/>
        </p:nvSpPr>
        <p:spPr>
          <a:xfrm>
            <a:off x="4057432" y="3074588"/>
            <a:ext cx="3518394" cy="476790"/>
          </a:xfrm>
          <a:custGeom>
            <a:avLst/>
            <a:gdLst/>
            <a:ahLst/>
            <a:cxnLst/>
            <a:rect l="l" t="t" r="r" b="b"/>
            <a:pathLst>
              <a:path w="3518394" h="476790">
                <a:moveTo>
                  <a:pt x="100214" y="0"/>
                </a:moveTo>
                <a:moveTo>
                  <a:pt x="100214" y="0"/>
                </a:moveTo>
                <a:lnTo>
                  <a:pt x="3418180" y="0"/>
                </a:lnTo>
                <a:quadBezTo>
                  <a:pt x="3518394" y="0"/>
                  <a:pt x="3518394" y="100214"/>
                </a:quadBezTo>
                <a:lnTo>
                  <a:pt x="3518394" y="376575"/>
                </a:lnTo>
                <a:quadBezTo>
                  <a:pt x="3518394" y="476790"/>
                  <a:pt x="3418180" y="476790"/>
                </a:quadBezTo>
                <a:lnTo>
                  <a:pt x="100214" y="476790"/>
                </a:lnTo>
                <a:quadBezTo>
                  <a:pt x="0" y="476790"/>
                  <a:pt x="0" y="376575"/>
                </a:quadBezTo>
                <a:lnTo>
                  <a:pt x="0" y="100214"/>
                </a:lnTo>
                <a:quadBezTo>
                  <a:pt x="0" y="0"/>
                  <a:pt x="100214" y="0"/>
                </a:quadBezTo>
                <a:close/>
              </a:path>
            </a:pathLst>
          </a:custGeom>
          <a:solidFill>
            <a:srgbClr val="FFFFFF"/>
          </a:solidFill>
          <a:ln w="19050">
            <a:solidFill>
              <a:srgbClr val="379EFC"/>
            </a:solidFill>
            <a:prstDash val="solid"/>
          </a:ln>
        </p:spPr>
        <p:txBody>
          <a:bodyPr/>
          <a:lstStyle/>
          <a:p>
            <a:endParaRPr lang="en-US"/>
          </a:p>
        </p:txBody>
      </p:sp>
      <p:sp>
        <p:nvSpPr>
          <p:cNvPr id="7" name="Shape 3"/>
          <p:cNvSpPr/>
          <p:nvPr/>
        </p:nvSpPr>
        <p:spPr>
          <a:xfrm>
            <a:off x="4057432" y="4395007"/>
            <a:ext cx="4395304" cy="0"/>
          </a:xfrm>
          <a:custGeom>
            <a:avLst/>
            <a:gdLst/>
            <a:ahLst/>
            <a:cxnLst/>
            <a:rect l="l" t="t" r="r" b="b"/>
            <a:pathLst>
              <a:path w="4395304">
                <a:moveTo>
                  <a:pt x="4395304" y="0"/>
                </a:moveTo>
                <a:moveTo>
                  <a:pt x="4395304" y="0"/>
                </a:moveTo>
                <a:lnTo>
                  <a:pt x="0" y="0"/>
                </a:lnTo>
              </a:path>
            </a:pathLst>
          </a:custGeom>
          <a:noFill/>
          <a:ln w="19050">
            <a:solidFill>
              <a:srgbClr val="379EFC"/>
            </a:solidFill>
            <a:prstDash val="solid"/>
            <a:headEnd type="none"/>
            <a:tailEnd type="arrow"/>
          </a:ln>
        </p:spPr>
        <p:txBody>
          <a:bodyPr/>
          <a:lstStyle/>
          <a:p>
            <a:endParaRPr lang="en-US"/>
          </a:p>
        </p:txBody>
      </p:sp>
      <p:sp>
        <p:nvSpPr>
          <p:cNvPr id="8" name="Text 4"/>
          <p:cNvSpPr/>
          <p:nvPr/>
        </p:nvSpPr>
        <p:spPr>
          <a:xfrm>
            <a:off x="7794582" y="3312982"/>
            <a:ext cx="616541" cy="1088136"/>
          </a:xfrm>
          <a:prstGeom prst="rect">
            <a:avLst/>
          </a:prstGeom>
          <a:noFill/>
          <a:ln/>
        </p:spPr>
        <p:txBody>
          <a:bodyPr wrap="square" lIns="95250" tIns="95250" rIns="95250" bIns="95250" rtlCol="0" anchor="t">
            <a:spAutoFit/>
          </a:bodyPr>
          <a:lstStyle/>
          <a:p>
            <a:pPr marL="0" indent="0">
              <a:lnSpc>
                <a:spcPct val="112500"/>
              </a:lnSpc>
              <a:spcBef>
                <a:spcPts val="375"/>
              </a:spcBef>
              <a:buNone/>
            </a:pPr>
            <a:r>
              <a:rPr lang="en-US" sz="4752" b="1" i="1" dirty="0">
                <a:solidFill>
                  <a:srgbClr val="379EFC"/>
                </a:solidFill>
                <a:latin typeface="Noto Sans" pitchFamily="34" charset="0"/>
                <a:ea typeface="Noto Sans" pitchFamily="34" charset="-122"/>
                <a:cs typeface="Noto Sans" pitchFamily="34" charset="-120"/>
              </a:rPr>
              <a:t>2</a:t>
            </a:r>
            <a:endParaRPr lang="en-US" sz="1440" dirty="0"/>
          </a:p>
        </p:txBody>
      </p:sp>
      <p:sp>
        <p:nvSpPr>
          <p:cNvPr id="9" name="Shape 5"/>
          <p:cNvSpPr/>
          <p:nvPr/>
        </p:nvSpPr>
        <p:spPr>
          <a:xfrm>
            <a:off x="4057432" y="1749391"/>
            <a:ext cx="3518394" cy="476790"/>
          </a:xfrm>
          <a:custGeom>
            <a:avLst/>
            <a:gdLst/>
            <a:ahLst/>
            <a:cxnLst/>
            <a:rect l="l" t="t" r="r" b="b"/>
            <a:pathLst>
              <a:path w="3518394" h="476790">
                <a:moveTo>
                  <a:pt x="100214" y="0"/>
                </a:moveTo>
                <a:moveTo>
                  <a:pt x="100214" y="0"/>
                </a:moveTo>
                <a:lnTo>
                  <a:pt x="3418180" y="0"/>
                </a:lnTo>
                <a:quadBezTo>
                  <a:pt x="3518394" y="0"/>
                  <a:pt x="3518394" y="100214"/>
                </a:quadBezTo>
                <a:lnTo>
                  <a:pt x="3518394" y="376575"/>
                </a:lnTo>
                <a:quadBezTo>
                  <a:pt x="3518394" y="476790"/>
                  <a:pt x="3418180" y="476790"/>
                </a:quadBezTo>
                <a:lnTo>
                  <a:pt x="100214" y="476790"/>
                </a:lnTo>
                <a:quadBezTo>
                  <a:pt x="0" y="476790"/>
                  <a:pt x="0" y="376575"/>
                </a:quadBezTo>
                <a:lnTo>
                  <a:pt x="0" y="100214"/>
                </a:lnTo>
                <a:quadBezTo>
                  <a:pt x="0" y="0"/>
                  <a:pt x="100214" y="0"/>
                </a:quadBezTo>
                <a:close/>
              </a:path>
            </a:pathLst>
          </a:custGeom>
          <a:solidFill>
            <a:srgbClr val="FFFFFF"/>
          </a:solidFill>
          <a:ln w="19050">
            <a:solidFill>
              <a:srgbClr val="2B76FD"/>
            </a:solidFill>
            <a:prstDash val="solid"/>
          </a:ln>
        </p:spPr>
        <p:txBody>
          <a:bodyPr/>
          <a:lstStyle/>
          <a:p>
            <a:endParaRPr lang="en-US"/>
          </a:p>
        </p:txBody>
      </p:sp>
      <p:sp>
        <p:nvSpPr>
          <p:cNvPr id="10" name="Shape 6"/>
          <p:cNvSpPr/>
          <p:nvPr/>
        </p:nvSpPr>
        <p:spPr>
          <a:xfrm>
            <a:off x="4057432" y="2973706"/>
            <a:ext cx="4395304" cy="0"/>
          </a:xfrm>
          <a:custGeom>
            <a:avLst/>
            <a:gdLst/>
            <a:ahLst/>
            <a:cxnLst/>
            <a:rect l="l" t="t" r="r" b="b"/>
            <a:pathLst>
              <a:path w="4395304">
                <a:moveTo>
                  <a:pt x="4395304" y="0"/>
                </a:moveTo>
                <a:moveTo>
                  <a:pt x="4395304" y="0"/>
                </a:moveTo>
                <a:lnTo>
                  <a:pt x="0" y="0"/>
                </a:lnTo>
              </a:path>
            </a:pathLst>
          </a:custGeom>
          <a:noFill/>
          <a:ln w="19050">
            <a:solidFill>
              <a:srgbClr val="2B76FD"/>
            </a:solidFill>
            <a:prstDash val="solid"/>
            <a:headEnd type="none"/>
            <a:tailEnd type="arrow"/>
          </a:ln>
        </p:spPr>
        <p:txBody>
          <a:bodyPr/>
          <a:lstStyle/>
          <a:p>
            <a:endParaRPr lang="en-US"/>
          </a:p>
        </p:txBody>
      </p:sp>
      <p:sp>
        <p:nvSpPr>
          <p:cNvPr id="11" name="Text 7"/>
          <p:cNvSpPr/>
          <p:nvPr/>
        </p:nvSpPr>
        <p:spPr>
          <a:xfrm>
            <a:off x="7739893" y="1629538"/>
            <a:ext cx="616541" cy="1088136"/>
          </a:xfrm>
          <a:prstGeom prst="rect">
            <a:avLst/>
          </a:prstGeom>
          <a:noFill/>
          <a:ln/>
        </p:spPr>
        <p:txBody>
          <a:bodyPr wrap="square" lIns="95250" tIns="95250" rIns="95250" bIns="95250" rtlCol="0" anchor="t">
            <a:spAutoFit/>
          </a:bodyPr>
          <a:lstStyle/>
          <a:p>
            <a:pPr marL="0" indent="0">
              <a:lnSpc>
                <a:spcPct val="112500"/>
              </a:lnSpc>
              <a:spcBef>
                <a:spcPts val="375"/>
              </a:spcBef>
              <a:buNone/>
            </a:pPr>
            <a:r>
              <a:rPr lang="en-US" sz="4752" b="1" i="1" dirty="0">
                <a:solidFill>
                  <a:srgbClr val="2B76FD"/>
                </a:solidFill>
                <a:latin typeface="Noto Sans" pitchFamily="34" charset="0"/>
                <a:ea typeface="Noto Sans" pitchFamily="34" charset="-122"/>
                <a:cs typeface="Noto Sans" pitchFamily="34" charset="-120"/>
              </a:rPr>
              <a:t>1</a:t>
            </a:r>
            <a:endParaRPr lang="en-US" sz="1440" dirty="0"/>
          </a:p>
        </p:txBody>
      </p:sp>
      <p:pic>
        <p:nvPicPr>
          <p:cNvPr id="12" name="Image 2" descr="preencoded.png"/>
          <p:cNvPicPr>
            <a:picLocks noChangeAspect="1"/>
          </p:cNvPicPr>
          <p:nvPr/>
        </p:nvPicPr>
        <p:blipFill>
          <a:blip r:embed="rId5"/>
          <a:stretch>
            <a:fillRect/>
          </a:stretch>
        </p:blipFill>
        <p:spPr>
          <a:xfrm>
            <a:off x="5816629" y="1076624"/>
            <a:ext cx="2606231" cy="595043"/>
          </a:xfrm>
          <a:prstGeom prst="rect">
            <a:avLst/>
          </a:prstGeom>
        </p:spPr>
      </p:pic>
      <p:sp>
        <p:nvSpPr>
          <p:cNvPr id="13" name="Text 8"/>
          <p:cNvSpPr/>
          <p:nvPr/>
        </p:nvSpPr>
        <p:spPr>
          <a:xfrm>
            <a:off x="704367" y="1186693"/>
            <a:ext cx="2505205" cy="374904"/>
          </a:xfrm>
          <a:prstGeom prst="rect">
            <a:avLst/>
          </a:prstGeom>
          <a:noFill/>
          <a:ln/>
        </p:spPr>
        <p:txBody>
          <a:bodyPr wrap="square" lIns="95250" tIns="95250" rIns="95250" bIns="95250" rtlCol="0" anchor="ctr"/>
          <a:lstStyle/>
          <a:p>
            <a:pPr marL="0" indent="0" algn="ctr">
              <a:lnSpc>
                <a:spcPct val="100000"/>
              </a:lnSpc>
              <a:spcBef>
                <a:spcPts val="375"/>
              </a:spcBef>
              <a:buNone/>
            </a:pPr>
            <a:r>
              <a:rPr lang="en-US" sz="1728" b="1" dirty="0">
                <a:solidFill>
                  <a:srgbClr val="FFFFFF"/>
                </a:solidFill>
                <a:latin typeface="Noto Sans" pitchFamily="34" charset="0"/>
                <a:ea typeface="Noto Sans" pitchFamily="34" charset="-122"/>
                <a:cs typeface="Noto Sans" pitchFamily="34" charset="-120"/>
              </a:rPr>
              <a:t>Yêu cầu kỹ thuật</a:t>
            </a:r>
            <a:endParaRPr lang="en-US" sz="1440" dirty="0"/>
          </a:p>
        </p:txBody>
      </p:sp>
      <p:sp>
        <p:nvSpPr>
          <p:cNvPr id="14" name="Text 9"/>
          <p:cNvSpPr/>
          <p:nvPr/>
        </p:nvSpPr>
        <p:spPr>
          <a:xfrm>
            <a:off x="624818" y="1767646"/>
            <a:ext cx="2874705" cy="1252728"/>
          </a:xfrm>
          <a:prstGeom prst="rect">
            <a:avLst/>
          </a:prstGeom>
          <a:noFill/>
          <a:ln/>
        </p:spPr>
        <p:txBody>
          <a:bodyPr wrap="square" lIns="95250" tIns="95250" rIns="95250" bIns="95250" rtlCol="0" anchor="t">
            <a:spAutoFit/>
          </a:bodyPr>
          <a:lstStyle/>
          <a:p>
            <a:pPr marL="0" indent="0" algn="just">
              <a:lnSpc>
                <a:spcPct val="100800"/>
              </a:lnSpc>
              <a:spcBef>
                <a:spcPts val="375"/>
              </a:spcBef>
              <a:buNone/>
            </a:pPr>
            <a:r>
              <a:rPr lang="en-US" sz="1440" dirty="0">
                <a:solidFill>
                  <a:srgbClr val="00070F"/>
                </a:solidFill>
                <a:latin typeface="Noto Sans" pitchFamily="34" charset="0"/>
                <a:ea typeface="Noto Sans" pitchFamily="34" charset="-122"/>
                <a:cs typeface="Noto Sans" pitchFamily="34" charset="-120"/>
              </a:rPr>
              <a:t>• Độ chính xác cao, phát hiện và xử lý nội dung có hại</a:t>
            </a:r>
            <a:endParaRPr lang="en-US" sz="1440" dirty="0"/>
          </a:p>
          <a:p>
            <a:pPr marL="0" indent="0" algn="just">
              <a:lnSpc>
                <a:spcPct val="100800"/>
              </a:lnSpc>
              <a:spcBef>
                <a:spcPts val="375"/>
              </a:spcBef>
              <a:buNone/>
            </a:pPr>
            <a:r>
              <a:rPr lang="en-US" sz="1440" dirty="0">
                <a:solidFill>
                  <a:srgbClr val="00070F"/>
                </a:solidFill>
                <a:latin typeface="Noto Sans" pitchFamily="34" charset="0"/>
                <a:ea typeface="Noto Sans" pitchFamily="34" charset="-122"/>
                <a:cs typeface="Noto Sans" pitchFamily="34" charset="-120"/>
              </a:rPr>
              <a:t>• Tìm kiếm chính xác ở quy mô tỷ đến nghìn tỷ</a:t>
            </a:r>
            <a:endParaRPr lang="en-US" sz="1440" dirty="0"/>
          </a:p>
        </p:txBody>
      </p:sp>
      <p:sp>
        <p:nvSpPr>
          <p:cNvPr id="15" name="Text 10"/>
          <p:cNvSpPr/>
          <p:nvPr/>
        </p:nvSpPr>
        <p:spPr>
          <a:xfrm>
            <a:off x="4057432" y="1800334"/>
            <a:ext cx="3376203" cy="374904"/>
          </a:xfrm>
          <a:prstGeom prst="rect">
            <a:avLst/>
          </a:prstGeom>
          <a:noFill/>
          <a:ln/>
        </p:spPr>
        <p:txBody>
          <a:bodyPr wrap="square" lIns="95250" tIns="95250" rIns="95250" bIns="95250" rtlCol="0" anchor="ctr"/>
          <a:lstStyle/>
          <a:p>
            <a:pPr marL="0" indent="0">
              <a:lnSpc>
                <a:spcPct val="100000"/>
              </a:lnSpc>
              <a:spcBef>
                <a:spcPts val="375"/>
              </a:spcBef>
              <a:buNone/>
            </a:pPr>
            <a:r>
              <a:rPr lang="en-US" sz="1296" b="1" dirty="0">
                <a:solidFill>
                  <a:srgbClr val="2B76FD"/>
                </a:solidFill>
                <a:latin typeface="Noto Sans" pitchFamily="34" charset="0"/>
                <a:ea typeface="Noto Sans" pitchFamily="34" charset="-122"/>
                <a:cs typeface="Noto Sans" pitchFamily="34" charset="-120"/>
              </a:rPr>
              <a:t>Xây dựng cơ sở dữ liệu vi phạm</a:t>
            </a:r>
            <a:endParaRPr lang="en-US" sz="1440" dirty="0"/>
          </a:p>
        </p:txBody>
      </p:sp>
      <p:sp>
        <p:nvSpPr>
          <p:cNvPr id="16" name="Text 11"/>
          <p:cNvSpPr/>
          <p:nvPr/>
        </p:nvSpPr>
        <p:spPr>
          <a:xfrm>
            <a:off x="4040616" y="2169034"/>
            <a:ext cx="4123355" cy="859536"/>
          </a:xfrm>
          <a:prstGeom prst="rect">
            <a:avLst/>
          </a:prstGeom>
          <a:noFill/>
          <a:ln/>
        </p:spPr>
        <p:txBody>
          <a:bodyPr wrap="square" lIns="95250" tIns="95250" rIns="95250" bIns="95250" rtlCol="0" anchor="t">
            <a:spAutoFit/>
          </a:bodyPr>
          <a:lstStyle/>
          <a:p>
            <a:pPr marL="205740" indent="-205740">
              <a:lnSpc>
                <a:spcPct val="100000"/>
              </a:lnSpc>
              <a:spcBef>
                <a:spcPts val="10"/>
              </a:spcBef>
              <a:buSzPct val="100000"/>
              <a:buChar char="•"/>
            </a:pPr>
            <a:r>
              <a:rPr lang="en-US" sz="1296" dirty="0">
                <a:solidFill>
                  <a:srgbClr val="00070F"/>
                </a:solidFill>
                <a:latin typeface="Noto Sans" pitchFamily="34" charset="0"/>
                <a:ea typeface="Noto Sans" pitchFamily="34" charset="-122"/>
                <a:cs typeface="Noto Sans" pitchFamily="34" charset="-120"/>
              </a:rPr>
              <a:t>Ví dụ được gán nhãn thủ công (hình ảnh/    video vi phạm) </a:t>
            </a:r>
            <a:endParaRPr lang="en-US" sz="1440" dirty="0"/>
          </a:p>
          <a:p>
            <a:pPr marL="205740" indent="-205740">
              <a:lnSpc>
                <a:spcPct val="100000"/>
              </a:lnSpc>
              <a:spcBef>
                <a:spcPts val="10"/>
              </a:spcBef>
              <a:buSzPct val="100000"/>
              <a:buChar char="•"/>
            </a:pPr>
            <a:r>
              <a:rPr lang="en-US" sz="1296" dirty="0">
                <a:solidFill>
                  <a:srgbClr val="00070F"/>
                </a:solidFill>
                <a:latin typeface="Noto Sans" pitchFamily="34" charset="0"/>
                <a:ea typeface="Noto Sans" pitchFamily="34" charset="-122"/>
                <a:cs typeface="Noto Sans" pitchFamily="34" charset="-120"/>
              </a:rPr>
              <a:t>Tạo embedding bằng các mô hình như SSCD</a:t>
            </a:r>
            <a:endParaRPr lang="en-US" sz="1440" dirty="0"/>
          </a:p>
        </p:txBody>
      </p:sp>
      <p:sp>
        <p:nvSpPr>
          <p:cNvPr id="17" name="Text 12"/>
          <p:cNvSpPr/>
          <p:nvPr/>
        </p:nvSpPr>
        <p:spPr>
          <a:xfrm>
            <a:off x="4107945" y="3120958"/>
            <a:ext cx="3376203" cy="374904"/>
          </a:xfrm>
          <a:prstGeom prst="rect">
            <a:avLst/>
          </a:prstGeom>
          <a:noFill/>
          <a:ln/>
        </p:spPr>
        <p:txBody>
          <a:bodyPr wrap="square" lIns="95250" tIns="95250" rIns="95250" bIns="95250" rtlCol="0" anchor="ctr"/>
          <a:lstStyle/>
          <a:p>
            <a:pPr marL="0" indent="0">
              <a:lnSpc>
                <a:spcPct val="100000"/>
              </a:lnSpc>
              <a:spcBef>
                <a:spcPts val="375"/>
              </a:spcBef>
              <a:buNone/>
            </a:pPr>
            <a:r>
              <a:rPr lang="en-US" sz="1296" b="1" dirty="0">
                <a:solidFill>
                  <a:srgbClr val="2B76FD"/>
                </a:solidFill>
                <a:latin typeface="Noto Sans" pitchFamily="34" charset="0"/>
                <a:ea typeface="Noto Sans" pitchFamily="34" charset="-122"/>
                <a:cs typeface="Noto Sans" pitchFamily="34" charset="-120"/>
              </a:rPr>
              <a:t>Quy trình phân loại</a:t>
            </a:r>
            <a:endParaRPr lang="en-US" sz="1440" dirty="0"/>
          </a:p>
        </p:txBody>
      </p:sp>
      <p:sp>
        <p:nvSpPr>
          <p:cNvPr id="18" name="Text 13"/>
          <p:cNvSpPr/>
          <p:nvPr/>
        </p:nvSpPr>
        <p:spPr>
          <a:xfrm>
            <a:off x="4057432" y="3581191"/>
            <a:ext cx="3936227" cy="859536"/>
          </a:xfrm>
          <a:prstGeom prst="rect">
            <a:avLst/>
          </a:prstGeom>
          <a:noFill/>
          <a:ln/>
        </p:spPr>
        <p:txBody>
          <a:bodyPr wrap="square" lIns="95250" tIns="95250" rIns="95250" bIns="95250" rtlCol="0" anchor="t">
            <a:spAutoFit/>
          </a:bodyPr>
          <a:lstStyle/>
          <a:p>
            <a:pPr marL="205740" indent="-205740">
              <a:lnSpc>
                <a:spcPct val="100000"/>
              </a:lnSpc>
              <a:spcBef>
                <a:spcPts val="10"/>
              </a:spcBef>
              <a:buSzPct val="100000"/>
              <a:buChar char="•"/>
            </a:pPr>
            <a:r>
              <a:rPr lang="en-US" sz="1296" dirty="0">
                <a:solidFill>
                  <a:srgbClr val="00070F"/>
                </a:solidFill>
                <a:latin typeface="Noto Sans" pitchFamily="34" charset="0"/>
                <a:ea typeface="Noto Sans" pitchFamily="34" charset="-122"/>
                <a:cs typeface="Noto Sans" pitchFamily="34" charset="-120"/>
              </a:rPr>
              <a:t>Tìm kiếm các ví dụ tương tự bằng truy vấn phạm vi</a:t>
            </a:r>
            <a:endParaRPr lang="en-US" sz="1440" dirty="0"/>
          </a:p>
          <a:p>
            <a:pPr marL="205740" indent="-205740">
              <a:lnSpc>
                <a:spcPct val="100000"/>
              </a:lnSpc>
              <a:spcBef>
                <a:spcPts val="10"/>
              </a:spcBef>
              <a:buSzPct val="100000"/>
              <a:buChar char="•"/>
            </a:pPr>
            <a:r>
              <a:rPr lang="en-US" sz="1296" dirty="0">
                <a:solidFill>
                  <a:srgbClr val="00070F"/>
                </a:solidFill>
                <a:latin typeface="Noto Sans" pitchFamily="34" charset="0"/>
                <a:ea typeface="Noto Sans" pitchFamily="34" charset="-122"/>
                <a:cs typeface="Noto Sans" pitchFamily="34" charset="-120"/>
              </a:rPr>
              <a:t>Phân loại bằng máy hoặc xác minh thủ công</a:t>
            </a:r>
            <a:endParaRPr lang="en-US" sz="1440" dirty="0"/>
          </a:p>
        </p:txBody>
      </p:sp>
      <p:sp>
        <p:nvSpPr>
          <p:cNvPr id="19" name="Text 14"/>
          <p:cNvSpPr/>
          <p:nvPr/>
        </p:nvSpPr>
        <p:spPr>
          <a:xfrm>
            <a:off x="6527195" y="1127257"/>
            <a:ext cx="1466464" cy="493776"/>
          </a:xfrm>
          <a:prstGeom prst="rect">
            <a:avLst/>
          </a:prstGeom>
          <a:noFill/>
          <a:ln/>
        </p:spPr>
        <p:txBody>
          <a:bodyPr wrap="square" lIns="95250" tIns="95250" rIns="95250" bIns="95250" rtlCol="0" anchor="t">
            <a:spAutoFit/>
          </a:bodyPr>
          <a:lstStyle/>
          <a:p>
            <a:pPr marL="0" indent="0" algn="just">
              <a:lnSpc>
                <a:spcPct val="100800"/>
              </a:lnSpc>
              <a:spcBef>
                <a:spcPts val="375"/>
              </a:spcBef>
              <a:buNone/>
            </a:pPr>
            <a:r>
              <a:rPr lang="en-US" sz="1728" b="1" dirty="0">
                <a:solidFill>
                  <a:srgbClr val="FFFFFF"/>
                </a:solidFill>
                <a:latin typeface="Noto Sans" pitchFamily="34" charset="0"/>
                <a:ea typeface="Noto Sans" pitchFamily="34" charset="-122"/>
                <a:cs typeface="Noto Sans" pitchFamily="34" charset="-120"/>
              </a:rPr>
              <a:t>Quy trình</a:t>
            </a:r>
            <a:endParaRPr lang="en-US" sz="144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709417" y="1215473"/>
            <a:ext cx="2140946" cy="1610313"/>
          </a:xfrm>
          <a:prstGeom prst="rect">
            <a:avLst/>
          </a:prstGeom>
          <a:noFill/>
          <a:ln/>
        </p:spPr>
        <p:txBody>
          <a:bodyPr wrap="square" lIns="95250" tIns="95250" rIns="95250" bIns="95250" rtlCol="0" anchor="t">
            <a:spAutoFit/>
          </a:bodyPr>
          <a:lstStyle/>
          <a:p>
            <a:pPr marL="0" indent="0" algn="ctr">
              <a:lnSpc>
                <a:spcPct val="112500"/>
              </a:lnSpc>
              <a:spcBef>
                <a:spcPts val="375"/>
              </a:spcBef>
              <a:buNone/>
            </a:pPr>
            <a:r>
              <a:rPr lang="en-US" sz="8640" b="1" dirty="0">
                <a:solidFill>
                  <a:srgbClr val="FFFFFF">
                    <a:alpha val="60000"/>
                  </a:srgbClr>
                </a:solidFill>
                <a:latin typeface="Noto Sans" pitchFamily="34" charset="0"/>
                <a:ea typeface="Noto Sans" pitchFamily="34" charset="-122"/>
                <a:cs typeface="Noto Sans" pitchFamily="34" charset="-120"/>
              </a:rPr>
              <a:t>08</a:t>
            </a:r>
            <a:endParaRPr lang="en-US" sz="1440" dirty="0"/>
          </a:p>
        </p:txBody>
      </p:sp>
      <p:sp>
        <p:nvSpPr>
          <p:cNvPr id="3" name="Text 1"/>
          <p:cNvSpPr/>
          <p:nvPr/>
        </p:nvSpPr>
        <p:spPr>
          <a:xfrm>
            <a:off x="4098516" y="2591079"/>
            <a:ext cx="4294798" cy="569067"/>
          </a:xfrm>
          <a:prstGeom prst="rect">
            <a:avLst/>
          </a:prstGeom>
          <a:noFill/>
          <a:ln/>
        </p:spPr>
        <p:txBody>
          <a:bodyPr wrap="square" lIns="95250" tIns="95250" rIns="95250" bIns="95250" rtlCol="0" anchor="t">
            <a:spAutoFit/>
          </a:bodyPr>
          <a:lstStyle/>
          <a:p>
            <a:pPr marL="0" indent="0" algn="r">
              <a:lnSpc>
                <a:spcPct val="100000"/>
              </a:lnSpc>
              <a:spcBef>
                <a:spcPts val="375"/>
              </a:spcBef>
              <a:buNone/>
            </a:pPr>
            <a:r>
              <a:rPr lang="en-US" sz="2448" b="1" dirty="0">
                <a:solidFill>
                  <a:srgbClr val="2B76FD"/>
                </a:solidFill>
                <a:latin typeface="Noto Sans" pitchFamily="34" charset="0"/>
                <a:ea typeface="Noto Sans" pitchFamily="34" charset="-122"/>
                <a:cs typeface="Noto Sans" pitchFamily="34" charset="-120"/>
              </a:rPr>
              <a:t>KẾT LUẬN</a:t>
            </a:r>
            <a:endParaRPr lang="en-US" sz="144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96558" y="328468"/>
            <a:ext cx="8396337" cy="546881"/>
          </a:xfrm>
          <a:prstGeom prst="rect">
            <a:avLst/>
          </a:prstGeom>
          <a:noFill/>
          <a:ln/>
        </p:spPr>
        <p:txBody>
          <a:bodyPr wrap="square" lIns="95250" tIns="95250" rIns="95250" bIns="95250" rtlCol="0" anchor="t">
            <a:spAutoFit/>
          </a:bodyPr>
          <a:lstStyle/>
          <a:p>
            <a:pPr marL="0" indent="0" algn="ctr">
              <a:lnSpc>
                <a:spcPct val="112500"/>
              </a:lnSpc>
              <a:spcBef>
                <a:spcPts val="375"/>
              </a:spcBef>
              <a:buNone/>
            </a:pPr>
            <a:r>
              <a:rPr lang="en-US" sz="2160" b="1" dirty="0">
                <a:solidFill>
                  <a:srgbClr val="193AB9"/>
                </a:solidFill>
                <a:latin typeface="Noto Sans" pitchFamily="34" charset="0"/>
                <a:ea typeface="Noto Sans" pitchFamily="34" charset="-122"/>
                <a:cs typeface="Noto Sans" pitchFamily="34" charset="-120"/>
              </a:rPr>
              <a:t>KẾT LUẬN</a:t>
            </a:r>
            <a:endParaRPr lang="en-US" sz="1440" dirty="0"/>
          </a:p>
        </p:txBody>
      </p:sp>
      <p:pic>
        <p:nvPicPr>
          <p:cNvPr id="3" name="Image 0" descr="preencoded.png"/>
          <p:cNvPicPr>
            <a:picLocks noChangeAspect="1"/>
          </p:cNvPicPr>
          <p:nvPr/>
        </p:nvPicPr>
        <p:blipFill>
          <a:blip r:embed="rId4"/>
          <a:stretch>
            <a:fillRect/>
          </a:stretch>
        </p:blipFill>
        <p:spPr>
          <a:xfrm>
            <a:off x="320653" y="1010483"/>
            <a:ext cx="3584452" cy="3573933"/>
          </a:xfrm>
          <a:prstGeom prst="rect">
            <a:avLst/>
          </a:prstGeom>
        </p:spPr>
      </p:pic>
      <p:pic>
        <p:nvPicPr>
          <p:cNvPr id="4" name="Image 1" descr="preencoded.png"/>
          <p:cNvPicPr>
            <a:picLocks noChangeAspect="1"/>
          </p:cNvPicPr>
          <p:nvPr/>
        </p:nvPicPr>
        <p:blipFill>
          <a:blip r:embed="rId5">
            <a:alphaModFix amt="40000"/>
          </a:blip>
          <a:stretch>
            <a:fillRect/>
          </a:stretch>
        </p:blipFill>
        <p:spPr>
          <a:xfrm>
            <a:off x="255781" y="1010483"/>
            <a:ext cx="3649324" cy="3573933"/>
          </a:xfrm>
          <a:prstGeom prst="rect">
            <a:avLst/>
          </a:prstGeom>
        </p:spPr>
      </p:pic>
      <p:sp>
        <p:nvSpPr>
          <p:cNvPr id="5" name="Text 1"/>
          <p:cNvSpPr/>
          <p:nvPr/>
        </p:nvSpPr>
        <p:spPr>
          <a:xfrm>
            <a:off x="1730863" y="1561098"/>
            <a:ext cx="764032" cy="566928"/>
          </a:xfrm>
          <a:prstGeom prst="rect">
            <a:avLst/>
          </a:prstGeom>
          <a:noFill/>
          <a:ln/>
        </p:spPr>
        <p:txBody>
          <a:bodyPr wrap="square" lIns="95250" tIns="95250" rIns="95250" bIns="95250" rtlCol="0" anchor="t">
            <a:spAutoFit/>
          </a:bodyPr>
          <a:lstStyle/>
          <a:p>
            <a:pPr marL="0" indent="0" algn="ctr">
              <a:lnSpc>
                <a:spcPct val="112500"/>
              </a:lnSpc>
              <a:spcBef>
                <a:spcPts val="375"/>
              </a:spcBef>
              <a:buNone/>
            </a:pPr>
            <a:r>
              <a:rPr lang="en-US" sz="2016" b="1" dirty="0">
                <a:solidFill>
                  <a:srgbClr val="FFFFFF"/>
                </a:solidFill>
                <a:latin typeface="Noto Sans" pitchFamily="34" charset="0"/>
                <a:ea typeface="Noto Sans" pitchFamily="34" charset="-122"/>
                <a:cs typeface="Noto Sans" pitchFamily="34" charset="-120"/>
              </a:rPr>
              <a:t>01</a:t>
            </a:r>
            <a:endParaRPr lang="en-US" sz="1440" dirty="0"/>
          </a:p>
        </p:txBody>
      </p:sp>
      <p:sp>
        <p:nvSpPr>
          <p:cNvPr id="6" name="Text 2"/>
          <p:cNvSpPr/>
          <p:nvPr/>
        </p:nvSpPr>
        <p:spPr>
          <a:xfrm>
            <a:off x="1730863" y="2454307"/>
            <a:ext cx="764032" cy="566928"/>
          </a:xfrm>
          <a:prstGeom prst="rect">
            <a:avLst/>
          </a:prstGeom>
          <a:noFill/>
          <a:ln/>
        </p:spPr>
        <p:txBody>
          <a:bodyPr wrap="square" lIns="95250" tIns="95250" rIns="95250" bIns="95250" rtlCol="0" anchor="t">
            <a:spAutoFit/>
          </a:bodyPr>
          <a:lstStyle/>
          <a:p>
            <a:pPr marL="0" indent="0" algn="ctr">
              <a:lnSpc>
                <a:spcPct val="112500"/>
              </a:lnSpc>
              <a:spcBef>
                <a:spcPts val="375"/>
              </a:spcBef>
              <a:buNone/>
            </a:pPr>
            <a:r>
              <a:rPr lang="en-US" sz="2016" b="1" dirty="0">
                <a:solidFill>
                  <a:srgbClr val="FFFFFF"/>
                </a:solidFill>
                <a:latin typeface="Noto Sans" pitchFamily="34" charset="0"/>
                <a:ea typeface="Noto Sans" pitchFamily="34" charset="-122"/>
                <a:cs typeface="Noto Sans" pitchFamily="34" charset="-120"/>
              </a:rPr>
              <a:t>02</a:t>
            </a:r>
            <a:endParaRPr lang="en-US" sz="1440" dirty="0"/>
          </a:p>
        </p:txBody>
      </p:sp>
      <p:sp>
        <p:nvSpPr>
          <p:cNvPr id="7" name="Text 3"/>
          <p:cNvSpPr/>
          <p:nvPr/>
        </p:nvSpPr>
        <p:spPr>
          <a:xfrm>
            <a:off x="1730863" y="3221466"/>
            <a:ext cx="764032" cy="566928"/>
          </a:xfrm>
          <a:prstGeom prst="rect">
            <a:avLst/>
          </a:prstGeom>
          <a:noFill/>
          <a:ln/>
        </p:spPr>
        <p:txBody>
          <a:bodyPr wrap="square" lIns="95250" tIns="95250" rIns="95250" bIns="95250" rtlCol="0" anchor="t">
            <a:spAutoFit/>
          </a:bodyPr>
          <a:lstStyle/>
          <a:p>
            <a:pPr marL="0" indent="0" algn="ctr">
              <a:lnSpc>
                <a:spcPct val="112500"/>
              </a:lnSpc>
              <a:spcBef>
                <a:spcPts val="375"/>
              </a:spcBef>
              <a:buNone/>
            </a:pPr>
            <a:r>
              <a:rPr lang="en-US" sz="2016" b="1" dirty="0">
                <a:solidFill>
                  <a:srgbClr val="FFFFFF"/>
                </a:solidFill>
                <a:latin typeface="Noto Sans" pitchFamily="34" charset="0"/>
                <a:ea typeface="Noto Sans" pitchFamily="34" charset="-122"/>
                <a:cs typeface="Noto Sans" pitchFamily="34" charset="-120"/>
              </a:rPr>
              <a:t>03</a:t>
            </a:r>
            <a:endParaRPr lang="en-US" sz="1440" dirty="0"/>
          </a:p>
        </p:txBody>
      </p:sp>
      <p:sp>
        <p:nvSpPr>
          <p:cNvPr id="8" name="Text 4"/>
          <p:cNvSpPr/>
          <p:nvPr/>
        </p:nvSpPr>
        <p:spPr>
          <a:xfrm>
            <a:off x="1730863" y="4007335"/>
            <a:ext cx="764032" cy="566928"/>
          </a:xfrm>
          <a:prstGeom prst="rect">
            <a:avLst/>
          </a:prstGeom>
          <a:noFill/>
          <a:ln/>
        </p:spPr>
        <p:txBody>
          <a:bodyPr wrap="square" lIns="95250" tIns="95250" rIns="95250" bIns="95250" rtlCol="0" anchor="t">
            <a:spAutoFit/>
          </a:bodyPr>
          <a:lstStyle/>
          <a:p>
            <a:pPr marL="0" indent="0" algn="ctr">
              <a:lnSpc>
                <a:spcPct val="112500"/>
              </a:lnSpc>
              <a:spcBef>
                <a:spcPts val="375"/>
              </a:spcBef>
              <a:buNone/>
            </a:pPr>
            <a:r>
              <a:rPr lang="en-US" sz="2016" b="1" dirty="0">
                <a:solidFill>
                  <a:srgbClr val="FFFFFF"/>
                </a:solidFill>
                <a:latin typeface="Noto Sans" pitchFamily="34" charset="0"/>
                <a:ea typeface="Noto Sans" pitchFamily="34" charset="-122"/>
                <a:cs typeface="Noto Sans" pitchFamily="34" charset="-120"/>
              </a:rPr>
              <a:t>04</a:t>
            </a:r>
            <a:endParaRPr lang="en-US" sz="1440" dirty="0"/>
          </a:p>
        </p:txBody>
      </p:sp>
      <p:sp>
        <p:nvSpPr>
          <p:cNvPr id="9" name="Text 5"/>
          <p:cNvSpPr/>
          <p:nvPr/>
        </p:nvSpPr>
        <p:spPr>
          <a:xfrm>
            <a:off x="2599976" y="1041801"/>
            <a:ext cx="6288242" cy="391774"/>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en-US" sz="1296" b="1" dirty="0">
                <a:solidFill>
                  <a:srgbClr val="00070F"/>
                </a:solidFill>
                <a:latin typeface="Noto Sans" pitchFamily="34" charset="0"/>
                <a:ea typeface="Noto Sans" pitchFamily="34" charset="-122"/>
                <a:cs typeface="Noto Sans" pitchFamily="34" charset="-120"/>
              </a:rPr>
              <a:t>NỀN TẢNG</a:t>
            </a:r>
            <a:endParaRPr lang="en-US" sz="1440" dirty="0"/>
          </a:p>
        </p:txBody>
      </p:sp>
      <p:sp>
        <p:nvSpPr>
          <p:cNvPr id="10" name="Text 6"/>
          <p:cNvSpPr/>
          <p:nvPr/>
        </p:nvSpPr>
        <p:spPr>
          <a:xfrm>
            <a:off x="2599976" y="1261257"/>
            <a:ext cx="6279347" cy="353943"/>
          </a:xfrm>
          <a:prstGeom prst="rect">
            <a:avLst/>
          </a:prstGeom>
          <a:noFill/>
          <a:ln/>
        </p:spPr>
        <p:txBody>
          <a:bodyPr wrap="square" lIns="95250" tIns="95250" rIns="95250" bIns="95250" rtlCol="0" anchor="t">
            <a:spAutoFit/>
          </a:bodyPr>
          <a:lstStyle/>
          <a:p>
            <a:pPr>
              <a:spcBef>
                <a:spcPts val="375"/>
              </a:spcBef>
            </a:pPr>
            <a:r>
              <a:rPr lang="en-US" sz="1050" dirty="0" err="1"/>
              <a:t>Faiss</a:t>
            </a:r>
            <a:r>
              <a:rPr lang="en-US" sz="1050" dirty="0"/>
              <a:t> </a:t>
            </a:r>
            <a:r>
              <a:rPr lang="en-US" sz="1050" dirty="0" err="1"/>
              <a:t>là</a:t>
            </a:r>
            <a:r>
              <a:rPr lang="en-US" sz="1050" dirty="0"/>
              <a:t> </a:t>
            </a:r>
            <a:r>
              <a:rPr lang="en-US" sz="1050" dirty="0" err="1"/>
              <a:t>nền</a:t>
            </a:r>
            <a:r>
              <a:rPr lang="en-US" sz="1050" dirty="0"/>
              <a:t> </a:t>
            </a:r>
            <a:r>
              <a:rPr lang="en-US" sz="1050" dirty="0" err="1"/>
              <a:t>tảng</a:t>
            </a:r>
            <a:r>
              <a:rPr lang="en-US" sz="1050" dirty="0"/>
              <a:t> </a:t>
            </a:r>
            <a:r>
              <a:rPr lang="en-US" sz="1050" dirty="0" err="1"/>
              <a:t>cốt</a:t>
            </a:r>
            <a:r>
              <a:rPr lang="en-US" sz="1050" dirty="0"/>
              <a:t> </a:t>
            </a:r>
            <a:r>
              <a:rPr lang="en-US" sz="1050" dirty="0" err="1"/>
              <a:t>lõi</a:t>
            </a:r>
            <a:r>
              <a:rPr lang="en-US" sz="1050" dirty="0"/>
              <a:t> </a:t>
            </a:r>
            <a:r>
              <a:rPr lang="en-US" sz="1050" dirty="0" err="1"/>
              <a:t>của</a:t>
            </a:r>
            <a:r>
              <a:rPr lang="en-US" sz="1050" dirty="0"/>
              <a:t> </a:t>
            </a:r>
            <a:r>
              <a:rPr lang="en-US" sz="1050" dirty="0" err="1"/>
              <a:t>tìm</a:t>
            </a:r>
            <a:r>
              <a:rPr lang="en-US" sz="1050" dirty="0"/>
              <a:t> </a:t>
            </a:r>
            <a:r>
              <a:rPr lang="en-US" sz="1050" dirty="0" err="1"/>
              <a:t>kiếm</a:t>
            </a:r>
            <a:r>
              <a:rPr lang="en-US" sz="1050" dirty="0"/>
              <a:t> vector </a:t>
            </a:r>
            <a:r>
              <a:rPr lang="en-US" sz="1050" dirty="0" err="1"/>
              <a:t>hiện</a:t>
            </a:r>
            <a:r>
              <a:rPr lang="en-US" sz="1050" dirty="0"/>
              <a:t> </a:t>
            </a:r>
            <a:r>
              <a:rPr lang="en-US" sz="1050" dirty="0" err="1"/>
              <a:t>đại</a:t>
            </a:r>
            <a:endParaRPr lang="en-US" sz="1440" dirty="0"/>
          </a:p>
        </p:txBody>
      </p:sp>
      <p:sp>
        <p:nvSpPr>
          <p:cNvPr id="11" name="Text 7"/>
          <p:cNvSpPr/>
          <p:nvPr/>
        </p:nvSpPr>
        <p:spPr>
          <a:xfrm>
            <a:off x="3053283" y="1919625"/>
            <a:ext cx="5834935" cy="391774"/>
          </a:xfrm>
          <a:prstGeom prst="rect">
            <a:avLst/>
          </a:prstGeom>
          <a:noFill/>
          <a:ln/>
        </p:spPr>
        <p:txBody>
          <a:bodyPr wrap="square" lIns="95250" tIns="95250" rIns="95250" bIns="95250" rtlCol="0" anchor="t">
            <a:spAutoFit/>
          </a:bodyPr>
          <a:lstStyle/>
          <a:p>
            <a:pPr>
              <a:spcBef>
                <a:spcPts val="375"/>
              </a:spcBef>
            </a:pPr>
            <a:r>
              <a:rPr lang="en-US" sz="1296" b="1" dirty="0">
                <a:solidFill>
                  <a:srgbClr val="00070F"/>
                </a:solidFill>
                <a:latin typeface="Noto Sans" pitchFamily="34" charset="0"/>
                <a:ea typeface="Noto Sans" pitchFamily="34" charset="-122"/>
                <a:cs typeface="Noto Sans" pitchFamily="34" charset="-120"/>
              </a:rPr>
              <a:t>THIẾT KẾ, CÂN BẰNG TỐI ƯU TỐC ĐỘ - BỘ NHỚ - ĐỘ CHÍNH XÁC</a:t>
            </a:r>
            <a:endParaRPr lang="en-US" sz="1440" dirty="0"/>
          </a:p>
        </p:txBody>
      </p:sp>
      <p:sp>
        <p:nvSpPr>
          <p:cNvPr id="12" name="Text 8"/>
          <p:cNvSpPr/>
          <p:nvPr/>
        </p:nvSpPr>
        <p:spPr>
          <a:xfrm>
            <a:off x="3036483" y="2139081"/>
            <a:ext cx="5842941" cy="413959"/>
          </a:xfrm>
          <a:prstGeom prst="rect">
            <a:avLst/>
          </a:prstGeom>
          <a:noFill/>
          <a:ln/>
        </p:spPr>
        <p:txBody>
          <a:bodyPr wrap="square" lIns="95250" tIns="95250" rIns="95250" bIns="95250" rtlCol="0" anchor="t">
            <a:spAutoFit/>
          </a:bodyPr>
          <a:lstStyle/>
          <a:p>
            <a:pPr marL="0" indent="0">
              <a:lnSpc>
                <a:spcPct val="100000"/>
              </a:lnSpc>
              <a:spcBef>
                <a:spcPts val="375"/>
              </a:spcBef>
              <a:buNone/>
            </a:pPr>
            <a:endParaRPr lang="en-US" sz="1440" dirty="0"/>
          </a:p>
        </p:txBody>
      </p:sp>
      <p:sp>
        <p:nvSpPr>
          <p:cNvPr id="13" name="Text 9"/>
          <p:cNvSpPr/>
          <p:nvPr/>
        </p:nvSpPr>
        <p:spPr>
          <a:xfrm>
            <a:off x="3559389" y="2797449"/>
            <a:ext cx="5328829" cy="391774"/>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en-US" sz="1296" b="1" dirty="0">
                <a:solidFill>
                  <a:srgbClr val="00070F"/>
                </a:solidFill>
                <a:latin typeface="Noto Sans" pitchFamily="34" charset="0"/>
                <a:ea typeface="Noto Sans" pitchFamily="34" charset="-122"/>
                <a:cs typeface="Noto Sans" pitchFamily="34" charset="-120"/>
              </a:rPr>
              <a:t>GPU NHANH, VƯỢT TRỘI, LÕI CỦA NHIỀU HỆ THỐNG</a:t>
            </a:r>
            <a:endParaRPr lang="en-US" sz="1440" dirty="0"/>
          </a:p>
        </p:txBody>
      </p:sp>
      <p:sp>
        <p:nvSpPr>
          <p:cNvPr id="14" name="Text 10"/>
          <p:cNvSpPr/>
          <p:nvPr/>
        </p:nvSpPr>
        <p:spPr>
          <a:xfrm>
            <a:off x="3062490" y="2156807"/>
            <a:ext cx="5354318" cy="626838"/>
          </a:xfrm>
          <a:prstGeom prst="rect">
            <a:avLst/>
          </a:prstGeom>
          <a:noFill/>
          <a:ln/>
        </p:spPr>
        <p:txBody>
          <a:bodyPr wrap="square" lIns="95250" tIns="95250" rIns="95250" bIns="95250" rtlCol="0" anchor="t">
            <a:spAutoFit/>
          </a:bodyPr>
          <a:lstStyle/>
          <a:p>
            <a:pPr>
              <a:spcBef>
                <a:spcPts val="375"/>
              </a:spcBef>
            </a:pPr>
            <a:r>
              <a:rPr lang="vi-VN" sz="1050" dirty="0"/>
              <a:t>• Thiết kế tối ưu cho dữ liệu hàng triệu → tỷ → nghìn tỷ vector</a:t>
            </a:r>
            <a:endParaRPr lang="en-US" sz="1050" dirty="0"/>
          </a:p>
          <a:p>
            <a:pPr>
              <a:spcBef>
                <a:spcPts val="375"/>
              </a:spcBef>
            </a:pPr>
            <a:endParaRPr lang="en-US" sz="1440" dirty="0"/>
          </a:p>
        </p:txBody>
      </p:sp>
      <p:sp>
        <p:nvSpPr>
          <p:cNvPr id="15" name="Text 11"/>
          <p:cNvSpPr/>
          <p:nvPr/>
        </p:nvSpPr>
        <p:spPr>
          <a:xfrm>
            <a:off x="3887828" y="3675273"/>
            <a:ext cx="4991928" cy="391774"/>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en-US" sz="1296" b="1" dirty="0">
                <a:solidFill>
                  <a:srgbClr val="00070F"/>
                </a:solidFill>
                <a:latin typeface="Noto Sans" pitchFamily="34" charset="0"/>
                <a:ea typeface="Noto Sans" pitchFamily="34" charset="-122"/>
                <a:cs typeface="Noto Sans" pitchFamily="34" charset="-120"/>
              </a:rPr>
              <a:t>HẠN CHẾ VÀ HƯỚNG PHÁT TRIỂN </a:t>
            </a:r>
            <a:endParaRPr lang="en-US" sz="1440" dirty="0"/>
          </a:p>
        </p:txBody>
      </p:sp>
      <p:sp>
        <p:nvSpPr>
          <p:cNvPr id="16" name="Text 12"/>
          <p:cNvSpPr/>
          <p:nvPr/>
        </p:nvSpPr>
        <p:spPr>
          <a:xfrm>
            <a:off x="3887828" y="3894729"/>
            <a:ext cx="4991928" cy="515526"/>
          </a:xfrm>
          <a:prstGeom prst="rect">
            <a:avLst/>
          </a:prstGeom>
          <a:noFill/>
          <a:ln/>
        </p:spPr>
        <p:txBody>
          <a:bodyPr wrap="square" lIns="95250" tIns="95250" rIns="95250" bIns="95250" rtlCol="0" anchor="t">
            <a:spAutoFit/>
          </a:bodyPr>
          <a:lstStyle/>
          <a:p>
            <a:r>
              <a:rPr lang="en-US" sz="1050" dirty="0"/>
              <a:t>-    C</a:t>
            </a:r>
            <a:r>
              <a:rPr lang="vi-VN" sz="1050" dirty="0"/>
              <a:t>hưa hỗ trợ DB đầy đủ, cập nhật động HNSW/NSG còn hạn chế</a:t>
            </a:r>
            <a:r>
              <a:rPr lang="en-US" sz="1050" dirty="0"/>
              <a:t>, </a:t>
            </a:r>
            <a:r>
              <a:rPr lang="en-US" sz="1050" dirty="0" err="1"/>
              <a:t>hướng</a:t>
            </a:r>
            <a:r>
              <a:rPr lang="en-US" sz="1050" dirty="0"/>
              <a:t> </a:t>
            </a:r>
            <a:r>
              <a:rPr lang="en-US" sz="1050" dirty="0" err="1"/>
              <a:t>phát</a:t>
            </a:r>
            <a:r>
              <a:rPr lang="en-US" sz="1050" dirty="0"/>
              <a:t> t </a:t>
            </a:r>
            <a:r>
              <a:rPr lang="en-US" sz="1050" dirty="0" err="1"/>
              <a:t>triển</a:t>
            </a:r>
            <a:r>
              <a:rPr lang="en-US" sz="1050" dirty="0"/>
              <a:t> </a:t>
            </a:r>
            <a:r>
              <a:rPr lang="vi-VN" sz="1050" dirty="0"/>
              <a:t>filtered search nâng cao, tích hợp metadata &amp; storage tốt hơn</a:t>
            </a:r>
          </a:p>
        </p:txBody>
      </p:sp>
      <p:sp>
        <p:nvSpPr>
          <p:cNvPr id="17" name="Text 10">
            <a:extLst>
              <a:ext uri="{FF2B5EF4-FFF2-40B4-BE49-F238E27FC236}">
                <a16:creationId xmlns:a16="http://schemas.microsoft.com/office/drawing/2014/main" id="{F3A73DCD-4D7A-7C49-93E6-474994138909}"/>
              </a:ext>
            </a:extLst>
          </p:cNvPr>
          <p:cNvSpPr/>
          <p:nvPr/>
        </p:nvSpPr>
        <p:spPr>
          <a:xfrm>
            <a:off x="3677666" y="3169305"/>
            <a:ext cx="5354318" cy="500137"/>
          </a:xfrm>
          <a:prstGeom prst="rect">
            <a:avLst/>
          </a:prstGeom>
          <a:noFill/>
          <a:ln/>
        </p:spPr>
        <p:txBody>
          <a:bodyPr wrap="square" lIns="95250" tIns="95250" rIns="95250" bIns="95250" rtlCol="0" anchor="t">
            <a:spAutoFit/>
          </a:bodyPr>
          <a:lstStyle/>
          <a:p>
            <a:pPr>
              <a:spcBef>
                <a:spcPts val="375"/>
              </a:spcBef>
            </a:pPr>
            <a:r>
              <a:rPr lang="vi-VN" sz="1000" dirty="0"/>
              <a:t>• GPU FAISS nhanh vượt trội, vượt SCANN, DiskANN trong nhiều benchmark</a:t>
            </a:r>
            <a:r>
              <a:rPr lang="en-US" sz="1000" dirty="0"/>
              <a:t>, </a:t>
            </a:r>
            <a:r>
              <a:rPr lang="en-US" sz="1000" dirty="0" err="1"/>
              <a:t>Là</a:t>
            </a:r>
            <a:r>
              <a:rPr lang="en-US" sz="1000" dirty="0"/>
              <a:t> </a:t>
            </a:r>
            <a:r>
              <a:rPr lang="en-US" sz="1000" dirty="0" err="1"/>
              <a:t>lõi</a:t>
            </a:r>
            <a:r>
              <a:rPr lang="en-US" sz="1000" dirty="0"/>
              <a:t> </a:t>
            </a:r>
            <a:r>
              <a:rPr lang="en-US" sz="1000" dirty="0" err="1"/>
              <a:t>của</a:t>
            </a:r>
            <a:r>
              <a:rPr lang="en-US" sz="1000" dirty="0"/>
              <a:t> </a:t>
            </a:r>
            <a:r>
              <a:rPr lang="en-US" sz="1000" dirty="0" err="1"/>
              <a:t>hệ</a:t>
            </a:r>
            <a:r>
              <a:rPr lang="en-US" sz="1000" dirty="0"/>
              <a:t> </a:t>
            </a:r>
            <a:r>
              <a:rPr lang="en-US" sz="1000" dirty="0" err="1"/>
              <a:t>thống</a:t>
            </a:r>
            <a:r>
              <a:rPr lang="en-US" sz="1000" dirty="0"/>
              <a:t> Milvus, Pinecone, Chroma, </a:t>
            </a:r>
            <a:r>
              <a:rPr lang="en-US" sz="1000" dirty="0" err="1"/>
              <a:t>Weaviate</a:t>
            </a:r>
            <a:r>
              <a:rPr lang="en-US" sz="1000" dirty="0"/>
              <a:t>, OpenAI Embeddings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4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51949" y="1895768"/>
            <a:ext cx="3060605" cy="1005840"/>
          </a:xfrm>
          <a:prstGeom prst="rect">
            <a:avLst/>
          </a:prstGeom>
          <a:noFill/>
          <a:ln/>
        </p:spPr>
        <p:txBody>
          <a:bodyPr wrap="square" lIns="95250" tIns="95250" rIns="95250" bIns="95250" rtlCol="0" anchor="t">
            <a:spAutoFit/>
          </a:bodyPr>
          <a:lstStyle/>
          <a:p>
            <a:pPr marL="0" indent="0" algn="ctr">
              <a:lnSpc>
                <a:spcPct val="112500"/>
              </a:lnSpc>
              <a:spcBef>
                <a:spcPts val="375"/>
              </a:spcBef>
              <a:buNone/>
            </a:pPr>
            <a:r>
              <a:rPr lang="en-US" sz="4320" b="1" dirty="0">
                <a:solidFill>
                  <a:srgbClr val="2B76FD"/>
                </a:solidFill>
                <a:latin typeface="Noto Sans" pitchFamily="34" charset="0"/>
                <a:ea typeface="Noto Sans" pitchFamily="34" charset="-122"/>
                <a:cs typeface="Noto Sans" pitchFamily="34" charset="-120"/>
              </a:rPr>
              <a:t>Thanks！</a:t>
            </a:r>
            <a:endParaRPr lang="en-US" sz="144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107</TotalTime>
  <Words>2807</Words>
  <Application>Microsoft Office PowerPoint</Application>
  <PresentationFormat>On-screen Show (16:9)</PresentationFormat>
  <Paragraphs>361</Paragraphs>
  <Slides>35</Slides>
  <Notes>35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35</vt:i4>
      </vt:variant>
    </vt:vector>
  </HeadingPairs>
  <TitlesOfParts>
    <vt:vector size="39" baseType="lpstr">
      <vt:lpstr>Arial</vt:lpstr>
      <vt:lpstr>Noto Sans</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Dat Tien Nguyen</cp:lastModifiedBy>
  <cp:revision>8</cp:revision>
  <dcterms:created xsi:type="dcterms:W3CDTF">2025-11-13T11:14:36Z</dcterms:created>
  <dcterms:modified xsi:type="dcterms:W3CDTF">2025-11-15T01:55:49Z</dcterms:modified>
</cp:coreProperties>
</file>